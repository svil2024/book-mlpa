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2" r:id="rId16"/>
    <p:sldId id="283" r:id="rId17"/>
    <p:sldId id="268" r:id="rId18"/>
    <p:sldId id="269" r:id="rId19"/>
    <p:sldId id="270" r:id="rId20"/>
    <p:sldId id="271" r:id="rId21"/>
    <p:sldId id="272" r:id="rId22"/>
    <p:sldId id="274" r:id="rId23"/>
    <p:sldId id="275" r:id="rId24"/>
    <p:sldId id="284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244" autoAdjust="0"/>
  </p:normalViewPr>
  <p:slideViewPr>
    <p:cSldViewPr snapToGrid="0" snapToObjects="1">
      <p:cViewPr>
        <p:scale>
          <a:sx n="100" d="100"/>
          <a:sy n="100" d="100"/>
        </p:scale>
        <p:origin x="94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5.png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线性模型基础理论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线性判别分析与正则化技术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实践练习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总结与进阶讨论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线性模型基础理论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线性模型基础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" y="838200"/>
            <a:ext cx="8382000" cy="430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1140" y="2800350"/>
            <a:ext cx="1295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线性模型应用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901440" y="10191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统计学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282565" y="8763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线性回归，用于预测连续值，如房价预测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282565" y="12382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逻辑回归，用于分类任务，如邮件过滤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901440" y="17430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机器学习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282565" y="160020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特征选择，确定哪些变量对预测最重要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282565" y="196215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模型评估，使用交叉验证等方法评估模型性能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901440" y="24669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经济学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82565" y="232410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需求预测，预测产品的需求量以优化库存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82565" y="26860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政策效果分析，评估政策对经济指标的影响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901440" y="31908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工程学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282565" y="304800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信号处理，从噪声中提取有用信号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282565" y="34099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控制系统设计，确保系统稳定性和响应速度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901440" y="39147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社会科学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282565" y="37719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社会行为研究，分析社会因素对个体行为的影响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282565" y="41338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教育成效评估，评估教学方法对学生成绩的影响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901440" y="46386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自然科学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282565" y="44958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气象预报，预测天气变化以指导农业生产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282565" y="48577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生物数据分析，解析基因表达模式与疾病的关系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基本概念与应用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3480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线性模型定义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3638550"/>
            <a:ext cx="25765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线性模型是一种通过数学表达式描述变量间线性关系的方法，形式为y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=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</a:t>
            </a:r>
            <a:r>
              <a:rPr lang="en-US" altLang="zh-CN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</a:t>
            </a:r>
            <a:r>
              <a:rPr lang="en-US" altLang="zh-CN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+ </a:t>
            </a:r>
            <a:r>
              <a:rPr lang="el-GR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ε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5313" y="20669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参数解释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51460" y="2357437"/>
            <a:ext cx="270605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在公式中，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</a:t>
            </a:r>
            <a:r>
              <a:rPr lang="en-US" altLang="zh-CN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表示截距，w</a:t>
            </a:r>
            <a:r>
              <a:rPr lang="en-US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表示斜率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l-GR" altLang="zh-CN" sz="2800" b="0" dirty="0">
                <a:solidFill>
                  <a:srgbClr val="000000"/>
                </a:solidFill>
                <a:effectLst/>
                <a:latin typeface="CMMI10"/>
              </a:rPr>
              <a:t> </a:t>
            </a:r>
            <a:r>
              <a:rPr lang="el-GR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ε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表示误差项，x和y分别代表自变量和因变量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86488" y="20669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应用领域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186488" y="2357437"/>
            <a:ext cx="2706052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线性模型被广泛应用于经济学、工程学、社会科学和自然科学等多个领域，用于预测和解释现象。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186488" y="31384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实际案例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86488" y="3429000"/>
            <a:ext cx="2706052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例如，可以通过分析房屋面积与价格数据来预测房价，或者使用逻辑回归分析学生平时成绩与期末考试通过率的关系。</a:t>
            </a:r>
            <a:endParaRPr lang="en-US" sz="1400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302250" y="26654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3" imgW="3962400" imgH="4267200" progId="Equation.DSMT4">
                  <p:embed/>
                </p:oleObj>
              </mc:Choice>
              <mc:Fallback>
                <p:oleObj name="Equation" r:id="rId3" imgW="3962400" imgH="42672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2250" y="2665413"/>
                        <a:ext cx="165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302250" y="26654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5" imgW="3962400" imgH="4267200" progId="Equation.DSMT4">
                  <p:embed/>
                </p:oleObj>
              </mc:Choice>
              <mc:Fallback>
                <p:oleObj name="Equation" r:id="rId5" imgW="3962400" imgH="42672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2250" y="2665413"/>
                        <a:ext cx="165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302250" y="26654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7" imgW="3962400" imgH="4267200" progId="Equation.DSMT4">
                  <p:embed/>
                </p:oleObj>
              </mc:Choice>
              <mc:Fallback>
                <p:oleObj name="Equation" r:id="rId7" imgW="3962400" imgH="42672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02250" y="2665413"/>
                        <a:ext cx="165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学习目标概述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2430" y="1881841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掌握线性回归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667000" y="1881841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逻辑回归应用</a:t>
            </a: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67000" y="2370891"/>
            <a:ext cx="1767840" cy="108097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掌握逻辑回归数学表示，分析分类任务，预测二元分类结果概率。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35830" y="1876426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LDA与正则化</a:t>
            </a: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35830" y="2247901"/>
            <a:ext cx="1767840" cy="12001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学习线性判别分析(LDA)</a:t>
            </a: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原理，理解正则化技术，防止模型过拟合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876426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实践技能</a:t>
            </a: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0" y="2190751"/>
            <a:ext cx="1851660" cy="1272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使用Python库实现线性模型，处理数据，优化模型，分析预测结果可靠性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2430" y="2370891"/>
            <a:ext cx="19735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理解线性回归原理，学会应用简单与多元线性回归分析数据，预测连续变量</a:t>
            </a: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简单线性回归问题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3955" y="2352675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问题引入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82003" y="3039428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石榴同学探索房价与面积关系，利用简单线性回归预测房价。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45106" y="234553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核心公式</a:t>
            </a:r>
            <a:endParaRPr 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581251" y="2984897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y= w</a:t>
            </a:r>
            <a:r>
              <a:rPr lang="en-US" altLang="zh-CN" sz="16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w</a:t>
            </a:r>
            <a:r>
              <a:rPr lang="en-US" altLang="zh-CN" sz="16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+ </a:t>
            </a:r>
            <a:r>
              <a:rPr lang="el-GR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ε </a:t>
            </a: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描述面积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(x)与房价(y)</a:t>
            </a: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间线性关系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26257" y="2352674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参数解读</a:t>
            </a:r>
            <a:endParaRPr 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14777" y="2984897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</a:t>
            </a:r>
            <a:r>
              <a:rPr lang="en-US" altLang="zh-CN" sz="16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</a:t>
            </a: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为截距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</a:t>
            </a:r>
            <a:r>
              <a:rPr lang="en-US" altLang="zh-CN" sz="16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</a:t>
            </a:r>
            <a:r>
              <a:rPr lang="en-US" sz="16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为斜率，ε为误差项，反映模型未捕捉因素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偏差乘积与斜率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、截距</a:t>
            </a:r>
            <a:r>
              <a:rPr lang="en-US" sz="225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238250"/>
            <a:ext cx="2085975" cy="2967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2055" y="1521618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偏差乘积概念</a:t>
            </a:r>
            <a:endParaRPr 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2475" y="2309813"/>
            <a:ext cx="1381125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偏差乘积衡量了输入变量x与输出变量y之间的线性关系强度，通过计算每个观测点相对于平均值的偏差乘积，我们能够量化x和y之间的相关性。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238250"/>
            <a:ext cx="2085975" cy="2967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88030" y="1521617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斜率计算公式</a:t>
            </a:r>
            <a:endParaRPr 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838450" y="2309813"/>
            <a:ext cx="1381125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斜率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</a:t>
            </a:r>
            <a:r>
              <a:rPr lang="en-US" altLang="zh-CN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表示当x每增加一个单位时，y平均变化的数量，通过最小化残差平方和（RSS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我们找到最能代表数据中x和y之间关系的直线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238250"/>
            <a:ext cx="2085975" cy="29670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74005" y="1517807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计算步骤</a:t>
            </a:r>
            <a:endParaRPr 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924425" y="2309813"/>
            <a:ext cx="1381125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首先，计算x和y的平均值x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̄ 和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ȳ。接着，计算每个观测点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sz="1400" baseline="-25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相对于平均值的偏差乘积以及x的偏差平方和。最后，使用公式计算斜率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</a:t>
            </a:r>
            <a:r>
              <a:rPr lang="en-US" altLang="zh-CN" sz="14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766" y="4186197"/>
            <a:ext cx="2531154" cy="754354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75120" y="1243945"/>
            <a:ext cx="2085975" cy="2967038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6973570" y="2247900"/>
            <a:ext cx="154178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截距项告诉我们当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0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的预期值是多少。 在实际应用中，这可能没有直接意义（比如房屋面积不可能为零），但它对于定义整个线性方程至关 重要。 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537" y="4378278"/>
            <a:ext cx="1758500" cy="370192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7459980" y="1515424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截距</a:t>
            </a: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计算公式</a:t>
            </a:r>
            <a:endParaRPr 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多元线性回归问题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238250"/>
            <a:ext cx="8382000" cy="3905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90" y="256222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0752" y="404812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定义问题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4840" y="4338638"/>
            <a:ext cx="162306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明确需要解决的问题，如预测房屋价格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404765" y="341471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034927" y="12763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选择特征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22120" y="1566862"/>
            <a:ext cx="1936819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选取影响输出变量的输入特征，如面积、卧室数量等。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8939" y="256222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89102" y="404812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构建模型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979420" y="4338638"/>
            <a:ext cx="176784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使用多元线性回归模型来分析特征与输出变量的关系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13114" y="341471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3276" y="12763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计算参数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381500" y="1566862"/>
            <a:ext cx="161544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采用正规方程或梯度下降方法求解模型参数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167289" y="256222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97451" y="404812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评估模型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570221" y="4338638"/>
            <a:ext cx="1767839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检验模型的准确性和可靠性，确保预测效果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421463" y="341471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51625" y="12763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应用模型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819900" y="1566862"/>
            <a:ext cx="1752599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将模型应用于新数据点，进行房价预测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"/>
            <a:ext cx="6598920" cy="952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7879268" y="0"/>
            <a:ext cx="1264732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多元线性回归参数向量求解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4732" y="1114425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2263" y="1704975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正规方程推导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81263" y="1952625"/>
            <a:ext cx="24526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通过最小化残差平方和，利用正规方程求解参数向量，实现多元线性回归模型的构建。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24637" y="1114425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22169" y="1704975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局部条件说明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413096" y="1952625"/>
            <a:ext cx="24526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设计矩阵需满秩，确保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可逆，避免多重共线性，必要时采用正则化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64732" y="2771775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2263" y="3362325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参数向量计算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80323" y="3609975"/>
            <a:ext cx="2332673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</a:t>
            </a: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计算得到最终的参数向量w，完成模型训练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25" y="3556625"/>
            <a:ext cx="1473272" cy="26671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2351" y="1914525"/>
            <a:ext cx="342922" cy="24133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7626" y="2644073"/>
            <a:ext cx="3709791" cy="5638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9704" y="3777606"/>
            <a:ext cx="1168586" cy="38105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7454" y="4385396"/>
            <a:ext cx="1600280" cy="34291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3556" y="3248025"/>
            <a:ext cx="2806758" cy="16892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逻辑回归模型问题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7700" y="846772"/>
            <a:ext cx="8001000" cy="10125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zh-CN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逻辑回归（</a:t>
            </a:r>
            <a:r>
              <a:rPr lang="en-US" altLang="zh-CN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Logistic Regression</a:t>
            </a:r>
            <a:r>
              <a:rPr lang="zh-CN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）是一种广泛应用于分类问题的统计方法。尽管名称中包含“回 归”二字，但它主要用于预测二元分类结果的概率。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6620" y="268891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成绩问题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620" y="3258507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基于学生平时成绩预测通过期末考试的概率，引入Sigmoid函数和交叉熵损失。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50840" y="2693197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牛顿法求解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50840" y="3174685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利用牛顿法加速收敛，通过泰勒展开和二阶导数信息优化参数。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V="1">
            <a:off x="0" y="-12318"/>
            <a:ext cx="9144000" cy="4678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逻辑回归模型问题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" y="86509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成绩问题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480060" y="1361114"/>
            <a:ext cx="8092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具体来说，假设我们有一个数据集，包括每个学生的平时成绩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和是否通过期末考试的结果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表示通过，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表示未通过）。我们将利用这些数据训练一个逻辑回归模型，从而帮助石榴同学和其 他学生预测他们的通过概率。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5" y="1989004"/>
            <a:ext cx="2934169" cy="149883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34715" y="3811863"/>
            <a:ext cx="2119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Sigmoid函数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3696627"/>
            <a:ext cx="1691640" cy="53825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153644" y="1788298"/>
            <a:ext cx="2119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假设模型的形式为：</a:t>
            </a:r>
            <a:endParaRPr lang="zh-CN" altLang="en-US" sz="14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354" y="1800563"/>
            <a:ext cx="1491350" cy="29827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153643" y="2365114"/>
            <a:ext cx="4632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Sigmoid 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函数将其转换为通过期末考试的概率：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119" y="2752093"/>
            <a:ext cx="3927317" cy="57205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506465" y="3790860"/>
            <a:ext cx="4632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交叉熵损失是一个衡量模型预测准确性的重要指标，它促使模型不断调整参数，以提高预测的准确性：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921" y="4393282"/>
            <a:ext cx="6097139" cy="562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"/>
            <a:ext cx="9144000" cy="1592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逻辑回归模型问题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101441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牛顿法</a:t>
            </a:r>
            <a:endParaRPr 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72440" y="1285876"/>
            <a:ext cx="816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牛顿法利 用了损失函数的一阶和二阶导数信息来加速收敛，尤其适合于具有良好二阶导数性质的问题。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824039"/>
            <a:ext cx="7873520" cy="27508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逻辑回归模型应用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逻辑回归案例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4800" y="1945481"/>
            <a:ext cx="28670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通过石榴同学的故事，理解逻辑回归在预测二元分类问题中的应用，如预测学生是否能通过期末考试。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Sigmoid函数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972174" y="1945481"/>
            <a:ext cx="2771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Sigmoid函数将线性组合转换为概率，其值域在0到1之间，适用于表示事件发生的概率。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交叉熵损失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00025" y="3355181"/>
            <a:ext cx="29718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交叉熵损失衡量模型预测概率分布与真实标签之间的差异，鼓励模型预测概率接近真实标签，以最小化损失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0646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梯度下降优化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972174" y="3355181"/>
            <a:ext cx="283654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使用梯度下降算法更新参数，最小化交叉熵损失，直至模型收敛，实现对逻辑回归模型的训练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线性判别分析与正则化技术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录取预测问题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9432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明确预测目标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81050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确定使用数学与英语成绩预测大学录取情况。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收集学生成绩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757488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获取学生的数学与英语成绩数据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计算统计参数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33925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计算成绩的均值向量与散度矩阵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应用LDA方法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10363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利用LDA寻找最佳投影方向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81050" y="3024187"/>
            <a:ext cx="3533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区分录取状态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81050" y="3705225"/>
            <a:ext cx="3533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通过投影方向区分录取与未录取学生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733925" y="3024187"/>
            <a:ext cx="3533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评估预测效果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33925" y="3705225"/>
            <a:ext cx="3533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just">
              <a:lnSpc>
                <a:spcPts val="1650"/>
              </a:lnSpc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验证模型对录取预测的准确性和可靠性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LDA应用求解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238250"/>
            <a:ext cx="2781151" cy="16329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5148" y="1527334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案例数据表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30203" y="2065497"/>
            <a:ext cx="2076301" cy="41100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展示案例数据表，包括数学成绩、英语成绩和是否录取的信息。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238250"/>
            <a:ext cx="2781151" cy="16220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62263" y="1529238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计算均值向量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02" y="2804326"/>
            <a:ext cx="2756267" cy="1803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3626" y="1957625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计算两类数据的均值向量，为后续分析奠定基础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62352" y="1238250"/>
            <a:ext cx="2781151" cy="1622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00254" y="1529238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求解类内散度矩阵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14777" y="2072639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通过计算类内散度矩阵，了解每一类内部样本的分布情况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165" y="2848836"/>
            <a:ext cx="3238644" cy="8572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1398" y="3485590"/>
            <a:ext cx="2981428" cy="7493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603" y="3860253"/>
            <a:ext cx="2569762" cy="47652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7603" y="4505074"/>
            <a:ext cx="1330648" cy="3526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正则化引入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33350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4900" y="1633537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过拟合问题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2475" y="24050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模型在训练数据上表现优异，但在新数据上性能下降，表明模型过拟合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33350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72790" y="165139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690"/>
              </a:lnSpc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正则化目的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838450" y="24741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通过在损失函数中加入惩罚项，限制模型复杂度，提高泛化能力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33350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58765" y="1644967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690"/>
              </a:lnSpc>
            </a:pPr>
            <a:r>
              <a:rPr 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L1与L2正则化</a:t>
            </a:r>
            <a:endParaRPr 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924425" y="24050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L1正则化促进稀疏性，L2正则化防止权重过大，两者均减少过拟合风险。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33350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44740" y="1633537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正则化参数</a:t>
            </a:r>
            <a:endParaRPr 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010400" y="24741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λ控制正则化强度，需通过交叉验证等方法适当调整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696844"/>
            <a:ext cx="3328369" cy="65608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rcRect l="6748"/>
          <a:stretch>
            <a:fillRect/>
          </a:stretch>
        </p:blipFill>
        <p:spPr>
          <a:xfrm>
            <a:off x="4282440" y="3789046"/>
            <a:ext cx="4040618" cy="3905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1485" y="4166713"/>
            <a:ext cx="4211955" cy="37439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616" y="4385919"/>
            <a:ext cx="2843794" cy="7150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实践练习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09" r="909"/>
          <a:stretch>
            <a:fillRect/>
          </a:stretch>
        </p:blipFill>
        <p:spPr>
          <a:xfrm>
            <a:off x="0" y="-62865"/>
            <a:ext cx="9144000" cy="523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有无正则化对比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032510"/>
            <a:ext cx="8382000" cy="3619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76142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引入惩罚项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36220" y="4051935"/>
            <a:ext cx="272129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在损失函数中加入惩罚项，以限制模型的复杂度，避免过度拟合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5313" y="289941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限制模型复杂度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36220" y="3189923"/>
            <a:ext cx="272129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通过增加模型参数的约束，减少模型对训练数据的依赖，提高泛化能力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5313" y="203739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防止过拟合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36220" y="2327910"/>
            <a:ext cx="272129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正则化技术能够有效防止模型过拟合，使模型在新数据上表现更好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5313" y="117538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提高泛化能力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0020" y="1465898"/>
            <a:ext cx="279749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通过限制模型复杂度，增强模型对未见过的数据的适应性，提升泛化性能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186488" y="107061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优化模型表现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361122"/>
            <a:ext cx="2721292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正则化技术有助于改善模型在新数据集上的预测准确性和稳定性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86488" y="193262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调整超参数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7" y="2223135"/>
            <a:ext cx="27908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选择合适的正则化参数，平衡模型复杂度与训练误差之间的关系，实现最佳效果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186488" y="300418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应用广泛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294698"/>
            <a:ext cx="2721292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正则化技术适用于多种机器学习算法，是提高模型性能的重要手段之一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86488" y="386619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持续迭代优化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156710"/>
            <a:ext cx="2721292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结合交叉验证等方法，不断调整正则化参数，逐步优化模型性能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20980" y="847725"/>
            <a:ext cx="7048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线性回归模型与 </a:t>
            </a:r>
            <a:r>
              <a:rPr lang="en-US" altLang="zh-CN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Ridge </a:t>
            </a: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回归模型在训练数据上的预测效果对比</a:t>
            </a:r>
            <a:endParaRPr lang="zh-CN" altLang="en-US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"/>
          <p:cNvSpPr/>
          <p:nvPr/>
        </p:nvSpPr>
        <p:spPr>
          <a:xfrm>
            <a:off x="723900" y="4381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有无正则化对比</a:t>
            </a:r>
            <a:endParaRPr lang="en-US" sz="225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86" y="1676400"/>
            <a:ext cx="7201268" cy="22863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04" y="2446297"/>
            <a:ext cx="7832296" cy="237070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75842" y="960218"/>
            <a:ext cx="8161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从结果可以看出，模型在大多数情况下都能给出较为准确的预测。然而，由于线性回归模型假设特征与目标变量之间存在线性关 系，因此它可能无法捕捉到更复杂的数据模式。对于更复杂的任务，可以考虑使用其他更高级的机 器学习模型，如决策树、随机森林或神经网络。</a:t>
            </a:r>
            <a:endParaRPr lang="zh-CN" altLang="en-US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总结与进阶讨论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rcRect l="20177" r="20177"/>
          <a:stretch>
            <a:fillRect/>
          </a:stretch>
        </p:blipFill>
        <p:spPr>
          <a:xfrm>
            <a:off x="5286375" y="1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关键知识回顾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6725" y="671274"/>
            <a:ext cx="2052637" cy="21574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9687" y="935592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线性模型基础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88205" y="1474470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线性模型通过数学表达式揭示变量间关系，适用于预测、解释现象及基于证据的决策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81286" y="664130"/>
            <a:ext cx="2052637" cy="21574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19487" y="928447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正则化技术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074191" y="1483277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正则化通过在损失函数中加入惩罚项，防止过拟合，提高模型泛化能力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1962" y="2821542"/>
            <a:ext cx="2052637" cy="23188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45406" y="3095386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88205" y="3754278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逻辑回归用于预测二元分类结果的概率，通过Sigmoid函数转换线性组合，最小化交叉熵损失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676522" y="2833924"/>
            <a:ext cx="2052637" cy="22993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559966" y="3112529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线性判别分析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3045614" y="3747134"/>
            <a:ext cx="144399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LDA通过最大化类间距离和最小化类内距离，找到最佳投影方向，区分不同类别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补充知识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176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6099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矩阵逆与行列式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60020" y="3900488"/>
            <a:ext cx="279749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矩阵逆与行列式揭示了矩阵的可逆性和伸缩因子，对于求解线性方程组至关重要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5313" y="25384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最小二乘法应用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680" y="2828925"/>
            <a:ext cx="285083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最小二乘法通过最小化残差平方和，提供了一种直观且有效的参数估计方法，广泛应用于线性回归模型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矩阵求导作用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60020" y="1757362"/>
            <a:ext cx="279749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矩阵求导在优化问题中扮演核心角色，帮助推导梯度和Hessian矩阵，是梯度下降和牛顿法的基础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186488" y="16764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残差分析目的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1966913"/>
            <a:ext cx="2675572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残差分析通过评估模型拟合度，检测异常值并指导模型改进和特征选择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186488" y="25384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线性方程组求解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828925"/>
            <a:ext cx="2675572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利用矩阵逆与行列式的性质，可以有效地求解线性方程组，提高计算效率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86488" y="34004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优化算法基础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690938"/>
            <a:ext cx="2675572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矩阵求导技术为优化算法提供了理论支持，使得梯度下降等方法能够有效找到最优解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课后任务布置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71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复习核心概念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回顾线性模型、逻辑回归、LDA和正则化的原理与应用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巩固理论知识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2955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深入理解这些模型背后的数学基础和应用场景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选取实际数据集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选择合适的数据集来实践所学的模型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应用预测分析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295524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使用线性回归、逻辑回归或LDA对数据进行预测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762750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810250" y="3376612"/>
            <a:ext cx="21717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撰写分析报告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810250" y="3667125"/>
            <a:ext cx="2171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总结分析过程和结果，形成书面报告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438650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486150" y="3376612"/>
            <a:ext cx="21717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阅读研究论文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86150" y="3667125"/>
            <a:ext cx="2171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关注非线性模型和深度学习领域的最新进展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114550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162050" y="3376612"/>
            <a:ext cx="21717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准备课程分享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62050" y="3667125"/>
            <a:ext cx="2171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整理学习心得，为下一次课程分享做准备</a:t>
            </a: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3642</Words>
  <Application>WPS 演示</Application>
  <PresentationFormat>全屏显示(16:9)</PresentationFormat>
  <Paragraphs>449</Paragraphs>
  <Slides>28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微软雅黑</vt:lpstr>
      <vt:lpstr>CMMI10</vt:lpstr>
      <vt:lpstr>Segoe Print</vt:lpstr>
      <vt:lpstr>Calibri</vt:lpstr>
      <vt:lpstr>Arial Unicode MS</vt:lpstr>
      <vt:lpstr>等线</vt:lpstr>
      <vt:lpstr>Office Theme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4</cp:revision>
  <dcterms:created xsi:type="dcterms:W3CDTF">2025-04-20T04:37:00Z</dcterms:created>
  <dcterms:modified xsi:type="dcterms:W3CDTF">2025-04-20T06:57:53Z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848D07A185A94D8FA56DE0BE54A44E1C_12</vt:lpwstr>
  </property>
  <property fmtid="{D5CDD505-2E9C-101B-9397-08002B2CF9AE}" pid="3" name="KSOProductBuildVer">
    <vt:lpwstr>2052-12.8.2.19823</vt:lpwstr>
  </property>
</Properties>
</file>