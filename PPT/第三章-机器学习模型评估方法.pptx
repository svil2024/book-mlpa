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6" r:id="rId12"/>
    <p:sldId id="267" r:id="rId13"/>
    <p:sldId id="274" r:id="rId14"/>
    <p:sldId id="275" r:id="rId15"/>
    <p:sldId id="276" r:id="rId16"/>
    <p:sldId id="268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28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24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70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4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34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机器学习模型评估方法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875" y="253270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23875" y="996220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302544"/>
            <a:ext cx="373512" cy="947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373981"/>
            <a:ext cx="4855659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分类问题</a:t>
            </a:r>
            <a:r>
              <a:rPr lang="en-US" sz="16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90975" y="1621631"/>
            <a:ext cx="4855659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931194"/>
            <a:ext cx="373512" cy="13941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2187352"/>
            <a:ext cx="4855659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r>
              <a:rPr lang="en-US" sz="16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24250" y="2559844"/>
            <a:ext cx="373512" cy="13941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4" y="2849921"/>
            <a:ext cx="4855659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模型验证方法论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90975" y="3507581"/>
            <a:ext cx="4855659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分类问题</a:t>
            </a: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57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3315" r="1331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准确率：正确预测占比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1965" y="1697069"/>
            <a:ext cx="4105275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82140" y="1904238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定义与计算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882140" y="2194750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准确率是分类模型中正确预测样本占总预测样本的比例，公式为：(TP+TN)/(TP+TN+FP+FN)。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1965" y="3106769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82140" y="3418713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882140" y="3709225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适用于类别均衡的数据集，广泛用于初步模型性能评估。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5325" y="1697069"/>
            <a:ext cx="4105275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05500" y="2009013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指标对比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905500" y="2299525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与精确率、召回率、F1分数等指标结合使用，全面评估模型性能。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05325" y="3106769"/>
            <a:ext cx="4105275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05500" y="3418713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提升策略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905500" y="3709225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通过特征工程、模型选择及调参，优化模型结构，提高预测准确性。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混淆矩阵：TP/TN/FP/FN四象限   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71499" y="1472424"/>
            <a:ext cx="329549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概念解析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1499" y="1720074"/>
            <a:ext cx="3295495" cy="10305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混淆矩阵直观展现分类器性能，TP（真正例）、TN（真反例）、FP（假正例）、FN（假反例）揭示预测与真实标签的关系。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77008" y="1472424"/>
            <a:ext cx="329549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其他指标计算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277008" y="1720073"/>
            <a:ext cx="3295495" cy="9264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基于混淆矩阵，可计算准确率、召回率、F1分数等，量化模型在不同方面的表现，辅助综合评估。</a:t>
            </a:r>
            <a:endParaRPr lang="en-US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DFE6F22-B720-40E3-8BCF-9443FF89A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135" y="2788733"/>
            <a:ext cx="4463729" cy="197388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7509" r="17509"/>
          <a:stretch/>
        </p:blipFill>
        <p:spPr>
          <a:xfrm>
            <a:off x="0" y="2"/>
            <a:ext cx="9144000" cy="5143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5929884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F1分数：精准率与召回率的调和平均  </a:t>
            </a:r>
            <a:endParaRPr lang="en-US" sz="2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8882" y="1406652"/>
            <a:ext cx="2868546" cy="3176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1307" y="2187702"/>
            <a:ext cx="18835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精准率与召回率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51307" y="2478215"/>
            <a:ext cx="2233856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精准率衡量预测正确的正例占所有预测正例的比例，召回率则是预测正确的正例占所有实际正例的比例。两者反映了模型预测的准确性和完整性。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65336" y="1406652"/>
            <a:ext cx="2868546" cy="3176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17761" y="2187702"/>
            <a:ext cx="18835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F1分数解读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3417760" y="2478215"/>
            <a:ext cx="2150935" cy="150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F1分数是精准率和召回率的调和平均，综合考虑了两者的重要性，尤其适用于类别不平衡的情况，提供了一个平衡的性能指标。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65142" y="1420178"/>
            <a:ext cx="2868546" cy="3176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17567" y="2145602"/>
            <a:ext cx="18835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417566" y="2564130"/>
            <a:ext cx="2125215" cy="150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当需要同时优化预测的准确性和完整性时，F1分数是一个理想的选择，特别是在医疗诊断、欺诈检测等高风险领域，错误的成本较高。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AUC-ROC：模型排序能力量化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2085975" cy="2552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AUC值的意义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AUC衡量模型排序能力，值越接近1，模型区分正负样本能力越强。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447800"/>
            <a:ext cx="2085975" cy="2552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动态演示图：ROC曲线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733675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ROC曲线展示不同阈值下真阳性率与假阳性率变化，直观反映模型性能。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447800"/>
            <a:ext cx="2085975" cy="2552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类别不平衡时的表现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733675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在类别不平衡数据集上，AUC-ROC比准确率更可靠，不易受样本分布影响。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447800"/>
            <a:ext cx="2085975" cy="2552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AUC与模型选择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高AUC值表明模型具有较好的排序能力，是选择模型的重要参考指标之一。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回归问题评价指标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/>
              <a:t>回归常用指标</a:t>
            </a:r>
            <a:endParaRPr lang="en-US" sz="2250" b="1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2085975" cy="2552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1" y="2228850"/>
            <a:ext cx="15621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88"/>
              </a:lnSpc>
            </a:pPr>
            <a:r>
              <a:rPr lang="zh-CN" altLang="en-US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均方误差（</a:t>
            </a:r>
            <a:r>
              <a:rPr lang="en-US" altLang="zh-CN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MSE</a:t>
            </a:r>
            <a:r>
              <a:rPr lang="zh-CN" altLang="en-US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4"/>
              <p:cNvSpPr/>
              <p:nvPr/>
            </p:nvSpPr>
            <p:spPr>
              <a:xfrm>
                <a:off x="564996" y="2519363"/>
                <a:ext cx="1761893" cy="8763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>
                  <a:lnSpc>
                    <a:spcPts val="1650"/>
                  </a:lnSpc>
                </a:pPr>
                <a:r>
                  <a:rPr lang="zh-CN" altLang="en-US" sz="1400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预测值与实际值之差的平方的平均值</a:t>
                </a:r>
                <a:endParaRPr lang="en-US" altLang="zh-CN" sz="14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16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 = 1/</m:t>
                      </m:r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 ∑(</m:t>
                      </m:r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ᵢ - ŷᵢ)²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96" y="2519363"/>
                <a:ext cx="1761893" cy="876300"/>
              </a:xfrm>
              <a:prstGeom prst="rect">
                <a:avLst/>
              </a:prstGeom>
              <a:blipFill>
                <a:blip r:embed="rId5"/>
                <a:stretch>
                  <a:fillRect l="-6228" r="-79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86025" y="1447800"/>
            <a:ext cx="2085975" cy="2552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01950" y="2102472"/>
            <a:ext cx="2004198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平均绝对误差（</a:t>
            </a:r>
            <a:r>
              <a:rPr lang="en-US" altLang="zh-CN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MAE</a:t>
            </a: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838450" y="256269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预测值与实际值之差的绝对值的平均值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1447800"/>
            <a:ext cx="2085975" cy="2552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4" y="2121693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zh-CN" altLang="en-US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决定系数（</a:t>
            </a:r>
            <a:r>
              <a:rPr lang="en-US" altLang="zh-CN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R²</a:t>
            </a:r>
            <a:r>
              <a:rPr lang="zh-CN" altLang="en-US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924425" y="2733675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模型解释数据变异性的比例（</a:t>
            </a:r>
            <a:r>
              <a:rPr lang="en-US" altLang="zh-CN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0-1</a:t>
            </a:r>
            <a:r>
              <a:rPr lang="zh-CN" altLang="en-US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，越近</a:t>
            </a:r>
            <a:r>
              <a:rPr lang="en-US" altLang="zh-CN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越好）</a:t>
            </a:r>
            <a:b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7975" y="1447800"/>
            <a:ext cx="2085975" cy="2552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均方根误差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851262" y="2519363"/>
            <a:ext cx="1721238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均方根误差是均方误差的平方根，它与</a:t>
            </a:r>
            <a:r>
              <a:rPr lang="en-US" altLang="zh-CN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MSE</a:t>
            </a: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有相同的量纲，更容易解释。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67367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关键指标对比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1AC69B1-F3A1-4E26-A874-6D5DA4F49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81" y="847725"/>
            <a:ext cx="3440070" cy="226718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E72B179-1973-43D7-87C2-13FA192DB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394" y="1984105"/>
            <a:ext cx="4182714" cy="2483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模型验证方法论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864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交叉验证体系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E8A0ED6-31D7-464D-BA2B-3EA2E3124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87106"/>
            <a:ext cx="7601213" cy="40940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留出法</a:t>
            </a:r>
            <a:endParaRPr lang="en-US" sz="2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F72821-71F1-49F0-B64C-1024A35701DE}"/>
              </a:ext>
            </a:extLst>
          </p:cNvPr>
          <p:cNvSpPr txBox="1"/>
          <p:nvPr/>
        </p:nvSpPr>
        <p:spPr>
          <a:xfrm>
            <a:off x="762000" y="13319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将数据集随机分为两部分：训练集和测试集，测试集占总数据集的</a:t>
            </a:r>
            <a:r>
              <a:rPr lang="en-US" altLang="zh-CN" dirty="0"/>
              <a:t>20\%-30\%</a:t>
            </a:r>
            <a:r>
              <a:rPr lang="zh-CN" altLang="en-US" dirty="0"/>
              <a:t>，其余作为训练集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EFA61B-E41D-49A6-BE85-7E670E979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408" y="2058649"/>
            <a:ext cx="4006286" cy="248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12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折交叉验证</a:t>
            </a:r>
            <a:endParaRPr lang="en-US" sz="2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34F0F6-159B-40B2-8CA1-2B434B2FC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17" y="1009650"/>
            <a:ext cx="7131418" cy="378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15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自助法</a:t>
            </a:r>
            <a:endParaRPr lang="en-US" sz="2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75F292-A0A5-4B23-AB70-2E1121F52C25}"/>
              </a:ext>
            </a:extLst>
          </p:cNvPr>
          <p:cNvSpPr txBox="1"/>
          <p:nvPr/>
        </p:nvSpPr>
        <p:spPr>
          <a:xfrm>
            <a:off x="571500" y="1178051"/>
            <a:ext cx="8193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通过对原始数据集进行多次有放回的抽样，每次抽样得到一个新的数据集，然后使用这些数据集进行模型训练和评估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BC7DBE9-26EB-4A9B-BA86-1A968A0E7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410" y="2168825"/>
            <a:ext cx="6073698" cy="26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8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调优策略  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1594" y="13335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29125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网格搜索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429125" y="21717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遍历所有参数组合，寻找最优解。适用于小范围参数空间，确保无遗漏。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93781" y="13335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91313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贝叶斯优化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91313" y="21717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智能探索参数空间，高效逼近最优值。利用概率模型指导搜索，减少计算成本。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1594" y="29908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29125" y="35814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随机搜索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429125" y="38290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通过随机采样超参数的组合来寻找最优超参数，计算量较小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93781" y="2990850"/>
            <a:ext cx="476250" cy="476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91313" y="35814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691313" y="38290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基于验证集表现，结合业务需求，确定最终模型。考虑泛化能力与实际应用效果。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404</Words>
  <Application>Microsoft Office PowerPoint</Application>
  <PresentationFormat>全屏显示(16:9)</PresentationFormat>
  <Paragraphs>90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Microsoft YaHei</vt:lpstr>
      <vt:lpstr>Microsoft YaHei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</cp:lastModifiedBy>
  <cp:revision>5</cp:revision>
  <dcterms:created xsi:type="dcterms:W3CDTF">2025-04-18T10:35:25Z</dcterms:created>
  <dcterms:modified xsi:type="dcterms:W3CDTF">2025-04-18T12:24:59Z</dcterms:modified>
</cp:coreProperties>
</file>