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4" r:id="rId8"/>
    <p:sldId id="276" r:id="rId9"/>
    <p:sldId id="259" r:id="rId10"/>
    <p:sldId id="288" r:id="rId11"/>
    <p:sldId id="260" r:id="rId12"/>
    <p:sldId id="287" r:id="rId13"/>
    <p:sldId id="289" r:id="rId14"/>
    <p:sldId id="302" r:id="rId15"/>
    <p:sldId id="292" r:id="rId16"/>
    <p:sldId id="293" r:id="rId17"/>
    <p:sldId id="295" r:id="rId18"/>
    <p:sldId id="300" r:id="rId19"/>
    <p:sldId id="305" r:id="rId20"/>
    <p:sldId id="301" r:id="rId21"/>
    <p:sldId id="264" r:id="rId22"/>
    <p:sldId id="265" r:id="rId23"/>
    <p:sldId id="282" r:id="rId24"/>
    <p:sldId id="298" r:id="rId25"/>
    <p:sldId id="296" r:id="rId26"/>
    <p:sldId id="285" r:id="rId27"/>
    <p:sldId id="299" r:id="rId28"/>
    <p:sldId id="267" r:id="rId29"/>
    <p:sldId id="271" r:id="rId30"/>
    <p:sldId id="268" r:id="rId31"/>
    <p:sldId id="269" r:id="rId32"/>
    <p:sldId id="272" r:id="rId33"/>
    <p:sldId id="273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1B4906-0D9B-4388-8B7C-531589689F9D}" type="doc">
      <dgm:prSet loTypeId="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46F20046-8163-4605-8378-2BEC5C19DFC6}">
      <dgm:prSet phldr="0" custT="0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数据降维的过程类似于筛选信息的漏斗</a:t>
          </a:r>
          <a:r>
            <a:rPr lang="zh-CN" altLang="en-US"/>
            <a:t>，</a:t>
          </a:r>
          <a:r>
            <a:rPr lang="zh-CN" altLang="en-US"/>
            <a:t>先从高维数据的众多特征中</a:t>
          </a:r>
          <a:r>
            <a:rPr lang="zh-CN" altLang="en-US"/>
            <a:t>，</a:t>
          </a:r>
          <a:r>
            <a:rPr lang="zh-CN" altLang="en-US"/>
            <a:t>筛选出关键特征</a:t>
          </a:r>
          <a:r>
            <a:rPr lang="zh-CN" altLang="en-US"/>
            <a:t>，</a:t>
          </a:r>
          <a:r>
            <a:rPr lang="zh-CN" altLang="en-US"/>
            <a:t>舍弃冗余信息</a:t>
          </a:r>
          <a:r>
            <a:rPr lang="zh-CN" altLang="en-US"/>
            <a:t>，</a:t>
          </a:r>
          <a:r>
            <a:rPr lang="zh-CN" altLang="en-US"/>
            <a:t>逐步聚焦到最具代表性的数据维度上</a:t>
          </a:r>
          <a:r>
            <a:rPr lang="zh-CN" altLang="en-US"/>
            <a:t>。</a:t>
          </a:r>
          <a:r>
            <a:rPr lang="zh-CN" altLang="en-US"/>
            <a:t/>
          </a:r>
          <a:endParaRPr lang="zh-CN" altLang="en-US"/>
        </a:p>
      </dgm:t>
    </dgm:pt>
    <dgm:pt modelId="{855A04E2-2B8B-488A-A651-1186B95CDA38}" cxnId="{5462A21E-1FD5-48AD-989C-DEA0C997AD4E}" type="parTrans">
      <dgm:prSet/>
      <dgm:spPr/>
      <dgm:t>
        <a:bodyPr/>
        <a:lstStyle/>
        <a:p>
          <a:endParaRPr lang="zh-CN" altLang="en-US"/>
        </a:p>
      </dgm:t>
    </dgm:pt>
    <dgm:pt modelId="{A287AFAD-0AC1-4E7A-A35D-E4704CCDDA41}" cxnId="{5462A21E-1FD5-48AD-989C-DEA0C997AD4E}" type="sibTrans">
      <dgm:prSet/>
      <dgm:spPr/>
      <dgm:t>
        <a:bodyPr/>
        <a:lstStyle/>
        <a:p>
          <a:endParaRPr lang="zh-CN" altLang="en-US"/>
        </a:p>
      </dgm:t>
    </dgm:pt>
    <dgm:pt modelId="{444F92FB-0B89-4C95-B842-9DC570560EFF}">
      <dgm:prSet phldr="0" custT="0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通过特定算法寻找最优的维度转换方向</a:t>
          </a:r>
          <a:r>
            <a:rPr lang="zh-CN" altLang="en-US"/>
            <a:t>，</a:t>
          </a:r>
          <a:r>
            <a:rPr lang="zh-CN" altLang="en-US"/>
            <a:t>将高维数据投影到低维空间</a:t>
          </a:r>
          <a:r>
            <a:rPr lang="zh-CN" altLang="en-US"/>
            <a:t>，</a:t>
          </a:r>
          <a:r>
            <a:rPr lang="zh-CN" altLang="en-US"/>
            <a:t>在这个过程中保证数据的关键信息损失最小</a:t>
          </a:r>
          <a:r>
            <a:rPr lang="zh-CN" altLang="en-US"/>
            <a:t>，</a:t>
          </a:r>
          <a:r>
            <a:rPr lang="zh-CN" altLang="en-US"/>
            <a:t>实现数据的有效降维</a:t>
          </a:r>
          <a:r>
            <a:rPr lang="en-US" altLang="zh-CN"/>
            <a:t> </a:t>
          </a:r>
          <a:r>
            <a:rPr lang="zh-CN" altLang="en-US"/>
            <a:t>。</a:t>
          </a:r>
          <a:r>
            <a:rPr lang="zh-CN" altLang="en-US"/>
            <a:t/>
          </a:r>
          <a:endParaRPr lang="zh-CN" altLang="en-US"/>
        </a:p>
      </dgm:t>
    </dgm:pt>
    <dgm:pt modelId="{9060A309-D2A0-4544-9928-858851608B01}" cxnId="{01F051A7-28E2-4D7D-8275-FBA5D2D6075E}" type="parTrans">
      <dgm:prSet/>
      <dgm:spPr/>
      <dgm:t>
        <a:bodyPr/>
        <a:lstStyle/>
        <a:p>
          <a:endParaRPr lang="zh-CN" altLang="en-US"/>
        </a:p>
      </dgm:t>
    </dgm:pt>
    <dgm:pt modelId="{7BB893A2-F3B8-425A-B343-1B76636D2D88}" cxnId="{01F051A7-28E2-4D7D-8275-FBA5D2D6075E}" type="sibTrans">
      <dgm:prSet/>
      <dgm:spPr/>
      <dgm:t>
        <a:bodyPr/>
        <a:lstStyle/>
        <a:p>
          <a:endParaRPr lang="zh-CN" altLang="en-US"/>
        </a:p>
      </dgm:t>
    </dgm:pt>
    <dgm:pt modelId="{5EE94076-BB73-405A-B845-50270425764A}" type="pres">
      <dgm:prSet presAssocID="{4E1B4906-0D9B-4388-8B7C-531589689F9D}" presName="CompostProcess" presStyleCnt="0">
        <dgm:presLayoutVars>
          <dgm:dir/>
          <dgm:resizeHandles val="exact"/>
        </dgm:presLayoutVars>
      </dgm:prSet>
      <dgm:spPr/>
    </dgm:pt>
    <dgm:pt modelId="{50141F68-1D80-4104-8455-28BA4B6C1EF1}" type="pres">
      <dgm:prSet presAssocID="{4E1B4906-0D9B-4388-8B7C-531589689F9D}" presName="arrow" presStyleLbl="bgShp" presStyleIdx="0" presStyleCnt="1"/>
      <dgm:spPr/>
    </dgm:pt>
    <dgm:pt modelId="{709DDFE9-A44D-4F5A-AE79-4051C0486377}" type="pres">
      <dgm:prSet presAssocID="{4E1B4906-0D9B-4388-8B7C-531589689F9D}" presName="linearProcess" presStyleCnt="0"/>
      <dgm:spPr/>
    </dgm:pt>
    <dgm:pt modelId="{3718AE80-5546-41DB-8749-DB64ED374013}" type="pres">
      <dgm:prSet presAssocID="{46F20046-8163-4605-8378-2BEC5C19DFC6}" presName="textNode" presStyleLbl="node1" presStyleIdx="0" presStyleCnt="2">
        <dgm:presLayoutVars>
          <dgm:bulletEnabled val="1"/>
        </dgm:presLayoutVars>
      </dgm:prSet>
      <dgm:spPr/>
    </dgm:pt>
    <dgm:pt modelId="{A09FB139-D8BA-410C-A2D5-3937951F6DA1}" type="pres">
      <dgm:prSet presAssocID="{A287AFAD-0AC1-4E7A-A35D-E4704CCDDA41}" presName="sibTrans" presStyleCnt="0"/>
      <dgm:spPr/>
    </dgm:pt>
    <dgm:pt modelId="{47F5B463-D5D0-41EF-AF2C-1A8D41D6384B}" type="pres">
      <dgm:prSet presAssocID="{444F92FB-0B89-4C95-B842-9DC570560EFF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5462A21E-1FD5-48AD-989C-DEA0C997AD4E}" srcId="{4E1B4906-0D9B-4388-8B7C-531589689F9D}" destId="{46F20046-8163-4605-8378-2BEC5C19DFC6}" srcOrd="0" destOrd="0" parTransId="{855A04E2-2B8B-488A-A651-1186B95CDA38}" sibTransId="{A287AFAD-0AC1-4E7A-A35D-E4704CCDDA41}"/>
    <dgm:cxn modelId="{01F051A7-28E2-4D7D-8275-FBA5D2D6075E}" srcId="{4E1B4906-0D9B-4388-8B7C-531589689F9D}" destId="{444F92FB-0B89-4C95-B842-9DC570560EFF}" srcOrd="1" destOrd="0" parTransId="{9060A309-D2A0-4544-9928-858851608B01}" sibTransId="{7BB893A2-F3B8-425A-B343-1B76636D2D88}"/>
    <dgm:cxn modelId="{738333D7-4262-4A20-8A73-3697D6D3C7C3}" type="presOf" srcId="{4E1B4906-0D9B-4388-8B7C-531589689F9D}" destId="{5EE94076-BB73-405A-B845-50270425764A}" srcOrd="0" destOrd="0" presId="urn:microsoft.com/office/officeart/2005/8/layout/hProcess9"/>
    <dgm:cxn modelId="{FB3CA908-050D-40A1-8B7B-96D097A5A67F}" type="presParOf" srcId="{5EE94076-BB73-405A-B845-50270425764A}" destId="{50141F68-1D80-4104-8455-28BA4B6C1EF1}" srcOrd="0" destOrd="0" presId="urn:microsoft.com/office/officeart/2005/8/layout/hProcess9"/>
    <dgm:cxn modelId="{07E3D5CF-DE68-4A79-9DCD-20A1EF9ED36E}" type="presParOf" srcId="{5EE94076-BB73-405A-B845-50270425764A}" destId="{709DDFE9-A44D-4F5A-AE79-4051C0486377}" srcOrd="1" destOrd="0" presId="urn:microsoft.com/office/officeart/2005/8/layout/hProcess9"/>
    <dgm:cxn modelId="{DC0A2175-D168-48AF-BF99-A9A4E24BEE79}" type="presParOf" srcId="{709DDFE9-A44D-4F5A-AE79-4051C0486377}" destId="{3718AE80-5546-41DB-8749-DB64ED374013}" srcOrd="0" destOrd="1" presId="urn:microsoft.com/office/officeart/2005/8/layout/hProcess9"/>
    <dgm:cxn modelId="{6AF7BC39-C4D6-436E-AEF2-D0EF62D3B58B}" type="presOf" srcId="{46F20046-8163-4605-8378-2BEC5C19DFC6}" destId="{3718AE80-5546-41DB-8749-DB64ED374013}" srcOrd="0" destOrd="0" presId="urn:microsoft.com/office/officeart/2005/8/layout/hProcess9"/>
    <dgm:cxn modelId="{95235F9F-915B-4785-8EE9-A9AC136067A3}" type="presParOf" srcId="{709DDFE9-A44D-4F5A-AE79-4051C0486377}" destId="{A09FB139-D8BA-410C-A2D5-3937951F6DA1}" srcOrd="1" destOrd="1" presId="urn:microsoft.com/office/officeart/2005/8/layout/hProcess9"/>
    <dgm:cxn modelId="{95F39439-5CF1-425A-A000-73E6AAEDCFF2}" type="presParOf" srcId="{709DDFE9-A44D-4F5A-AE79-4051C0486377}" destId="{47F5B463-D5D0-41EF-AF2C-1A8D41D6384B}" srcOrd="2" destOrd="1" presId="urn:microsoft.com/office/officeart/2005/8/layout/hProcess9"/>
    <dgm:cxn modelId="{1B923501-13FB-4611-ADBE-142F48B40BF7}" type="presOf" srcId="{444F92FB-0B89-4C95-B842-9DC570560EFF}" destId="{47F5B463-D5D0-41EF-AF2C-1A8D41D6384B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目标函数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B8529EA4-EFB0-4FD9-B4E9-8C08FFA9E70F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B8529EA4-EFB0-4FD9-B4E9-8C08FFA9E70F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主成分分析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（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）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旨在通过线性变换将高维数据投影到低维空间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同时最大化投影后的数据方差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以保留尽可能多的原始信息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其目标函数为最大化投影数据的方差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约束条件为单位向量长度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通过求解协方差矩阵的特征值和特征向量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找到数据的主要变化方向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即主成分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D58139F9-B8F7-45E6-A783-B2A19C344C99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D58139F9-B8F7-45E6-A783-B2A19C344C99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8529EA4-EFB0-4FD9-B4E9-8C08FFA9E70F}" srcId="{9C6A3E0F-9901-48B1-A3BE-ADC5C9199457}" destId="{74870D06-5D02-4C87-A522-91F9490D689D}" srcOrd="0" destOrd="0" parTransId="{61F9ADE8-8AD4-4E75-8615-D71F8A3D8E17}" sibTransId="{05781079-22A6-4887-BA45-25E5C71E6A9D}"/>
    <dgm:cxn modelId="{D58139F9-B8F7-45E6-A783-B2A19C344C99}" srcId="{74870D06-5D02-4C87-A522-91F9490D689D}" destId="{6F202C77-9BB7-41F0-AA02-7D8A42B649DA}" srcOrd="0" destOrd="0" parTransId="{11EBD097-553B-4233-8161-A6D711E2265B}" sibTransId="{E89900D1-5DBD-4A64-BB00-96DFFA9C3CDE}"/>
    <dgm:cxn modelId="{8F028A1E-A38F-4BB9-9E92-A6D404574BE1}" type="presOf" srcId="{9C6A3E0F-9901-48B1-A3BE-ADC5C9199457}" destId="{6A6A05DB-9084-439E-86E6-361F029136EA}" srcOrd="0" destOrd="0" presId="urn:microsoft.com/office/officeart/2005/8/layout/vList2"/>
    <dgm:cxn modelId="{2AC6CE5E-C37C-4885-A43D-7FB27E8EF0F2}" type="presParOf" srcId="{6A6A05DB-9084-439E-86E6-361F029136EA}" destId="{69AD0FDF-743F-40D1-B29B-2FBABA61E703}" srcOrd="0" destOrd="0" presId="urn:microsoft.com/office/officeart/2005/8/layout/vList2"/>
    <dgm:cxn modelId="{AE235D51-13D5-4D1F-8954-C7E52B8B0210}" type="presOf" srcId="{74870D06-5D02-4C87-A522-91F9490D689D}" destId="{69AD0FDF-743F-40D1-B29B-2FBABA61E703}" srcOrd="0" destOrd="0" presId="urn:microsoft.com/office/officeart/2005/8/layout/vList2"/>
    <dgm:cxn modelId="{CDA86411-892B-4B58-A467-2F628F201A7A}" type="presParOf" srcId="{6A6A05DB-9084-439E-86E6-361F029136EA}" destId="{FE994E59-1B5C-4EB9-A450-E50380E6506A}" srcOrd="1" destOrd="0" presId="urn:microsoft.com/office/officeart/2005/8/layout/vList2"/>
    <dgm:cxn modelId="{7E013F56-843B-4012-8077-16BE4AAB462B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拉格朗日求解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22BCCBF5-0EE7-492B-A940-F422AD6A57BE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22BCCBF5-0EE7-492B-A940-F422AD6A57BE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采用拉格朗日乘数法求解带约束的优化问题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构造拉格朗日函数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对向量求偏导并令其等于零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得到特征值问题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最大特征值对应的特征向量即为第一个主成分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后续主成分依次选择次大的特征值对应的特征向量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且与之前主成分正交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ECFE2248-D70B-401E-89AA-4669F089D2FD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ECFE2248-D70B-401E-89AA-4669F089D2FD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2BCCBF5-0EE7-492B-A940-F422AD6A57BE}" srcId="{9C6A3E0F-9901-48B1-A3BE-ADC5C9199457}" destId="{74870D06-5D02-4C87-A522-91F9490D689D}" srcOrd="0" destOrd="0" parTransId="{61F9ADE8-8AD4-4E75-8615-D71F8A3D8E17}" sibTransId="{05781079-22A6-4887-BA45-25E5C71E6A9D}"/>
    <dgm:cxn modelId="{ECFE2248-D70B-401E-89AA-4669F089D2FD}" srcId="{74870D06-5D02-4C87-A522-91F9490D689D}" destId="{6F202C77-9BB7-41F0-AA02-7D8A42B649DA}" srcOrd="0" destOrd="0" parTransId="{11EBD097-553B-4233-8161-A6D711E2265B}" sibTransId="{E89900D1-5DBD-4A64-BB00-96DFFA9C3CDE}"/>
    <dgm:cxn modelId="{32613BB9-1CE1-47DD-9D6D-049DF7F9A1AA}" type="presOf" srcId="{9C6A3E0F-9901-48B1-A3BE-ADC5C9199457}" destId="{6A6A05DB-9084-439E-86E6-361F029136EA}" srcOrd="0" destOrd="0" presId="urn:microsoft.com/office/officeart/2005/8/layout/vList2"/>
    <dgm:cxn modelId="{53CA277C-B2EB-4DE7-AAB4-E052DCA36E45}" type="presParOf" srcId="{6A6A05DB-9084-439E-86E6-361F029136EA}" destId="{69AD0FDF-743F-40D1-B29B-2FBABA61E703}" srcOrd="0" destOrd="0" presId="urn:microsoft.com/office/officeart/2005/8/layout/vList2"/>
    <dgm:cxn modelId="{5BB0E837-3239-45AA-9F6B-FFE51332FDA8}" type="presOf" srcId="{74870D06-5D02-4C87-A522-91F9490D689D}" destId="{69AD0FDF-743F-40D1-B29B-2FBABA61E703}" srcOrd="0" destOrd="0" presId="urn:microsoft.com/office/officeart/2005/8/layout/vList2"/>
    <dgm:cxn modelId="{DE4D6652-4343-438C-9365-BC9DE6FBBB52}" type="presParOf" srcId="{6A6A05DB-9084-439E-86E6-361F029136EA}" destId="{FE994E59-1B5C-4EB9-A450-E50380E6506A}" srcOrd="1" destOrd="0" presId="urn:microsoft.com/office/officeart/2005/8/layout/vList2"/>
    <dgm:cxn modelId="{4C4C96D1-CA4A-490E-80CC-833E42B04F4F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</a:t>
          </a:r>
          <a:r>
            <a:rPr lang="zh-CN" altLang="en-US" sz="2400" b="1"/>
            <a:t>核心要素直观理解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A412EA2B-55A6-4ECB-B753-DD748F8838FA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A412EA2B-55A6-4ECB-B753-DD748F8838FA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特征值分解揭示了数据的主要结构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特征值衡量数据在特征向量方向上的分散程度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较大的特征值对应更重要的变化方向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通过可视化原始数据和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变换后的数据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可以直观地理解主成分的方向和数据的分布变化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帮助去除冗余信息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提高模型性能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7BF117B5-1F95-4548-ABCF-71CE7FBA511F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7BF117B5-1F95-4548-ABCF-71CE7FBA511F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412EA2B-55A6-4ECB-B753-DD748F8838FA}" srcId="{9C6A3E0F-9901-48B1-A3BE-ADC5C9199457}" destId="{74870D06-5D02-4C87-A522-91F9490D689D}" srcOrd="0" destOrd="0" parTransId="{61F9ADE8-8AD4-4E75-8615-D71F8A3D8E17}" sibTransId="{05781079-22A6-4887-BA45-25E5C71E6A9D}"/>
    <dgm:cxn modelId="{7BF117B5-1F95-4548-ABCF-71CE7FBA511F}" srcId="{74870D06-5D02-4C87-A522-91F9490D689D}" destId="{6F202C77-9BB7-41F0-AA02-7D8A42B649DA}" srcOrd="0" destOrd="0" parTransId="{11EBD097-553B-4233-8161-A6D711E2265B}" sibTransId="{E89900D1-5DBD-4A64-BB00-96DFFA9C3CDE}"/>
    <dgm:cxn modelId="{9A924E4A-107E-4322-8409-07B301BF2F67}" type="presOf" srcId="{9C6A3E0F-9901-48B1-A3BE-ADC5C9199457}" destId="{6A6A05DB-9084-439E-86E6-361F029136EA}" srcOrd="0" destOrd="0" presId="urn:microsoft.com/office/officeart/2005/8/layout/vList2"/>
    <dgm:cxn modelId="{B6100B08-87D5-404D-8C9C-AFD9050A9539}" type="presParOf" srcId="{6A6A05DB-9084-439E-86E6-361F029136EA}" destId="{69AD0FDF-743F-40D1-B29B-2FBABA61E703}" srcOrd="0" destOrd="0" presId="urn:microsoft.com/office/officeart/2005/8/layout/vList2"/>
    <dgm:cxn modelId="{8C145850-F831-42D2-BB4C-73BB5737CE45}" type="presOf" srcId="{74870D06-5D02-4C87-A522-91F9490D689D}" destId="{69AD0FDF-743F-40D1-B29B-2FBABA61E703}" srcOrd="0" destOrd="0" presId="urn:microsoft.com/office/officeart/2005/8/layout/vList2"/>
    <dgm:cxn modelId="{DFDED368-AA6C-4785-9840-57A4CD3CD93E}" type="presParOf" srcId="{6A6A05DB-9084-439E-86E6-361F029136EA}" destId="{FE994E59-1B5C-4EB9-A450-E50380E6506A}" srcOrd="1" destOrd="0" presId="urn:microsoft.com/office/officeart/2005/8/layout/vList2"/>
    <dgm:cxn modelId="{C5C15C24-D2BF-4EC8-A417-152426213C8B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</a:t>
          </a:r>
          <a:r>
            <a:rPr lang="zh-CN" altLang="en-US" sz="2400" b="1"/>
            <a:t>核心要素直观理解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C38714E4-EDF1-4DF4-A041-E9530D9CF6B8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C38714E4-EDF1-4DF4-A041-E9530D9CF6B8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38714E4-EDF1-4DF4-A041-E9530D9CF6B8}" srcId="{9C6A3E0F-9901-48B1-A3BE-ADC5C9199457}" destId="{74870D06-5D02-4C87-A522-91F9490D689D}" srcOrd="0" destOrd="0" parTransId="{61F9ADE8-8AD4-4E75-8615-D71F8A3D8E17}" sibTransId="{05781079-22A6-4887-BA45-25E5C71E6A9D}"/>
    <dgm:cxn modelId="{8D0A50FA-7459-475E-A162-A289B9F63060}" type="presOf" srcId="{9C6A3E0F-9901-48B1-A3BE-ADC5C9199457}" destId="{6A6A05DB-9084-439E-86E6-361F029136EA}" srcOrd="0" destOrd="0" presId="urn:microsoft.com/office/officeart/2005/8/layout/vList2"/>
    <dgm:cxn modelId="{E67203DC-C2CA-40F8-88CF-FF2D1886652C}" type="presParOf" srcId="{6A6A05DB-9084-439E-86E6-361F029136EA}" destId="{69AD0FDF-743F-40D1-B29B-2FBABA61E703}" srcOrd="0" destOrd="0" presId="urn:microsoft.com/office/officeart/2005/8/layout/vList2"/>
    <dgm:cxn modelId="{603F8567-810D-425A-832E-0C38FABF6959}" type="presOf" srcId="{74870D06-5D02-4C87-A522-91F9490D689D}" destId="{69AD0FDF-743F-40D1-B29B-2FBABA61E7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的局限性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F7959AAA-3D2F-4E4B-9BA8-25D9964497A2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F7959AAA-3D2F-4E4B-9BA8-25D9964497A2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假设数据分布在超平面上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仅能捕捉线性相关性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对于非线性分布的数据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如环状或螺旋状数据点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可能无法有效降维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导致信息丢失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无法充分利用数据的内在结构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2FF62663-2FBD-4502-AD11-B524232C675F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2FF62663-2FBD-4502-AD11-B524232C675F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7959AAA-3D2F-4E4B-9BA8-25D9964497A2}" srcId="{9C6A3E0F-9901-48B1-A3BE-ADC5C9199457}" destId="{74870D06-5D02-4C87-A522-91F9490D689D}" srcOrd="0" destOrd="0" parTransId="{61F9ADE8-8AD4-4E75-8615-D71F8A3D8E17}" sibTransId="{05781079-22A6-4887-BA45-25E5C71E6A9D}"/>
    <dgm:cxn modelId="{2FF62663-2FBD-4502-AD11-B524232C675F}" srcId="{74870D06-5D02-4C87-A522-91F9490D689D}" destId="{6F202C77-9BB7-41F0-AA02-7D8A42B649DA}" srcOrd="0" destOrd="0" parTransId="{11EBD097-553B-4233-8161-A6D711E2265B}" sibTransId="{E89900D1-5DBD-4A64-BB00-96DFFA9C3CDE}"/>
    <dgm:cxn modelId="{069BFDAF-0D1E-46D4-BEDC-51848A85758C}" type="presOf" srcId="{9C6A3E0F-9901-48B1-A3BE-ADC5C9199457}" destId="{6A6A05DB-9084-439E-86E6-361F029136EA}" srcOrd="0" destOrd="0" presId="urn:microsoft.com/office/officeart/2005/8/layout/vList2"/>
    <dgm:cxn modelId="{ECEA12A3-5FFC-43C7-8038-5C9BF26C85BB}" type="presParOf" srcId="{6A6A05DB-9084-439E-86E6-361F029136EA}" destId="{69AD0FDF-743F-40D1-B29B-2FBABA61E703}" srcOrd="0" destOrd="0" presId="urn:microsoft.com/office/officeart/2005/8/layout/vList2"/>
    <dgm:cxn modelId="{7FCD8B99-F506-4907-9288-46B5FCFBCA9B}" type="presOf" srcId="{74870D06-5D02-4C87-A522-91F9490D689D}" destId="{69AD0FDF-743F-40D1-B29B-2FBABA61E703}" srcOrd="0" destOrd="0" presId="urn:microsoft.com/office/officeart/2005/8/layout/vList2"/>
    <dgm:cxn modelId="{50DBFA75-B571-4F3F-8D26-82DD3036821E}" type="presParOf" srcId="{6A6A05DB-9084-439E-86E6-361F029136EA}" destId="{FE994E59-1B5C-4EB9-A450-E50380E6506A}" srcOrd="1" destOrd="0" presId="urn:microsoft.com/office/officeart/2005/8/layout/vList2"/>
    <dgm:cxn modelId="{BAAD9CCE-7FFA-41A9-AFBF-18E23067530D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核化线性降维原理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37FAAD8C-62DB-47D2-8476-621DBD4BC51E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37FAAD8C-62DB-47D2-8476-621DBD4BC51E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核化线性降维通过核函数将数据映射到高维空间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使原本非线性可分的数据变得线性可分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利用核技巧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无需显式计算高维空间中的数据点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而是通过核函数计算内积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简化计算过程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增强数据的线性特性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从而实现更好的降维效果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B00FB93B-3A90-495C-BA34-D3542CC707AB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B00FB93B-3A90-495C-BA34-D3542CC707AB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7FAAD8C-62DB-47D2-8476-621DBD4BC51E}" srcId="{9C6A3E0F-9901-48B1-A3BE-ADC5C9199457}" destId="{74870D06-5D02-4C87-A522-91F9490D689D}" srcOrd="0" destOrd="0" parTransId="{61F9ADE8-8AD4-4E75-8615-D71F8A3D8E17}" sibTransId="{05781079-22A6-4887-BA45-25E5C71E6A9D}"/>
    <dgm:cxn modelId="{B00FB93B-3A90-495C-BA34-D3542CC707AB}" srcId="{74870D06-5D02-4C87-A522-91F9490D689D}" destId="{6F202C77-9BB7-41F0-AA02-7D8A42B649DA}" srcOrd="0" destOrd="0" parTransId="{11EBD097-553B-4233-8161-A6D711E2265B}" sibTransId="{E89900D1-5DBD-4A64-BB00-96DFFA9C3CDE}"/>
    <dgm:cxn modelId="{CE96B4F9-B8B6-4064-A621-1F76E37A8295}" type="presOf" srcId="{9C6A3E0F-9901-48B1-A3BE-ADC5C9199457}" destId="{6A6A05DB-9084-439E-86E6-361F029136EA}" srcOrd="0" destOrd="0" presId="urn:microsoft.com/office/officeart/2005/8/layout/vList2"/>
    <dgm:cxn modelId="{443DA7CD-16A5-445D-B08C-F7586A2A3F11}" type="presParOf" srcId="{6A6A05DB-9084-439E-86E6-361F029136EA}" destId="{69AD0FDF-743F-40D1-B29B-2FBABA61E703}" srcOrd="0" destOrd="0" presId="urn:microsoft.com/office/officeart/2005/8/layout/vList2"/>
    <dgm:cxn modelId="{66E8E9A4-0C78-46BC-930C-0D347F8D362C}" type="presOf" srcId="{74870D06-5D02-4C87-A522-91F9490D689D}" destId="{69AD0FDF-743F-40D1-B29B-2FBABA61E703}" srcOrd="0" destOrd="0" presId="urn:microsoft.com/office/officeart/2005/8/layout/vList2"/>
    <dgm:cxn modelId="{F25B6057-FEF6-47C4-B927-6EF195832D53}" type="presParOf" srcId="{6A6A05DB-9084-439E-86E6-361F029136EA}" destId="{FE994E59-1B5C-4EB9-A450-E50380E6506A}" srcOrd="1" destOrd="0" presId="urn:microsoft.com/office/officeart/2005/8/layout/vList2"/>
    <dgm:cxn modelId="{7085624D-1B75-4746-A80E-36A8CB7590AE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E653BF72-0A8B-4766-85FA-2134288D18AA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E653BF72-0A8B-4766-85FA-2134288D18AA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以二维数据集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X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为例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使用径向基函数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(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RBF)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作为核函数进行核化</a:t>
          </a: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通过构建核矩阵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中心化核矩阵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特征分解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选择主成分和投影到低维空间等步骤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将高维数据映射到低维空间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保留数据的非线性结构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适用于复杂数据分布的降维任务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7D681D01-7067-480D-9E9C-4B5E8D62BCF4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7D681D01-7067-480D-9E9C-4B5E8D62BCF4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653BF72-0A8B-4766-85FA-2134288D18AA}" srcId="{9C6A3E0F-9901-48B1-A3BE-ADC5C9199457}" destId="{74870D06-5D02-4C87-A522-91F9490D689D}" srcOrd="0" destOrd="0" parTransId="{61F9ADE8-8AD4-4E75-8615-D71F8A3D8E17}" sibTransId="{05781079-22A6-4887-BA45-25E5C71E6A9D}"/>
    <dgm:cxn modelId="{7D681D01-7067-480D-9E9C-4B5E8D62BCF4}" srcId="{74870D06-5D02-4C87-A522-91F9490D689D}" destId="{6F202C77-9BB7-41F0-AA02-7D8A42B649DA}" srcOrd="0" destOrd="0" parTransId="{11EBD097-553B-4233-8161-A6D711E2265B}" sibTransId="{E89900D1-5DBD-4A64-BB00-96DFFA9C3CDE}"/>
    <dgm:cxn modelId="{236A3371-1D79-49C2-B480-0A96B67E5E03}" type="presOf" srcId="{9C6A3E0F-9901-48B1-A3BE-ADC5C9199457}" destId="{6A6A05DB-9084-439E-86E6-361F029136EA}" srcOrd="0" destOrd="0" presId="urn:microsoft.com/office/officeart/2005/8/layout/vList2"/>
    <dgm:cxn modelId="{234CECCE-4373-49AE-80B8-AB24E10A0A72}" type="presParOf" srcId="{6A6A05DB-9084-439E-86E6-361F029136EA}" destId="{69AD0FDF-743F-40D1-B29B-2FBABA61E703}" srcOrd="0" destOrd="0" presId="urn:microsoft.com/office/officeart/2005/8/layout/vList2"/>
    <dgm:cxn modelId="{1051DB68-6AE6-41A0-8F7B-639A8EF306E1}" type="presOf" srcId="{74870D06-5D02-4C87-A522-91F9490D689D}" destId="{69AD0FDF-743F-40D1-B29B-2FBABA61E703}" srcOrd="0" destOrd="0" presId="urn:microsoft.com/office/officeart/2005/8/layout/vList2"/>
    <dgm:cxn modelId="{E1606153-C88D-467D-AD87-70D90D1E04A3}" type="presParOf" srcId="{6A6A05DB-9084-439E-86E6-361F029136EA}" destId="{FE994E59-1B5C-4EB9-A450-E50380E6506A}" srcOrd="1" destOrd="0" presId="urn:microsoft.com/office/officeart/2005/8/layout/vList2"/>
    <dgm:cxn modelId="{DD2C0B84-A614-46B4-AFA2-547C1345D667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6AB72A41-7EEB-42B4-8EA8-01FC5FBD8F7C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6AB72A41-7EEB-42B4-8EA8-01FC5FBD8F7C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AB72A41-7EEB-42B4-8EA8-01FC5FBD8F7C}" srcId="{9C6A3E0F-9901-48B1-A3BE-ADC5C9199457}" destId="{74870D06-5D02-4C87-A522-91F9490D689D}" srcOrd="0" destOrd="0" parTransId="{61F9ADE8-8AD4-4E75-8615-D71F8A3D8E17}" sibTransId="{05781079-22A6-4887-BA45-25E5C71E6A9D}"/>
    <dgm:cxn modelId="{1F0AFE79-1BB2-45B1-A5B6-27DE90119525}" type="presOf" srcId="{9C6A3E0F-9901-48B1-A3BE-ADC5C9199457}" destId="{6A6A05DB-9084-439E-86E6-361F029136EA}" srcOrd="0" destOrd="0" presId="urn:microsoft.com/office/officeart/2005/8/layout/vList2"/>
    <dgm:cxn modelId="{1FFA5B3F-BC67-45BD-AD33-1C1E8C74B6D2}" type="presParOf" srcId="{6A6A05DB-9084-439E-86E6-361F029136EA}" destId="{69AD0FDF-743F-40D1-B29B-2FBABA61E703}" srcOrd="0" destOrd="0" presId="urn:microsoft.com/office/officeart/2005/8/layout/vList2"/>
    <dgm:cxn modelId="{E8D7C15F-60CF-455E-9716-8E9836817027}" type="presOf" srcId="{74870D06-5D02-4C87-A522-91F9490D689D}" destId="{69AD0FDF-743F-40D1-B29B-2FBABA61E7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6AB72A41-7EEB-42B4-8EA8-01FC5FBD8F7C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6AB72A41-7EEB-42B4-8EA8-01FC5FBD8F7C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AB72A41-7EEB-42B4-8EA8-01FC5FBD8F7C}" srcId="{9C6A3E0F-9901-48B1-A3BE-ADC5C9199457}" destId="{74870D06-5D02-4C87-A522-91F9490D689D}" srcOrd="0" destOrd="0" parTransId="{61F9ADE8-8AD4-4E75-8615-D71F8A3D8E17}" sibTransId="{05781079-22A6-4887-BA45-25E5C71E6A9D}"/>
    <dgm:cxn modelId="{1F0AFE79-1BB2-45B1-A5B6-27DE90119525}" type="presOf" srcId="{9C6A3E0F-9901-48B1-A3BE-ADC5C9199457}" destId="{6A6A05DB-9084-439E-86E6-361F029136EA}" srcOrd="0" destOrd="0" presId="urn:microsoft.com/office/officeart/2005/8/layout/vList2"/>
    <dgm:cxn modelId="{1FFA5B3F-BC67-45BD-AD33-1C1E8C74B6D2}" type="presParOf" srcId="{6A6A05DB-9084-439E-86E6-361F029136EA}" destId="{69AD0FDF-743F-40D1-B29B-2FBABA61E703}" srcOrd="0" destOrd="0" presId="urn:microsoft.com/office/officeart/2005/8/layout/vList2"/>
    <dgm:cxn modelId="{E8D7C15F-60CF-455E-9716-8E9836817027}" type="presOf" srcId="{74870D06-5D02-4C87-A522-91F9490D689D}" destId="{69AD0FDF-743F-40D1-B29B-2FBABA61E7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LDA</a:t>
          </a:r>
          <a:r>
            <a:rPr lang="zh-CN" altLang="en-US" sz="2400" b="1"/>
            <a:t>目标函数</a:t>
          </a:r>
          <a:r>
            <a:rPr lang="zh-CN" altLang="en-US" sz="2400" b="1"/>
            <a:t/>
          </a:r>
          <a:endParaRPr lang="zh-CN" altLang="en-US" sz="2400" b="1"/>
        </a:p>
      </dgm:t>
    </dgm:pt>
    <dgm:pt modelId="{61F9ADE8-8AD4-4E75-8615-D71F8A3D8E17}" cxnId="{5D382FAE-F09D-446B-AFA8-89864A467259}" type="parTrans">
      <dgm:prSet/>
      <dgm:spPr/>
      <dgm:t>
        <a:bodyPr/>
        <a:lstStyle/>
        <a:p>
          <a:endParaRPr lang="zh-CN" altLang="en-US"/>
        </a:p>
      </dgm:t>
    </dgm:pt>
    <dgm:pt modelId="{05781079-22A6-4887-BA45-25E5C71E6A9D}" cxnId="{5D382FAE-F09D-446B-AFA8-89864A467259}" type="sibTrans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 phldr="0" custT="1"/>
      <dgm:spPr/>
      <dgm:t>
        <a:bodyPr vert="horz" wrap="square"/>
        <a:p>
          <a:pPr algn="just"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r>
            <a:rPr lang="en-US" altLang="zh-CN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LDA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是一种监督学习的降维技术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目标是最大化类间差异同时最小化类内差异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通过计算类间散布矩阵和类内散布矩阵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求解广义特征值问题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找到最优的投影方向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将数据投影到低维空间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增强分类性能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/>
          </a:r>
          <a:endParaRPr lang="zh-CN" altLang="en-US" sz="1800"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gm:t>
    </dgm:pt>
    <dgm:pt modelId="{11EBD097-553B-4233-8161-A6D711E2265B}" cxnId="{EDC5C8BA-14AF-477B-B0F4-D24D7BFAF0D7}" type="parTrans">
      <dgm:prSet/>
      <dgm:spPr/>
      <dgm:t>
        <a:bodyPr/>
        <a:lstStyle/>
        <a:p>
          <a:endParaRPr lang="zh-CN" altLang="en-US"/>
        </a:p>
      </dgm:t>
    </dgm:pt>
    <dgm:pt modelId="{E89900D1-5DBD-4A64-BB00-96DFFA9C3CDE}" cxnId="{EDC5C8BA-14AF-477B-B0F4-D24D7BFAF0D7}" type="sibTrans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D382FAE-F09D-446B-AFA8-89864A467259}" srcId="{9C6A3E0F-9901-48B1-A3BE-ADC5C9199457}" destId="{74870D06-5D02-4C87-A522-91F9490D689D}" srcOrd="0" destOrd="0" parTransId="{61F9ADE8-8AD4-4E75-8615-D71F8A3D8E17}" sibTransId="{05781079-22A6-4887-BA45-25E5C71E6A9D}"/>
    <dgm:cxn modelId="{EDC5C8BA-14AF-477B-B0F4-D24D7BFAF0D7}" srcId="{74870D06-5D02-4C87-A522-91F9490D689D}" destId="{6F202C77-9BB7-41F0-AA02-7D8A42B649DA}" srcOrd="0" destOrd="0" parTransId="{11EBD097-553B-4233-8161-A6D711E2265B}" sibTransId="{E89900D1-5DBD-4A64-BB00-96DFFA9C3CDE}"/>
    <dgm:cxn modelId="{C8202DA5-4129-43E4-8928-703C87C5E7A1}" type="presOf" srcId="{9C6A3E0F-9901-48B1-A3BE-ADC5C9199457}" destId="{6A6A05DB-9084-439E-86E6-361F029136EA}" srcOrd="0" destOrd="0" presId="urn:microsoft.com/office/officeart/2005/8/layout/vList2"/>
    <dgm:cxn modelId="{35B94FC9-9F16-4A3B-88E8-02202F102CD8}" type="presParOf" srcId="{6A6A05DB-9084-439E-86E6-361F029136EA}" destId="{69AD0FDF-743F-40D1-B29B-2FBABA61E703}" srcOrd="0" destOrd="0" presId="urn:microsoft.com/office/officeart/2005/8/layout/vList2"/>
    <dgm:cxn modelId="{C72B182A-A7D1-408B-B7CF-6C401B3F69DA}" type="presOf" srcId="{74870D06-5D02-4C87-A522-91F9490D689D}" destId="{69AD0FDF-743F-40D1-B29B-2FBABA61E703}" srcOrd="0" destOrd="0" presId="urn:microsoft.com/office/officeart/2005/8/layout/vList2"/>
    <dgm:cxn modelId="{D46D97B9-D6BD-4B7C-83F1-20B05FF6CF8D}" type="presParOf" srcId="{6A6A05DB-9084-439E-86E6-361F029136EA}" destId="{FE994E59-1B5C-4EB9-A450-E50380E6506A}" srcOrd="1" destOrd="0" presId="urn:microsoft.com/office/officeart/2005/8/layout/vList2"/>
    <dgm:cxn modelId="{EE660788-AE2B-43D9-9CA0-36BD4B9CA5C1}" type="presOf" srcId="{6F202C77-9BB7-41F0-AA02-7D8A42B649DA}" destId="{FE994E59-1B5C-4EB9-A450-E50380E6506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35231" cy="3157771"/>
        <a:chOff x="0" y="0"/>
        <a:chExt cx="7735231" cy="3157771"/>
      </a:xfrm>
    </dsp:grpSpPr>
    <dsp:sp modelId="{50141F68-1D80-4104-8455-28BA4B6C1EF1}">
      <dsp:nvSpPr>
        <dsp:cNvPr id="3" name="右箭头 2"/>
        <dsp:cNvSpPr/>
      </dsp:nvSpPr>
      <dsp:spPr bwMode="white">
        <a:xfrm>
          <a:off x="580142" y="0"/>
          <a:ext cx="6574946" cy="3157771"/>
        </a:xfrm>
        <a:prstGeom prst="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580142" y="0"/>
        <a:ext cx="6574946" cy="3157771"/>
      </dsp:txXfrm>
    </dsp:sp>
    <dsp:sp modelId="{3718AE80-5546-41DB-8749-DB64ED374013}">
      <dsp:nvSpPr>
        <dsp:cNvPr id="4" name="圆角矩形 3"/>
        <dsp:cNvSpPr/>
      </dsp:nvSpPr>
      <dsp:spPr bwMode="white">
        <a:xfrm>
          <a:off x="1353665" y="947331"/>
          <a:ext cx="2320569" cy="126310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数据降维的过程类似于筛选信息的漏斗</a:t>
          </a:r>
          <a:r>
            <a:rPr lang="zh-CN" altLang="en-US"/>
            <a:t>，</a:t>
          </a:r>
          <a:r>
            <a:rPr lang="zh-CN" altLang="en-US"/>
            <a:t>先从高维数据的众多特征中</a:t>
          </a:r>
          <a:r>
            <a:rPr lang="zh-CN" altLang="en-US"/>
            <a:t>，</a:t>
          </a:r>
          <a:r>
            <a:rPr lang="zh-CN" altLang="en-US"/>
            <a:t>筛选出关键特征</a:t>
          </a:r>
          <a:r>
            <a:rPr lang="zh-CN" altLang="en-US"/>
            <a:t>，</a:t>
          </a:r>
          <a:r>
            <a:rPr lang="zh-CN" altLang="en-US"/>
            <a:t>舍弃冗余信息</a:t>
          </a:r>
          <a:r>
            <a:rPr lang="zh-CN" altLang="en-US"/>
            <a:t>，</a:t>
          </a:r>
          <a:r>
            <a:rPr lang="zh-CN" altLang="en-US"/>
            <a:t>逐步聚焦到最具代表性的数据维度上</a:t>
          </a:r>
          <a:r>
            <a:rPr lang="zh-CN" altLang="en-US"/>
            <a:t>。</a:t>
          </a:r>
          <a:endParaRPr lang="zh-CN" altLang="en-US"/>
        </a:p>
      </dsp:txBody>
      <dsp:txXfrm>
        <a:off x="1353665" y="947331"/>
        <a:ext cx="2320569" cy="1263108"/>
      </dsp:txXfrm>
    </dsp:sp>
    <dsp:sp modelId="{47F5B463-D5D0-41EF-AF2C-1A8D41D6384B}">
      <dsp:nvSpPr>
        <dsp:cNvPr id="5" name="圆角矩形 4"/>
        <dsp:cNvSpPr/>
      </dsp:nvSpPr>
      <dsp:spPr bwMode="white">
        <a:xfrm>
          <a:off x="4060996" y="947331"/>
          <a:ext cx="2320569" cy="126310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通过特定算法寻找最优的维度转换方向</a:t>
          </a:r>
          <a:r>
            <a:rPr lang="zh-CN" altLang="en-US"/>
            <a:t>，</a:t>
          </a:r>
          <a:r>
            <a:rPr lang="zh-CN" altLang="en-US"/>
            <a:t>将高维数据投影到低维空间</a:t>
          </a:r>
          <a:r>
            <a:rPr lang="zh-CN" altLang="en-US"/>
            <a:t>，</a:t>
          </a:r>
          <a:r>
            <a:rPr lang="zh-CN" altLang="en-US"/>
            <a:t>在这个过程中保证数据的关键信息损失最小</a:t>
          </a:r>
          <a:r>
            <a:rPr lang="zh-CN" altLang="en-US"/>
            <a:t>，</a:t>
          </a:r>
          <a:r>
            <a:rPr lang="zh-CN" altLang="en-US"/>
            <a:t>实现数据的有效降维</a:t>
          </a:r>
          <a:r>
            <a:rPr lang="en-US" altLang="zh-CN"/>
            <a:t> </a:t>
          </a:r>
          <a:r>
            <a:rPr lang="zh-CN" altLang="en-US"/>
            <a:t>。</a:t>
          </a:r>
          <a:endParaRPr lang="zh-CN" altLang="en-US"/>
        </a:p>
      </dsp:txBody>
      <dsp:txXfrm>
        <a:off x="4060996" y="947331"/>
        <a:ext cx="2320569" cy="1263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03395" cy="2777490"/>
        <a:chOff x="0" y="0"/>
        <a:chExt cx="4303395" cy="2777490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303395" cy="59446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目标函数</a:t>
          </a:r>
          <a:endParaRPr lang="zh-CN" altLang="en-US" sz="2400" b="1"/>
        </a:p>
      </dsp:txBody>
      <dsp:txXfrm>
        <a:off x="0" y="0"/>
        <a:ext cx="4303395" cy="594469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594469"/>
          <a:ext cx="4303395" cy="218302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36632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主成分分析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（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）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旨在通过线性变换将高维数据投影到低维空间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同时最大化投影后的数据方差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以保留尽可能多的原始信息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其目标函数为最大化投影数据的方差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约束条件为单位向量长度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通过求解协方差矩阵的特征值和特征向量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找到数据的主要变化方向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即主成分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594469"/>
        <a:ext cx="4303395" cy="21830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456430" cy="2269490"/>
        <a:chOff x="0" y="0"/>
        <a:chExt cx="4456430" cy="2269490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456430" cy="53745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拉格朗日求解</a:t>
          </a:r>
          <a:endParaRPr lang="zh-CN" altLang="en-US" sz="2400" b="1"/>
        </a:p>
      </dsp:txBody>
      <dsp:txXfrm>
        <a:off x="0" y="0"/>
        <a:ext cx="4456430" cy="537452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537452"/>
          <a:ext cx="4456430" cy="17320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1491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采用拉格朗日乘数法求解带约束的优化问题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构造拉格朗日函数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对向量求偏导并令其等于零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得到特征值问题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最大特征值对应的特征向量即为第一个主成分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后续主成分依次选择次大的特征值对应的特征向量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且与之前主成分正交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537452"/>
        <a:ext cx="4456430" cy="17320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479925" cy="2306955"/>
        <a:chOff x="0" y="0"/>
        <a:chExt cx="4479925" cy="2306955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479925" cy="54632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</a:t>
          </a:r>
          <a:r>
            <a:rPr lang="zh-CN" altLang="en-US" sz="2400" b="1"/>
            <a:t>核心要素直观理解</a:t>
          </a:r>
          <a:endParaRPr lang="zh-CN" altLang="en-US" sz="2400" b="1"/>
        </a:p>
      </dsp:txBody>
      <dsp:txXfrm>
        <a:off x="0" y="0"/>
        <a:ext cx="4479925" cy="546324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546324"/>
          <a:ext cx="4479925" cy="176063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2237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特征值分解揭示了数据的主要结构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特征值衡量数据在特征向量方向上的分散程度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较大的特征值对应更重要的变化方向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通过可视化原始数据和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变换后的数据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可以直观地理解主成分的方向和数据的分布变化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帮助去除冗余信息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提高模型性能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546324"/>
        <a:ext cx="4479925" cy="17606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479925" cy="547370"/>
        <a:chOff x="0" y="0"/>
        <a:chExt cx="4479925" cy="547370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479925" cy="5473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</a:t>
          </a:r>
          <a:r>
            <a:rPr lang="zh-CN" altLang="en-US" sz="2400" b="1"/>
            <a:t>核心要素直观理解</a:t>
          </a:r>
          <a:endParaRPr lang="zh-CN" altLang="en-US" sz="2400" b="1"/>
        </a:p>
      </dsp:txBody>
      <dsp:txXfrm>
        <a:off x="0" y="0"/>
        <a:ext cx="4479925" cy="5473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98670" cy="2026285"/>
        <a:chOff x="0" y="0"/>
        <a:chExt cx="4598670" cy="2026285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598670" cy="60966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PCA </a:t>
          </a:r>
          <a:r>
            <a:rPr lang="zh-CN" altLang="en-US" sz="2400" b="1"/>
            <a:t>的局限性</a:t>
          </a:r>
          <a:endParaRPr lang="zh-CN" altLang="en-US" sz="2400" b="1"/>
        </a:p>
      </dsp:txBody>
      <dsp:txXfrm>
        <a:off x="0" y="0"/>
        <a:ext cx="4598670" cy="609662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609662"/>
          <a:ext cx="4598670" cy="14166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6007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假设数据分布在超平面上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仅能捕捉线性相关性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对于非线性分布的数据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如环状或螺旋状数据点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可能无法有效降维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导致信息丢失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无法充分利用数据的内在结构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609662"/>
        <a:ext cx="4598670" cy="14166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460240" cy="2235835"/>
        <a:chOff x="0" y="0"/>
        <a:chExt cx="4460240" cy="2235835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460240" cy="5902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核化线性降维原理</a:t>
          </a:r>
          <a:endParaRPr lang="zh-CN" altLang="en-US" sz="2400" b="1"/>
        </a:p>
      </dsp:txBody>
      <dsp:txXfrm>
        <a:off x="0" y="0"/>
        <a:ext cx="4460240" cy="590295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590295"/>
          <a:ext cx="4460240" cy="164554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1612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核化线性降维通过核函数将数据映射到高维空间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使原本非线性可分的数据变得线性可分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利用核技巧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无需显式计算高维空间中的数据点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而是通过核函数计算内积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简化计算过程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增强数据的线性特性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从而实现更好的降维效果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590295"/>
        <a:ext cx="4460240" cy="16455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82160" cy="2308225"/>
        <a:chOff x="0" y="0"/>
        <a:chExt cx="4582160" cy="2308225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2858"/>
          <a:ext cx="4582160" cy="61023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endParaRPr lang="zh-CN" altLang="en-US" sz="2400" b="1"/>
        </a:p>
      </dsp:txBody>
      <dsp:txXfrm>
        <a:off x="0" y="2858"/>
        <a:ext cx="4582160" cy="610235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613093"/>
          <a:ext cx="4582160" cy="169227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5483" tIns="22860" rIns="128016" bIns="22860" anchor="t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以二维数据集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X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为例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使用径向基函数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(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RBF)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作为核函数进行核化</a:t>
          </a: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PCA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通过构建核矩阵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中心化核矩阵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特征分解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、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选择主成分和投影到低维空间等步骤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将高维数据映射到低维空间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保留数据的非线性结构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适用于复杂数据分布的降维任务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613093"/>
        <a:ext cx="4582160" cy="16922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80230" cy="575310"/>
        <a:chOff x="0" y="0"/>
        <a:chExt cx="4380230" cy="575310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380230" cy="5753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endParaRPr lang="zh-CN" altLang="en-US" sz="2400" b="1"/>
        </a:p>
      </dsp:txBody>
      <dsp:txXfrm>
        <a:off x="0" y="0"/>
        <a:ext cx="4380230" cy="575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80230" cy="575310"/>
        <a:chOff x="0" y="0"/>
        <a:chExt cx="4380230" cy="575310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380230" cy="57531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/>
            <a:t>核化</a:t>
          </a:r>
          <a:r>
            <a:rPr lang="en-US" altLang="zh-CN" sz="2400" b="1"/>
            <a:t> PCA </a:t>
          </a:r>
          <a:r>
            <a:rPr lang="zh-CN" altLang="en-US" sz="2400" b="1"/>
            <a:t>实例</a:t>
          </a:r>
          <a:endParaRPr lang="zh-CN" altLang="en-US" sz="2400" b="1"/>
        </a:p>
      </dsp:txBody>
      <dsp:txXfrm>
        <a:off x="0" y="0"/>
        <a:ext cx="4380230" cy="575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68825" cy="2022475"/>
        <a:chOff x="0" y="0"/>
        <a:chExt cx="4568825" cy="2022475"/>
      </a:xfrm>
    </dsp:grpSpPr>
    <dsp:sp modelId="{69AD0FDF-743F-40D1-B29B-2FBABA61E703}">
      <dsp:nvSpPr>
        <dsp:cNvPr id="3" name="圆角矩形 2"/>
        <dsp:cNvSpPr/>
      </dsp:nvSpPr>
      <dsp:spPr bwMode="white">
        <a:xfrm>
          <a:off x="0" y="0"/>
          <a:ext cx="4568825" cy="60851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/>
            <a:t>LDA</a:t>
          </a:r>
          <a:r>
            <a:rPr lang="zh-CN" altLang="en-US" sz="2400" b="1"/>
            <a:t>目标函数</a:t>
          </a:r>
          <a:endParaRPr lang="zh-CN" altLang="en-US" sz="2400" b="1"/>
        </a:p>
      </dsp:txBody>
      <dsp:txXfrm>
        <a:off x="0" y="0"/>
        <a:ext cx="4568825" cy="608515"/>
      </dsp:txXfrm>
    </dsp:sp>
    <dsp:sp modelId="{FE994E59-1B5C-4EB9-A450-E50380E6506A}">
      <dsp:nvSpPr>
        <dsp:cNvPr id="4" name="矩形 3"/>
        <dsp:cNvSpPr/>
      </dsp:nvSpPr>
      <dsp:spPr bwMode="white">
        <a:xfrm>
          <a:off x="0" y="608515"/>
          <a:ext cx="4568825" cy="14139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45060" tIns="22860" rIns="128016" bIns="22860" anchor="t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marL="171450" lvl="1" indent="-171450" algn="just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LDA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是一种监督学习的降维技术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目标是最大化类间差异同时最小化类内差异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通过计算类间散布矩阵和类内散布矩阵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求解广义特征值问题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找到最优的投影方向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将数据投影到低维空间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，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增强分类性能</a:t>
          </a:r>
          <a:r>
            <a:rPr lang="zh-CN" altLang="en-US" sz="18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rPr>
            <a:t>。</a:t>
          </a:r>
          <a:endParaRPr lang="zh-CN" altLang="en-US" sz="1800">
            <a:solidFill>
              <a:schemeClr val="tx1"/>
            </a:solidFill>
            <a:latin typeface="等线" panose="02010600030101010101" charset="-122"/>
            <a:ea typeface="等线" panose="02010600030101010101" charset="-122"/>
            <a:cs typeface="等线" panose="02010600030101010101" charset="-122"/>
          </a:endParaRPr>
        </a:p>
      </dsp:txBody>
      <dsp:txXfrm>
        <a:off x="0" y="608515"/>
        <a:ext cx="4568825" cy="1413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15.png"/><Relationship Id="rId2" Type="http://schemas.openxmlformats.org/officeDocument/2006/relationships/tags" Target="../tags/tag9.xml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19.png"/><Relationship Id="rId2" Type="http://schemas.openxmlformats.org/officeDocument/2006/relationships/tags" Target="../tags/tag18.xml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image" Target="../media/image22.pn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21.png"/><Relationship Id="rId2" Type="http://schemas.openxmlformats.org/officeDocument/2006/relationships/tags" Target="../tags/tag27.xml"/><Relationship Id="rId15" Type="http://schemas.openxmlformats.org/officeDocument/2006/relationships/notesSlide" Target="../notesSlides/notesSlide2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image" Target="../media/image23.png"/><Relationship Id="rId10" Type="http://schemas.openxmlformats.org/officeDocument/2006/relationships/tags" Target="../tags/tag33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image" Target="../media/image24.pn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image" Target="../media/image26.png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5.png"/><Relationship Id="rId2" Type="http://schemas.openxmlformats.org/officeDocument/2006/relationships/tags" Target="../tags/tag42.xml"/><Relationship Id="rId19" Type="http://schemas.openxmlformats.org/officeDocument/2006/relationships/notesSlide" Target="../notesSlides/notesSlide28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image" Target="../media/image28.png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image" Target="../media/image27.png"/><Relationship Id="rId10" Type="http://schemas.openxmlformats.org/officeDocument/2006/relationships/tags" Target="../tags/tag48.xml"/><Relationship Id="rId1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image" Target="../media/image29.png"/><Relationship Id="rId23" Type="http://schemas.openxmlformats.org/officeDocument/2006/relationships/notesSlide" Target="../notesSlides/notesSlide29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4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zh-CN" altLang="en-US" sz="375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</a:t>
            </a:r>
            <a:endParaRPr lang="zh-CN" altLang="en-US" sz="3750" b="1" dirty="0" err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524250" y="9882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数据降维问题分析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数据降维技术</a:t>
            </a: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基础理论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r>
              <a:rPr lang="en-US" sz="16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与进阶讨论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数据降维问题分析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2656" r="12656"/>
          <a:stretch>
            <a:fillRect/>
          </a:stretch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41156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4" name="文本框 3"/>
          <p:cNvSpPr txBox="1"/>
          <p:nvPr/>
        </p:nvSpPr>
        <p:spPr>
          <a:xfrm>
            <a:off x="434340" y="986155"/>
            <a:ext cx="7390130" cy="3326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20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石榴同学正在处理一份关于水果营养成分的数据集，该数据集包含了多种水果的大量营养元素，例如维生素</a:t>
            </a:r>
            <a:r>
              <a:rPr lang="en-US" altLang="zh-CN" sz="20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 C </a:t>
            </a:r>
            <a:r>
              <a:rPr lang="zh-CN" altLang="en-US" sz="20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含量、矿物质种类等，并且数据集中有太多相似但又不完全相同的特征。她发现由于特征过多，导致了模型训练时间过长，而且模型泛化能力也受到了影响。</a:t>
            </a:r>
            <a:endParaRPr lang="zh-CN" altLang="en-US" sz="2000">
              <a:solidFill>
                <a:schemeClr val="dk1"/>
              </a:solidFill>
              <a:latin typeface="+mn-ea"/>
              <a:cs typeface="+mn-ea"/>
              <a:sym typeface="+mn-ea"/>
            </a:endParaRPr>
          </a:p>
          <a:p>
            <a:endParaRPr lang="zh-CN" altLang="en-US" sz="2000">
              <a:solidFill>
                <a:schemeClr val="dk1"/>
              </a:solidFill>
              <a:latin typeface="+mn-ea"/>
              <a:cs typeface="+mn-ea"/>
              <a:sym typeface="+mn-ea"/>
            </a:endParaRPr>
          </a:p>
          <a:p>
            <a:pPr algn="just"/>
            <a:r>
              <a:rPr lang="zh-CN" altLang="en-US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她想：</a:t>
            </a:r>
            <a:r>
              <a:rPr lang="en-US" altLang="zh-CN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如果能将这些特征合并成少数几个新的特征，那不是可以简化我的工作吗？</a:t>
            </a:r>
            <a:r>
              <a:rPr lang="en-US" altLang="zh-CN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”</a:t>
            </a:r>
            <a:r>
              <a:rPr lang="zh-CN" altLang="en-US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带着这个想法，石榴决定尝试一种叫做主成分分析（</a:t>
            </a:r>
            <a:r>
              <a:rPr lang="en-US" altLang="zh-CN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PCA</a:t>
            </a:r>
            <a:r>
              <a:rPr lang="zh-CN" altLang="en-US" sz="20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）的方法来减少特征数量。</a:t>
            </a:r>
            <a:endParaRPr lang="zh-CN" sz="2000" dirty="0">
              <a:solidFill>
                <a:schemeClr val="dk1"/>
              </a:solidFill>
              <a:latin typeface="+mn-ea"/>
              <a:cs typeface="+mn-ea"/>
            </a:endParaRPr>
          </a:p>
          <a:p>
            <a:endParaRPr sz="2000">
              <a:solidFill>
                <a:schemeClr val="dk1"/>
              </a:solidFill>
              <a:latin typeface="+mn-ea"/>
              <a:cs typeface="+mn-ea"/>
            </a:endParaRPr>
          </a:p>
          <a:p>
            <a:endParaRPr lang="zh-CN" altLang="en-US" sz="20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2656" r="12656"/>
          <a:stretch>
            <a:fillRect/>
          </a:stretch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41156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1341"/>
          <a:stretch>
            <a:fillRect/>
          </a:stretch>
        </p:blipFill>
        <p:spPr>
          <a:xfrm>
            <a:off x="4149725" y="1009650"/>
            <a:ext cx="4408170" cy="3442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8955" y="1009650"/>
            <a:ext cx="36207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000"/>
              <a:t>假设有一个包含两种类型水果的数据集，分别是苹果和橙子，每种水果有两个特征：重量和甜度。</a:t>
            </a:r>
            <a:endParaRPr lang="zh-CN" altLang="en-US" sz="2000"/>
          </a:p>
          <a:p>
            <a:endParaRPr lang="zh-CN" altLang="en-US" sz="2000"/>
          </a:p>
          <a:p>
            <a:pPr algn="just"/>
            <a:r>
              <a:rPr lang="zh-CN" altLang="en-US" sz="2000"/>
              <a:t>石榴同学目标是将数据降至一维，既能简化分析，又能保留关键信息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2656" r="12656"/>
          <a:stretch>
            <a:fillRect/>
          </a:stretch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977589" y="1242778"/>
          <a:ext cx="7735231" cy="315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数据降维技术基础理论</a:t>
            </a:r>
            <a:endParaRPr lang="zh-CN" altLang="en-US" sz="37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主成分分析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(PCA)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456565" y="1302385"/>
          <a:ext cx="4303395" cy="2777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6160" y="2250440"/>
            <a:ext cx="3194685" cy="1359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主成分分析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(PCA)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降维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487680" y="1302385"/>
          <a:ext cx="4456430" cy="2269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055" y="2161540"/>
            <a:ext cx="4194175" cy="703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主成分分析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(PCA)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479925" cy="2306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主成分分析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(PCA)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479925" cy="547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13890"/>
            <a:ext cx="792480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核化线性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(Kernel)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598670" cy="2026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核化线性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降维</a:t>
            </a:r>
            <a:endParaRPr lang="en-US" altLang="zh-CN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460240" cy="223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核化线性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(Kernel)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582160" cy="2308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475" y="1917700"/>
            <a:ext cx="2102485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核化线性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(Kernel)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380230" cy="575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文本框 5"/>
          <p:cNvSpPr txBox="1"/>
          <p:nvPr/>
        </p:nvSpPr>
        <p:spPr>
          <a:xfrm>
            <a:off x="626407" y="2002561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/>
              <a:t>1.</a:t>
            </a:r>
            <a:r>
              <a:rPr lang="zh-CN" altLang="en-US" dirty="0"/>
              <a:t>构建核矩阵</a:t>
            </a:r>
            <a:r>
              <a:rPr lang="en-US" altLang="zh-CN" dirty="0"/>
              <a:t>K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755" y="2494280"/>
            <a:ext cx="1924685" cy="9391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6407" y="3587521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/>
              <a:t>2.</a:t>
            </a:r>
            <a:r>
              <a:rPr lang="zh-CN" altLang="en-US" dirty="0"/>
              <a:t>中心化核矩阵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55" y="3972560"/>
            <a:ext cx="1981200" cy="8997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286547" y="2002561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/>
              <a:t>3.</a:t>
            </a:r>
            <a:r>
              <a:rPr lang="zh-CN" dirty="0"/>
              <a:t>特征分解</a:t>
            </a:r>
            <a:endParaRPr 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4190" y="2494280"/>
            <a:ext cx="3756660" cy="96075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314487" y="3577996"/>
            <a:ext cx="4572000" cy="11988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/>
              <a:t>4.</a:t>
            </a:r>
            <a:r>
              <a:rPr lang="zh-CN" altLang="en-US" dirty="0"/>
              <a:t>选择主成分</a:t>
            </a:r>
            <a:endParaRPr lang="zh-CN" altLang="en-US" dirty="0"/>
          </a:p>
          <a:p>
            <a:endParaRPr lang="zh-CN" altLang="en-US" dirty="0"/>
          </a:p>
          <a:p>
            <a:pPr algn="just"/>
            <a:r>
              <a:rPr lang="zh-CN" altLang="en-US" dirty="0"/>
              <a:t>我们只有两个非零特征值</a:t>
            </a:r>
            <a:r>
              <a:rPr lang="en-US" altLang="zh-CN" dirty="0"/>
              <a:t>λ1</a:t>
            </a:r>
            <a:r>
              <a:rPr lang="zh-CN" altLang="en-US" dirty="0"/>
              <a:t>，</a:t>
            </a:r>
            <a:r>
              <a:rPr lang="en-US" altLang="zh-CN" dirty="0"/>
              <a:t>λ2</a:t>
            </a:r>
            <a:r>
              <a:rPr lang="zh-CN" altLang="en-US" dirty="0"/>
              <a:t>，因此我</a:t>
            </a:r>
            <a:r>
              <a:rPr lang="en-US" altLang="zh-CN" dirty="0"/>
              <a:t>     </a:t>
            </a:r>
            <a:r>
              <a:rPr lang="zh-CN" altLang="en-US" dirty="0"/>
              <a:t>们会选择这两个主成分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核化线性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(Kernel)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380230" cy="575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文本框 5"/>
          <p:cNvSpPr txBox="1"/>
          <p:nvPr/>
        </p:nvSpPr>
        <p:spPr>
          <a:xfrm>
            <a:off x="626407" y="2002561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dirty="0"/>
              <a:t>5.</a:t>
            </a:r>
            <a:r>
              <a:rPr lang="zh-CN" altLang="en-US" dirty="0"/>
              <a:t>投影到低维空间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10" y="2494280"/>
            <a:ext cx="2481580" cy="6826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0110" y="2371090"/>
            <a:ext cx="3996055" cy="11137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线性判别分析（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LDA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）降维</a:t>
            </a:r>
            <a:endParaRPr lang="zh-CN" altLang="en-US" sz="225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/>
          <p:cNvGraphicFramePr/>
          <p:nvPr/>
        </p:nvGraphicFramePr>
        <p:xfrm>
          <a:off x="626110" y="1302385"/>
          <a:ext cx="4568825" cy="2022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83044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PCA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</a:t>
            </a: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：鸢尾花数据集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238250"/>
            <a:ext cx="8382000" cy="3905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401" y="3863181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数据集特征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441960" y="3863340"/>
            <a:ext cx="1440815" cy="13519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鸢尾花数据集包含花萼与花瓣的长度、宽度等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个特征维度。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571401" y="1476524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549176" y="1798151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PCA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类将其从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4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维降至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维。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为后续模型构建提供低维特征表示。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7261324" y="378175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模型可视化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7261225" y="4115435"/>
            <a:ext cx="1477645" cy="944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matplotlib.pyplot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进行可视化。直观呈现降维后鸢尾花数据集不同类别样本在二维空间的分布情况。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7261324" y="1476375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性能评估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261324" y="1728788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评估降维前后数据信息损失情况，如计算降维后数据的累积解释方差比，衡量保留信息比例。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PCA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降维</a:t>
            </a: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：鸢尾花数据集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11709"/>
          <a:stretch>
            <a:fillRect/>
          </a:stretch>
        </p:blipFill>
        <p:spPr>
          <a:xfrm>
            <a:off x="307975" y="1638300"/>
            <a:ext cx="3145790" cy="18434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012810" y="1295296"/>
            <a:ext cx="4572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dirty="0"/>
              <a:t>模型训练</a:t>
            </a:r>
            <a:endParaRPr 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降维后可视化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65" y="2551430"/>
            <a:ext cx="4831715" cy="26485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1500" y="1295400"/>
            <a:ext cx="2903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鸢尾花数据集的特征描述</a:t>
            </a:r>
            <a:endParaRPr lang="zh-C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线性判别分析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(LDA)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在鸢尾花数据集上的应用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767080"/>
            <a:ext cx="4625975" cy="27317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3580130"/>
            <a:ext cx="8382000" cy="194310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4"/>
            </p:custDataLst>
          </p:nvPr>
        </p:nvSpPr>
        <p:spPr>
          <a:xfrm>
            <a:off x="781050" y="3792061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数据分布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3"/>
          <p:cNvSpPr/>
          <p:nvPr>
            <p:custDataLst>
              <p:tags r:id="rId5"/>
            </p:custDataLst>
          </p:nvPr>
        </p:nvSpPr>
        <p:spPr>
          <a:xfrm>
            <a:off x="2739390" y="3791426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类别分离性</a:t>
            </a:r>
            <a:endParaRPr lang="en-US" sz="1200" dirty="0"/>
          </a:p>
        </p:txBody>
      </p:sp>
      <p:sp>
        <p:nvSpPr>
          <p:cNvPr id="11" name="Text 3"/>
          <p:cNvSpPr/>
          <p:nvPr>
            <p:custDataLst>
              <p:tags r:id="rId6"/>
            </p:custDataLst>
          </p:nvPr>
        </p:nvSpPr>
        <p:spPr>
          <a:xfrm>
            <a:off x="4697730" y="3792061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线性可分性</a:t>
            </a:r>
            <a:endParaRPr lang="en-US" sz="1200" dirty="0"/>
          </a:p>
        </p:txBody>
      </p:sp>
      <p:sp>
        <p:nvSpPr>
          <p:cNvPr id="12" name="Text 3"/>
          <p:cNvSpPr/>
          <p:nvPr>
            <p:custDataLst>
              <p:tags r:id="rId7"/>
            </p:custDataLst>
          </p:nvPr>
        </p:nvSpPr>
        <p:spPr>
          <a:xfrm>
            <a:off x="6656070" y="3792061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可视化效果</a:t>
            </a:r>
            <a:endParaRPr lang="en-US" sz="1200" dirty="0"/>
          </a:p>
        </p:txBody>
      </p:sp>
      <p:sp>
        <p:nvSpPr>
          <p:cNvPr id="13" name="Text 4"/>
          <p:cNvSpPr/>
          <p:nvPr>
            <p:custDataLst>
              <p:tags r:id="rId8"/>
            </p:custDataLst>
          </p:nvPr>
        </p:nvSpPr>
        <p:spPr>
          <a:xfrm>
            <a:off x="591820" y="4260850"/>
            <a:ext cx="1936750" cy="7816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散点图中每个点代表一个鸢尾花样本。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将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将原始的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4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维特征空间降到了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2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维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4" name="Text 4"/>
          <p:cNvSpPr/>
          <p:nvPr>
            <p:custDataLst>
              <p:tags r:id="rId9"/>
            </p:custDataLst>
          </p:nvPr>
        </p:nvSpPr>
        <p:spPr>
          <a:xfrm>
            <a:off x="2739390" y="4182110"/>
            <a:ext cx="1557655" cy="5943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just">
              <a:lnSpc>
                <a:spcPts val="1650"/>
              </a:lnSpc>
              <a:buNone/>
            </a:pP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在降维的同时保持了类别的可分性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5" name="Text 4"/>
          <p:cNvSpPr/>
          <p:nvPr>
            <p:custDataLst>
              <p:tags r:id="rId10"/>
            </p:custDataLst>
          </p:nvPr>
        </p:nvSpPr>
        <p:spPr>
          <a:xfrm>
            <a:off x="4544060" y="4207510"/>
            <a:ext cx="1858645" cy="9366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尽管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Versicolour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和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Virginica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之间存在一些重叠，但大部分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情况下它们还是相对容易区分的。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7" name="Text 4"/>
          <p:cNvSpPr/>
          <p:nvPr>
            <p:custDataLst>
              <p:tags r:id="rId11"/>
            </p:custDataLst>
          </p:nvPr>
        </p:nvSpPr>
        <p:spPr>
          <a:xfrm>
            <a:off x="6656070" y="4189095"/>
            <a:ext cx="1857375" cy="9544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使用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matplotlib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创建的图表不仅直观地展示了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的结果，而且也提供了图例帮助理解每个颜色对应的类别名称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线性判别分析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(LDA)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在鸢尾花数据集上的应用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1709"/>
          <a:stretch>
            <a:fillRect/>
          </a:stretch>
        </p:blipFill>
        <p:spPr>
          <a:xfrm>
            <a:off x="307975" y="1638300"/>
            <a:ext cx="3145790" cy="18434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081390" y="1632481"/>
            <a:ext cx="4572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 algn="just">
              <a:buAutoNum type="arabicPeriod"/>
            </a:pPr>
            <a:r>
              <a:rPr lang="en-US" altLang="zh-CN" dirty="0"/>
              <a:t>LDA</a:t>
            </a:r>
            <a:r>
              <a:rPr lang="zh-CN" dirty="0"/>
              <a:t>模型训练</a:t>
            </a:r>
            <a:endParaRPr 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LDA</a:t>
            </a:r>
            <a:r>
              <a:rPr lang="zh-CN" altLang="en-US" dirty="0"/>
              <a:t>降维后可视化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71500" y="1295400"/>
            <a:ext cx="2903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鸢尾花数据集的特征描述</a:t>
            </a:r>
            <a:endParaRPr lang="zh-CN" altLang="en-US" sz="16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5080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线性判别分析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(LDA)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在鸢尾花数据集上的应用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核化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PCA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Iris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数据集的应用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1540"/>
            <a:ext cx="4363085" cy="3178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03445" y="811530"/>
            <a:ext cx="3817620" cy="1423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b="1"/>
              <a:t>类别的分离度：</a:t>
            </a:r>
            <a:r>
              <a:rPr lang="zh-CN" altLang="en-US"/>
              <a:t>在降维后的二维空间中，不同类别的数据点被很好地分离开来。这表明核化</a:t>
            </a:r>
            <a:r>
              <a:rPr lang="en-US" altLang="zh-CN"/>
              <a:t>PCA </a:t>
            </a:r>
            <a:r>
              <a:rPr lang="zh-CN" altLang="en-US"/>
              <a:t>有效地找到了能够很好地区分类别的新特征空间。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703445" y="2360930"/>
            <a:ext cx="3804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b="1"/>
              <a:t>簇的紧凑性：</a:t>
            </a:r>
            <a:r>
              <a:rPr lang="zh-CN" altLang="en-US"/>
              <a:t>同一类的数据点聚集在一起形成了相对紧凑的簇，这意味着同一类内的相似性得到了保留。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703445" y="3408680"/>
            <a:ext cx="3819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b="1"/>
              <a:t>非线性结构：</a:t>
            </a:r>
            <a:r>
              <a:rPr lang="zh-CN" altLang="en-US"/>
              <a:t>核化</a:t>
            </a:r>
            <a:r>
              <a:rPr lang="en-US" altLang="zh-CN"/>
              <a:t> PCA </a:t>
            </a:r>
            <a:r>
              <a:rPr lang="zh-CN" altLang="en-US"/>
              <a:t>通过映射到更高维度的空间再降维，可以更好地展现原始数据点之间的非线性结构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线性判别分析</a:t>
            </a:r>
            <a:r>
              <a:rPr lang="en-US" altLang="zh-CN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(LDA)</a:t>
            </a: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在鸢尾花数据集上的应用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1709"/>
          <a:stretch>
            <a:fillRect/>
          </a:stretch>
        </p:blipFill>
        <p:spPr>
          <a:xfrm>
            <a:off x="307975" y="1638300"/>
            <a:ext cx="3145790" cy="18434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081390" y="1632481"/>
            <a:ext cx="4572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KernelPCA</a:t>
            </a:r>
            <a:r>
              <a:rPr lang="zh-CN" dirty="0"/>
              <a:t>模型训练</a:t>
            </a:r>
            <a:endParaRPr 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KernelPCA</a:t>
            </a:r>
            <a:r>
              <a:rPr lang="zh-CN" altLang="en-US" dirty="0"/>
              <a:t>降维后可视化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71500" y="1295400"/>
            <a:ext cx="2903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鸢尾花数据集的特征描述</a:t>
            </a:r>
            <a:endParaRPr lang="zh-CN" altLang="en-US" sz="16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5080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核化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PCA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在</a:t>
            </a:r>
            <a:r>
              <a:rPr lang="en-US" altLang="zh-CN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Iris 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数据集的应用</a:t>
            </a:r>
            <a:endParaRPr lang="en-US" sz="2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r>
              <a:rPr lang="en-US" sz="375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与进阶讨论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关键结论回顾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直观性优势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2838450"/>
            <a:ext cx="2413000" cy="6356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数据降维的直观性优势明显，它将复杂高维数据简化，借助可视化呈现数据分布规律，还增强模型可解释性，便于理解分析。</a:t>
            </a:r>
            <a:endParaRPr 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主成分分析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(PCA)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365500" y="2800350"/>
            <a:ext cx="2413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主成分分析在数据降维中至关重要，它通过线性变换，将高维数据投影到低维空间，最大化保留数据方差，去除冗余信息，提升数据处理效率与模型性能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适应性广泛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159500" y="2914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数据降维方法能够处理各种类型的数据，数据降维适应性广泛，可处理多种类型数据，适用于不同任务场景与数据规模，还能和多种技术结合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292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2632" r="2632"/>
          <a:stretch>
            <a:fillRect/>
          </a:stretch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</a:t>
            </a: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的局限性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810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4440" y="2019300"/>
            <a:ext cx="158559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数据降维</a:t>
            </a: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1650" dirty="0"/>
          </a:p>
        </p:txBody>
      </p:sp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1066800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zh-CN" alt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信息损失</a:t>
            </a:r>
            <a:endParaRPr lang="en-US" sz="15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1366838" y="4038600"/>
            <a:ext cx="150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降维旨在减少维度，必然会舍弃部分信息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366838" y="4533900"/>
            <a:ext cx="150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舍弃后可能影响模型对细节的捕捉能力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3629025" y="3409950"/>
            <a:ext cx="125031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zh-CN" alt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维度确定难题</a:t>
            </a:r>
            <a:endParaRPr lang="en-US" sz="1500" dirty="0"/>
          </a:p>
        </p:txBody>
      </p:sp>
      <p:sp>
        <p:nvSpPr>
          <p:cNvPr id="12" name="Text 8"/>
          <p:cNvSpPr/>
          <p:nvPr>
            <p:custDataLst>
              <p:tags r:id="rId6"/>
            </p:custDataLst>
          </p:nvPr>
        </p:nvSpPr>
        <p:spPr>
          <a:xfrm>
            <a:off x="4034155" y="3912235"/>
            <a:ext cx="1504950" cy="58356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降维过度会丢失关键信息，致模型性能下降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034155" y="4534535"/>
            <a:ext cx="150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保留维度过多则无法有效降低计算复杂度和克服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“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维数灾难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”</a:t>
            </a:r>
            <a:endParaRPr lang="en-US" altLang="zh-CN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4" name="Text 10"/>
          <p:cNvSpPr/>
          <p:nvPr>
            <p:custDataLst>
              <p:tags r:id="rId7"/>
            </p:custDataLst>
          </p:nvPr>
        </p:nvSpPr>
        <p:spPr>
          <a:xfrm>
            <a:off x="6299835" y="3409950"/>
            <a:ext cx="123761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zh-CN" alt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方法假设限制</a:t>
            </a:r>
            <a:endParaRPr lang="en-US" sz="1500" dirty="0"/>
          </a:p>
        </p:txBody>
      </p:sp>
      <p:sp>
        <p:nvSpPr>
          <p:cNvPr id="15" name="Text 11"/>
          <p:cNvSpPr/>
          <p:nvPr>
            <p:custDataLst>
              <p:tags r:id="rId8"/>
            </p:custDataLst>
          </p:nvPr>
        </p:nvSpPr>
        <p:spPr>
          <a:xfrm>
            <a:off x="6701155" y="3933825"/>
            <a:ext cx="1504950" cy="5772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假设数据分布在超平面上，对非线性分布数据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(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如环状、螺旋状数据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)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降维效果欠佳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701155" y="4743450"/>
            <a:ext cx="1504950" cy="26606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假设数据服从高斯分布且各类协方差矩阵相同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优化方向与集成方法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333" b="8333"/>
          <a:stretch>
            <a:fillRect/>
          </a:stretch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降维方法融合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95650"/>
            <a:ext cx="1714500" cy="1257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结合多种降维方法优势，如先使用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进行线性降维，捕捉主要线性特征，再用核化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处理非线性特征，弥补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对非线性数据处理的不足，提升整体降维效果。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8333" b="8333"/>
          <a:stretch>
            <a:fillRect/>
          </a:stretch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参数调优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667000" y="3400425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针对降维方法中的参数进行精细化调整。如核化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中核函数的参数（如径向基函数的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γ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值），通过网格搜索、随机搜索等方法，找到最优的参数组合。</a:t>
            </a:r>
            <a:r>
              <a:rPr lang="en-US" altLang="zh-CN" sz="1050" dirty="0"/>
              <a:t> </a:t>
            </a:r>
            <a:endParaRPr lang="en-US" altLang="zh-CN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8333" b="8333"/>
          <a:stretch>
            <a:fillRect/>
          </a:stretch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特征工程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与降维结合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762500" y="3380105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在降维前深入进行特征选择与构造。利用相关性分析、方差分析等方法筛选出与目标变量相关性高、方差大的关键特征，减少冗余特征，使降维更具针对性。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8333" b="8333"/>
          <a:stretch>
            <a:fillRect/>
          </a:stretch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与机器学习模型集成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6858000" y="3295650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将降维后的数据与机器学习模型集成应用。如将降维后的数据输入决策树模型，可降低决策树因高维数据导致的过拟合风险。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1508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课后任务布置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908031" y="1418707"/>
            <a:ext cx="7329850" cy="4028641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1581019" y="294298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1115695" y="3895725"/>
            <a:ext cx="1342390" cy="2209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</a:t>
            </a: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模型参数</a:t>
            </a:r>
            <a:endParaRPr lang="en-US" sz="120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398780" y="4116705"/>
            <a:ext cx="2294890" cy="7804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以鸢尾花数据集为例，改变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中主成分数量参数，观察降维后数据在分类任务（如使用决策树分类）中的性能变化，分析信息损失与保留情况。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677763" y="368846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2059940" y="1452245"/>
            <a:ext cx="1560195" cy="3244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对比降维方法</a:t>
            </a: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计算效率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1686560" y="1802765"/>
            <a:ext cx="2399665" cy="768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研究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和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在处理相同数据集时的计算效率差异，分析协方差矩阵计算、特征值分解等关键步骤的耗时，总结不同方法适用的场景。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3774507" y="294298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3484114" y="3954944"/>
            <a:ext cx="1063427" cy="2207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</a:t>
            </a: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en-US" sz="12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2875280" y="4259580"/>
            <a:ext cx="2428875" cy="7791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自选高维数据集，分别使用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、核化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进行降维，再用降维后的数据训练机器学习模型（如支持向量机），对比不同降维方法对模型性能的影响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4871252" y="368846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4547838" y="1452024"/>
            <a:ext cx="1063427" cy="2207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阅读最新文献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4352506" y="1705793"/>
            <a:ext cx="1630336" cy="94954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查阅有关核化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 PCA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、</a:t>
            </a:r>
            <a:r>
              <a:rPr lang="en-US" altLang="zh-CN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LDA </a:t>
            </a: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等降维方法的前沿研究，了解在复杂数据（如高光谱图像数据、生物基因数据）降维中的新应用和改进策略。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5967997" y="294298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5670682" y="3954944"/>
            <a:ext cx="1063427" cy="2207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涵盖多个方面</a:t>
            </a:r>
            <a:endParaRPr lang="en-US" sz="120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5485765" y="4259580"/>
            <a:ext cx="2467610" cy="7664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本任务涵盖编程实践（实现降维算法及可视化）、理论探究（分析降维原理与计算效率）、案例拓展（不同数据集应用）和文献阅读四个部分。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64741" y="3688462"/>
            <a:ext cx="416469" cy="2665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>
            <p:custDataLst>
              <p:tags r:id="rId20"/>
            </p:custDataLst>
          </p:nvPr>
        </p:nvSpPr>
        <p:spPr>
          <a:xfrm>
            <a:off x="6734108" y="1452024"/>
            <a:ext cx="1063427" cy="2207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总结改进策略</a:t>
            </a:r>
            <a:endParaRPr lang="en-US" sz="1200" dirty="0"/>
          </a:p>
        </p:txBody>
      </p:sp>
      <p:sp>
        <p:nvSpPr>
          <p:cNvPr id="24" name="Text 20"/>
          <p:cNvSpPr/>
          <p:nvPr>
            <p:custDataLst>
              <p:tags r:id="rId21"/>
            </p:custDataLst>
          </p:nvPr>
        </p:nvSpPr>
        <p:spPr>
          <a:xfrm>
            <a:off x="6381115" y="1845945"/>
            <a:ext cx="2190750" cy="7664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latin typeface="微软雅黑 Light" panose="020B0502040204020203" charset="-122"/>
                <a:ea typeface="微软雅黑 Light" panose="020B0502040204020203" charset="-122"/>
              </a:rPr>
              <a:t>基于上述活动，总结如何根据数据特点（线性或非线性、有无类别标签等）选择合适的降维方法，以及如何通过集成多种降维方法或与其他特征工程技术结合，优化降维效果。</a:t>
            </a:r>
            <a:endParaRPr lang="zh-CN" altLang="en-US" sz="105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2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3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4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5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6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7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8.xml><?xml version="1.0" encoding="utf-8"?>
<p:tagLst xmlns:p="http://schemas.openxmlformats.org/presentationml/2006/main">
  <p:tag name="KSO_WM_DIAGRAM_VIRTUALLY_FRAME" val="{&quot;height&quot;:174.75000000000003,&quot;left&quot;:277.5,&quot;top&quot;:77.81251968503936,&quot;width&quot;:397.5}"/>
</p:tagLst>
</file>

<file path=ppt/tags/tag9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0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1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2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3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4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5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6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7.xml><?xml version="1.0" encoding="utf-8"?>
<p:tagLst xmlns:p="http://schemas.openxmlformats.org/presentationml/2006/main">
  <p:tag name="KSO_WM_DIAGRAM_VIRTUALLY_FRAME" val="{&quot;height&quot;:332.0625196850394,&quot;left&quot;:30,&quot;top&quot;:112.5,&quot;width&quot;:660}"/>
</p:tagLst>
</file>

<file path=ppt/tags/tag18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19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0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1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2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3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4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5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6.xml><?xml version="1.0" encoding="utf-8"?>
<p:tagLst xmlns:p="http://schemas.openxmlformats.org/presentationml/2006/main">
  <p:tag name="KSO_WM_DIAGRAM_VIRTUALLY_FRAME" val="{&quot;height&quot;:268.9625196850394,&quot;left&quot;:30,&quot;top&quot;:165.93748031496062,&quot;width&quot;:660}"/>
</p:tagLst>
</file>

<file path=ppt/tags/tag27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28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29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0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1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2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3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4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5.xml><?xml version="1.0" encoding="utf-8"?>
<p:tagLst xmlns:p="http://schemas.openxmlformats.org/presentationml/2006/main">
  <p:tag name="KSO_WM_DIAGRAM_VIRTUALLY_FRAME" val="{&quot;height&quot;:147.5,&quot;left&quot;:45,&quot;top&quot;:157.5,&quot;width&quot;:630}"/>
</p:tagLst>
</file>

<file path=ppt/tags/tag36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37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38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39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40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41.xml><?xml version="1.0" encoding="utf-8"?>
<p:tagLst xmlns:p="http://schemas.openxmlformats.org/presentationml/2006/main">
  <p:tag name="KSO_WM_DIAGRAM_VIRTUALLY_FRAME" val="{&quot;height&quot;:102,&quot;left&quot;:84,&quot;top&quot;:268.5,&quot;width&quot;:562.1250393700788}"/>
</p:tagLst>
</file>

<file path=ppt/tags/tag42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3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4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5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6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7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8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49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50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51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52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53.xml><?xml version="1.0" encoding="utf-8"?>
<p:tagLst xmlns:p="http://schemas.openxmlformats.org/presentationml/2006/main">
  <p:tag name="KSO_WM_DIAGRAM_VIRTUALLY_FRAME" val="{&quot;height&quot;:246,&quot;left&quot;:45,&quot;top&quot;:112.5,&quot;width&quot;:630}"/>
</p:tagLst>
</file>

<file path=ppt/tags/tag54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55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56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57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58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59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0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1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2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3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4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5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6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7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8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69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70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71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ags/tag72.xml><?xml version="1.0" encoding="utf-8"?>
<p:tagLst xmlns:p="http://schemas.openxmlformats.org/presentationml/2006/main">
  <p:tag name="KSO_WM_DIAGRAM_VIRTUALLY_FRAME" val="{&quot;height&quot;:340.12503937007875,&quot;left&quot;:30,&quot;top&quot;:88.8,&quot;width&quot;:66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2587</Words>
  <Application>WPS 演示</Application>
  <PresentationFormat>全屏显示(16:9)</PresentationFormat>
  <Paragraphs>258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微软雅黑</vt:lpstr>
      <vt:lpstr>等线</vt:lpstr>
      <vt:lpstr>Calibri</vt:lpstr>
      <vt:lpstr>Arial Unicode MS</vt:lpstr>
      <vt:lpstr>微软雅黑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37</cp:revision>
  <dcterms:created xsi:type="dcterms:W3CDTF">2025-04-18T12:54:00Z</dcterms:created>
  <dcterms:modified xsi:type="dcterms:W3CDTF">2025-04-20T02:15:01Z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8FFA25927C2241D99FA9E9AFCECB6CC3_12</vt:lpwstr>
  </property>
  <property fmtid="{D5CDD505-2E9C-101B-9397-08002B2CF9AE}" pid="3" name="KSOProductBuildVer">
    <vt:lpwstr>2052-12.8.2.19823</vt:lpwstr>
  </property>
</Properties>
</file>