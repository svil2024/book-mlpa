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74" r:id="rId15"/>
    <p:sldId id="277" r:id="rId16"/>
    <p:sldId id="278" r:id="rId17"/>
    <p:sldId id="275" r:id="rId18"/>
    <p:sldId id="279" r:id="rId19"/>
    <p:sldId id="280" r:id="rId20"/>
    <p:sldId id="281" r:id="rId21"/>
    <p:sldId id="276" r:id="rId22"/>
    <p:sldId id="282" r:id="rId23"/>
    <p:sldId id="283" r:id="rId24"/>
    <p:sldId id="269" r:id="rId25"/>
    <p:sldId id="270" r:id="rId26"/>
    <p:sldId id="271" r:id="rId27"/>
    <p:sldId id="272" r:id="rId28"/>
    <p:sldId id="273" r:id="rId29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2" Type="http://schemas.openxmlformats.org/officeDocument/2006/relationships/tableStyles" Target="tableStyles.xml"/><Relationship Id="rId31" Type="http://schemas.openxmlformats.org/officeDocument/2006/relationships/viewProps" Target="viewProps.xml"/><Relationship Id="rId30" Type="http://schemas.openxmlformats.org/officeDocument/2006/relationships/presProps" Target="presProps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1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1" Type="http://schemas.openxmlformats.org/officeDocument/2006/relationships/image" Target="../media/image3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9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3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6.png"/><Relationship Id="rId1" Type="http://schemas.openxmlformats.org/officeDocument/2006/relationships/image" Target="../media/image7.jpe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1" Type="http://schemas.openxmlformats.org/officeDocument/2006/relationships/image" Target="../media/image7.jpe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1" Type="http://schemas.openxmlformats.org/officeDocument/2006/relationships/image" Target="../media/image7.jpe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8.png"/><Relationship Id="rId1" Type="http://schemas.openxmlformats.org/officeDocument/2006/relationships/image" Target="../media/image7.jpe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image" Target="../media/image7.jpeg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image" Target="../media/image7.jpeg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7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image" Target="../media/image7.jpeg"/></Relationships>
</file>

<file path=ppt/slides/_rels/slide1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8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7.png"/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image" Target="../media/image7.jpeg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9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image" Target="../media/image7.jpeg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0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image" Target="../media/image7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2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34.png"/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image" Target="../media/image3.jpe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5.png"/><Relationship Id="rId1" Type="http://schemas.openxmlformats.org/officeDocument/2006/relationships/image" Target="../media/image7.jpeg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6.png"/><Relationship Id="rId1" Type="http://schemas.openxmlformats.org/officeDocument/2006/relationships/image" Target="../media/image3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1500188"/>
            <a:ext cx="80010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特征选择</a:t>
            </a:r>
            <a:endParaRPr lang="en-US" sz="3750" dirty="0"/>
          </a:p>
        </p:txBody>
      </p:sp>
      <p:sp>
        <p:nvSpPr>
          <p:cNvPr id="4" name="Text 1"/>
          <p:cNvSpPr/>
          <p:nvPr/>
        </p:nvSpPr>
        <p:spPr>
          <a:xfrm>
            <a:off x="571500" y="2243138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3150"/>
              </a:lnSpc>
              <a:buNone/>
            </a:pPr>
            <a:endParaRPr lang="en-US" sz="2250" dirty="0"/>
          </a:p>
        </p:txBody>
      </p:sp>
      <p:sp>
        <p:nvSpPr>
          <p:cNvPr id="5" name="Shape 2"/>
          <p:cNvSpPr/>
          <p:nvPr/>
        </p:nvSpPr>
        <p:spPr>
          <a:xfrm>
            <a:off x="4269581" y="2976563"/>
            <a:ext cx="604838" cy="114300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6" name="Text 3"/>
          <p:cNvSpPr/>
          <p:nvPr/>
        </p:nvSpPr>
        <p:spPr>
          <a:xfrm>
            <a:off x="571500" y="3424238"/>
            <a:ext cx="8001000" cy="21907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725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李石峰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295275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3433763"/>
            <a:ext cx="1857375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content</a:t>
            </a:r>
            <a:endParaRPr lang="en-US" sz="3750" dirty="0"/>
          </a:p>
        </p:txBody>
      </p:sp>
      <p:sp>
        <p:nvSpPr>
          <p:cNvPr id="5" name="Text 2"/>
          <p:cNvSpPr/>
          <p:nvPr/>
        </p:nvSpPr>
        <p:spPr>
          <a:xfrm>
            <a:off x="571500" y="4176713"/>
            <a:ext cx="180975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目录</a:t>
            </a:r>
            <a:endParaRPr lang="en-US" sz="2250" dirty="0"/>
          </a:p>
        </p:txBody>
      </p:sp>
      <p:sp>
        <p:nvSpPr>
          <p:cNvPr id="6" name="Text 3"/>
          <p:cNvSpPr/>
          <p:nvPr/>
        </p:nvSpPr>
        <p:spPr>
          <a:xfrm>
            <a:off x="3524250" y="1302544"/>
            <a:ext cx="352425" cy="33337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040"/>
              </a:lnSpc>
              <a:buNone/>
            </a:pPr>
            <a:r>
              <a:rPr lang="en-US" sz="1875" b="1" dirty="0">
                <a:solidFill>
                  <a:srgbClr val="4784C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1875" dirty="0"/>
          </a:p>
        </p:txBody>
      </p:sp>
      <p:sp>
        <p:nvSpPr>
          <p:cNvPr id="7" name="Text 4"/>
          <p:cNvSpPr/>
          <p:nvPr/>
        </p:nvSpPr>
        <p:spPr>
          <a:xfrm>
            <a:off x="3990975" y="1373981"/>
            <a:ext cx="4581525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特征选择的重要性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990975" y="1621631"/>
            <a:ext cx="4581525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3524250" y="1931194"/>
            <a:ext cx="352425" cy="33337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040"/>
              </a:lnSpc>
              <a:buNone/>
            </a:pPr>
            <a:r>
              <a:rPr lang="en-US" sz="1875" b="1" dirty="0">
                <a:solidFill>
                  <a:srgbClr val="4784C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1875" dirty="0"/>
          </a:p>
        </p:txBody>
      </p:sp>
      <p:sp>
        <p:nvSpPr>
          <p:cNvPr id="10" name="Text 7"/>
          <p:cNvSpPr/>
          <p:nvPr/>
        </p:nvSpPr>
        <p:spPr>
          <a:xfrm>
            <a:off x="3990975" y="2002631"/>
            <a:ext cx="4581525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特征选择的主要方法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990975" y="2250281"/>
            <a:ext cx="4581525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3524250" y="2559844"/>
            <a:ext cx="352425" cy="33337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040"/>
              </a:lnSpc>
              <a:buNone/>
            </a:pPr>
            <a:r>
              <a:rPr lang="en-US" sz="1875" b="1" dirty="0">
                <a:solidFill>
                  <a:srgbClr val="4784C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1875" dirty="0"/>
          </a:p>
        </p:txBody>
      </p:sp>
      <p:sp>
        <p:nvSpPr>
          <p:cNvPr id="13" name="Text 10"/>
          <p:cNvSpPr/>
          <p:nvPr/>
        </p:nvSpPr>
        <p:spPr>
          <a:xfrm>
            <a:off x="3990975" y="2631281"/>
            <a:ext cx="4581525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实际应用案例分析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990975" y="2878931"/>
            <a:ext cx="4581525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3524250" y="3188494"/>
            <a:ext cx="352425" cy="33337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040"/>
              </a:lnSpc>
              <a:buNone/>
            </a:pPr>
            <a:r>
              <a:rPr lang="en-US" sz="1875" b="1" dirty="0">
                <a:solidFill>
                  <a:srgbClr val="4784C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</a:t>
            </a:r>
            <a:endParaRPr lang="en-US" sz="1875" dirty="0"/>
          </a:p>
        </p:txBody>
      </p:sp>
      <p:sp>
        <p:nvSpPr>
          <p:cNvPr id="16" name="Text 13"/>
          <p:cNvSpPr/>
          <p:nvPr/>
        </p:nvSpPr>
        <p:spPr>
          <a:xfrm>
            <a:off x="3990975" y="3259931"/>
            <a:ext cx="4581525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特征选择的最佳实践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990975" y="3507581"/>
            <a:ext cx="4581525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314700"/>
            <a:ext cx="47625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特征选择的重要性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571500" y="4157662"/>
            <a:ext cx="4762500" cy="14288"/>
          </a:xfrm>
          <a:prstGeom prst="rect">
            <a:avLst/>
          </a:prstGeom>
          <a:solidFill>
            <a:srgbClr val="000000">
              <a:alpha val="30000"/>
            </a:srgbClr>
          </a:solidFill>
        </p:spPr>
      </p:sp>
      <p:sp>
        <p:nvSpPr>
          <p:cNvPr id="5" name="Text 2"/>
          <p:cNvSpPr/>
          <p:nvPr/>
        </p:nvSpPr>
        <p:spPr>
          <a:xfrm>
            <a:off x="571500" y="4362450"/>
            <a:ext cx="4762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19725" y="3009900"/>
            <a:ext cx="3729038" cy="2857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2500"/>
              </a:lnSpc>
              <a:buNone/>
            </a:pPr>
            <a:r>
              <a:rPr lang="en-US" sz="22500" b="1" dirty="0">
                <a:solidFill>
                  <a:srgbClr val="4784CB">
                    <a:alpha val="3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22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高维度数据的挑战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00050" y="2019300"/>
            <a:ext cx="2781151" cy="22669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52475" y="2974181"/>
            <a:ext cx="2076301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计算成本飙升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752475" y="3264694"/>
            <a:ext cx="2076301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随着特征数量的增加，模型训练时间急剧增长，消耗更多计算资源。</a:t>
            </a:r>
            <a:endParaRPr lang="en-US" sz="10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181201" y="2019300"/>
            <a:ext cx="2781151" cy="22669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533626" y="2869406"/>
            <a:ext cx="2076301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过拟合风险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3533626" y="3159919"/>
            <a:ext cx="2076301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过多无关或冗余特征可能导致模型过于复杂，从而在新数据上表现不佳。</a:t>
            </a:r>
            <a:endParaRPr lang="en-US" sz="10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962352" y="2019300"/>
            <a:ext cx="2781151" cy="226695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314777" y="2974181"/>
            <a:ext cx="2076301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解释性降低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6314777" y="3264694"/>
            <a:ext cx="2076301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高维数据使模型变得难以解读，影响决策者对模型的信任和接受度。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t="3571" b="3571"/>
          <a:stretch>
            <a:fillRect/>
          </a:stretch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特征选择提升模型性能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81000" y="1428750"/>
            <a:ext cx="8382000" cy="305752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28675" y="1571625"/>
            <a:ext cx="1643063" cy="3619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1875" b="1" dirty="0">
                <a:solidFill>
                  <a:srgbClr val="615CE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1875" dirty="0"/>
          </a:p>
        </p:txBody>
      </p:sp>
      <p:sp>
        <p:nvSpPr>
          <p:cNvPr id="8" name="Text 4"/>
          <p:cNvSpPr/>
          <p:nvPr/>
        </p:nvSpPr>
        <p:spPr>
          <a:xfrm>
            <a:off x="771525" y="2114550"/>
            <a:ext cx="1700213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降低模型复杂度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771525" y="2405063"/>
            <a:ext cx="1700213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通过剔除无关或冗余特征，简化模型结构。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2795588" y="1571625"/>
            <a:ext cx="1643063" cy="3619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1875" b="1" dirty="0">
                <a:solidFill>
                  <a:srgbClr val="5BB1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1875" dirty="0"/>
          </a:p>
        </p:txBody>
      </p:sp>
      <p:sp>
        <p:nvSpPr>
          <p:cNvPr id="11" name="Text 7"/>
          <p:cNvSpPr/>
          <p:nvPr/>
        </p:nvSpPr>
        <p:spPr>
          <a:xfrm>
            <a:off x="2738438" y="2114550"/>
            <a:ext cx="1700213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减少过拟合风险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2738438" y="2405063"/>
            <a:ext cx="1700213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去除不相关特征，使模型更泛化，减少过拟合。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4762500" y="1571625"/>
            <a:ext cx="1643063" cy="3619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1875" b="1" dirty="0">
                <a:solidFill>
                  <a:srgbClr val="615CE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1875" dirty="0"/>
          </a:p>
        </p:txBody>
      </p:sp>
      <p:sp>
        <p:nvSpPr>
          <p:cNvPr id="14" name="Text 10"/>
          <p:cNvSpPr/>
          <p:nvPr/>
        </p:nvSpPr>
        <p:spPr>
          <a:xfrm>
            <a:off x="4705350" y="2114550"/>
            <a:ext cx="1700213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加速模型训练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705350" y="2405063"/>
            <a:ext cx="1700213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精简特征集，加快训练过程，提高效率。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6729413" y="1571625"/>
            <a:ext cx="1643063" cy="3619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1875" b="1" dirty="0">
                <a:solidFill>
                  <a:srgbClr val="5BB1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</a:t>
            </a:r>
            <a:endParaRPr lang="en-US" sz="1875" dirty="0"/>
          </a:p>
        </p:txBody>
      </p:sp>
      <p:sp>
        <p:nvSpPr>
          <p:cNvPr id="17" name="Text 13"/>
          <p:cNvSpPr/>
          <p:nvPr/>
        </p:nvSpPr>
        <p:spPr>
          <a:xfrm>
            <a:off x="6672263" y="2114550"/>
            <a:ext cx="1700213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提高运行效率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6672263" y="2405063"/>
            <a:ext cx="1700213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在大数据集上，减少计算量，提升算法速度。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828675" y="3157538"/>
            <a:ext cx="1643063" cy="3619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1875" b="1" dirty="0">
                <a:solidFill>
                  <a:srgbClr val="615CE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</a:t>
            </a:r>
            <a:endParaRPr lang="en-US" sz="1875" dirty="0"/>
          </a:p>
        </p:txBody>
      </p:sp>
      <p:sp>
        <p:nvSpPr>
          <p:cNvPr id="20" name="Text 16"/>
          <p:cNvSpPr/>
          <p:nvPr/>
        </p:nvSpPr>
        <p:spPr>
          <a:xfrm>
            <a:off x="771525" y="3700463"/>
            <a:ext cx="1700213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增强模型解释性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771525" y="3990975"/>
            <a:ext cx="1700213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精简特征有助于理解模型决策过程，增加透明度。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2795588" y="3157538"/>
            <a:ext cx="1643063" cy="3619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1875" b="1" dirty="0">
                <a:solidFill>
                  <a:srgbClr val="5BB1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06</a:t>
            </a:r>
            <a:endParaRPr lang="en-US" sz="1875" dirty="0"/>
          </a:p>
        </p:txBody>
      </p:sp>
      <p:sp>
        <p:nvSpPr>
          <p:cNvPr id="23" name="Text 19"/>
          <p:cNvSpPr/>
          <p:nvPr/>
        </p:nvSpPr>
        <p:spPr>
          <a:xfrm>
            <a:off x="2738438" y="3700463"/>
            <a:ext cx="1700213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提升预测精度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2738438" y="3990975"/>
            <a:ext cx="1700213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聚焦关键特征，提高模型预测能力。</a:t>
            </a:r>
            <a:endParaRPr lang="en-US" sz="1050" dirty="0"/>
          </a:p>
        </p:txBody>
      </p:sp>
      <p:sp>
        <p:nvSpPr>
          <p:cNvPr id="25" name="Text 21"/>
          <p:cNvSpPr/>
          <p:nvPr/>
        </p:nvSpPr>
        <p:spPr>
          <a:xfrm>
            <a:off x="4762500" y="3157538"/>
            <a:ext cx="1643063" cy="3619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1875" b="1" dirty="0">
                <a:solidFill>
                  <a:srgbClr val="615CE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07</a:t>
            </a:r>
            <a:endParaRPr lang="en-US" sz="1875" dirty="0"/>
          </a:p>
        </p:txBody>
      </p:sp>
      <p:sp>
        <p:nvSpPr>
          <p:cNvPr id="26" name="Text 22"/>
          <p:cNvSpPr/>
          <p:nvPr/>
        </p:nvSpPr>
        <p:spPr>
          <a:xfrm>
            <a:off x="4705350" y="3700463"/>
            <a:ext cx="1700213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改善决策透明度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4705350" y="3990975"/>
            <a:ext cx="1700213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减少特征数量，使模型决策更加清晰易懂。</a:t>
            </a:r>
            <a:endParaRPr lang="en-US" sz="1050" dirty="0"/>
          </a:p>
        </p:txBody>
      </p:sp>
      <p:sp>
        <p:nvSpPr>
          <p:cNvPr id="28" name="Text 24"/>
          <p:cNvSpPr/>
          <p:nvPr/>
        </p:nvSpPr>
        <p:spPr>
          <a:xfrm>
            <a:off x="6729413" y="3157538"/>
            <a:ext cx="1643063" cy="3619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1875" b="1" dirty="0">
                <a:solidFill>
                  <a:srgbClr val="5BB1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08</a:t>
            </a:r>
            <a:endParaRPr lang="en-US" sz="1875" dirty="0"/>
          </a:p>
        </p:txBody>
      </p:sp>
      <p:sp>
        <p:nvSpPr>
          <p:cNvPr id="29" name="Text 25"/>
          <p:cNvSpPr/>
          <p:nvPr/>
        </p:nvSpPr>
        <p:spPr>
          <a:xfrm>
            <a:off x="6672263" y="3700463"/>
            <a:ext cx="1700213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优化模型性能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6672263" y="3990975"/>
            <a:ext cx="1700213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综合以上优势，整体提升模型性能。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314700"/>
            <a:ext cx="47625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特征选择的主要方法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571500" y="4157662"/>
            <a:ext cx="4762500" cy="14288"/>
          </a:xfrm>
          <a:prstGeom prst="rect">
            <a:avLst/>
          </a:prstGeom>
          <a:solidFill>
            <a:srgbClr val="000000">
              <a:alpha val="30000"/>
            </a:srgbClr>
          </a:solidFill>
        </p:spPr>
      </p:sp>
      <p:sp>
        <p:nvSpPr>
          <p:cNvPr id="5" name="Text 2"/>
          <p:cNvSpPr/>
          <p:nvPr/>
        </p:nvSpPr>
        <p:spPr>
          <a:xfrm>
            <a:off x="571500" y="4362450"/>
            <a:ext cx="4762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19725" y="3009900"/>
            <a:ext cx="3729038" cy="2857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2500"/>
              </a:lnSpc>
              <a:buNone/>
            </a:pPr>
            <a:r>
              <a:rPr lang="en-US" sz="22500" b="1" dirty="0">
                <a:solidFill>
                  <a:srgbClr val="4784CB">
                    <a:alpha val="3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22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rcRect l="12500" r="12500"/>
          <a:stretch>
            <a:fillRect/>
          </a:stretch>
        </p:blipFill>
        <p:spPr>
          <a:xfrm>
            <a:off x="5286375" y="0"/>
            <a:ext cx="3857625" cy="51435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71500" y="285750"/>
            <a:ext cx="40386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过滤法：统计测度筛选</a:t>
            </a:r>
            <a:endParaRPr lang="en-US" sz="2250" dirty="0"/>
          </a:p>
        </p:txBody>
      </p:sp>
      <p:sp>
        <p:nvSpPr>
          <p:cNvPr id="6" name="Text 2"/>
          <p:cNvSpPr/>
          <p:nvPr/>
        </p:nvSpPr>
        <p:spPr>
          <a:xfrm>
            <a:off x="571500" y="742950"/>
            <a:ext cx="40386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571500" y="1333500"/>
            <a:ext cx="1881187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统计测度基础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571500" y="1581150"/>
            <a:ext cx="1881187" cy="628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过滤法利用统计测度评估特征与目标变量的相关性，无需依赖模型。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2833688" y="1333500"/>
            <a:ext cx="1881187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皮尔逊相关系数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2833688" y="1581150"/>
            <a:ext cx="1881187" cy="628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衡量连续变量间的线性关系强度，值范围[-1,1]，绝对值越大表示相关性越强。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571500" y="2400300"/>
            <a:ext cx="1881187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互信息应用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571500" y="2647950"/>
            <a:ext cx="1881187" cy="628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评估非线性关系，量化两个随机变量间的信息共享程度，适用于复杂数据模式。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包裹法：模型性能评估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81000" y="1428750"/>
            <a:ext cx="8382000" cy="34099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95313" y="4052888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特征选择问题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595313" y="4343400"/>
            <a:ext cx="23622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将特征选择视为搜索问题，目的是找到最优的特征组合来提升模型性能。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595313" y="3190875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递归特征消除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595313" y="3481388"/>
            <a:ext cx="23622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使用RFE算法逐步移除最不重要的特征，直到模型表现最佳。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595313" y="2328863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模型性能优化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595313" y="2619375"/>
            <a:ext cx="23622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通过不断迭代和调整，确保模型能够达到最高的预测准确率。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595313" y="1466850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k折交叉验证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595313" y="1757362"/>
            <a:ext cx="23622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采用k折交叉验证方法评估不同特征组合下的模型稳定性和泛化能力。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6186488" y="1466850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最佳模型选择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6186488" y="1757362"/>
            <a:ext cx="23622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综合考虑模型的效率和准确性，选择最合适的模型作为最终结果。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6186488" y="2328863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特征重要性评估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6186488" y="2619375"/>
            <a:ext cx="23622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在每轮迭代中评估各个特征的重要性，为后续的特征筛选提供依据。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6186488" y="3190875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模型稳定性测试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6186488" y="3481388"/>
            <a:ext cx="23622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确保所选模型在不同数据集上的表现一致，提高模型的可靠性和实用性。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6186488" y="4052888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泛化能力增强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6186488" y="4343400"/>
            <a:ext cx="23622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通过优化特征组合，增强模型对未知数据的预测能力，实现更好的应用效果。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0104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l="13315" r="13315"/>
          <a:stretch>
            <a:fillRect/>
          </a:stretch>
        </p:blipFill>
        <p:spPr>
          <a:xfrm>
            <a:off x="0" y="0"/>
            <a:ext cx="9144000" cy="70104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rcRect l="22486" r="22486"/>
          <a:stretch>
            <a:fillRect/>
          </a:stretch>
        </p:blipFill>
        <p:spPr>
          <a:xfrm>
            <a:off x="0" y="0"/>
            <a:ext cx="3857625" cy="70104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429125" y="285750"/>
            <a:ext cx="40386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嵌入法：自动特征选择</a:t>
            </a:r>
            <a:endParaRPr lang="en-US" sz="2250" dirty="0"/>
          </a:p>
        </p:txBody>
      </p:sp>
      <p:sp>
        <p:nvSpPr>
          <p:cNvPr id="6" name="Text 2"/>
          <p:cNvSpPr/>
          <p:nvPr/>
        </p:nvSpPr>
        <p:spPr>
          <a:xfrm>
            <a:off x="4429125" y="742950"/>
            <a:ext cx="40386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257675" y="1162050"/>
            <a:ext cx="4105275" cy="14097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657850" y="1473994"/>
            <a:ext cx="250507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Lasso回归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5657850" y="1764506"/>
            <a:ext cx="2505075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利用L1正则化，自动压缩不重要特征的权重至零，实现特征选择。</a:t>
            </a:r>
            <a:endParaRPr lang="en-US" sz="10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257675" y="2571750"/>
            <a:ext cx="4105275" cy="14097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657850" y="2883694"/>
            <a:ext cx="250507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树基模型</a:t>
            </a:r>
            <a:endParaRPr lang="en-US" sz="1200" dirty="0"/>
          </a:p>
        </p:txBody>
      </p:sp>
      <p:sp>
        <p:nvSpPr>
          <p:cNvPr id="12" name="Text 6"/>
          <p:cNvSpPr/>
          <p:nvPr/>
        </p:nvSpPr>
        <p:spPr>
          <a:xfrm>
            <a:off x="5657850" y="3174206"/>
            <a:ext cx="2505075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决策树和随机森林通过特征重要性评分，自然排除不相关特征。</a:t>
            </a:r>
            <a:endParaRPr lang="en-US" sz="10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4257675" y="3981450"/>
            <a:ext cx="4105275" cy="140970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5657850" y="4293394"/>
            <a:ext cx="250507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神经网络</a:t>
            </a:r>
            <a:endParaRPr lang="en-US" sz="1200" dirty="0"/>
          </a:p>
        </p:txBody>
      </p:sp>
      <p:sp>
        <p:nvSpPr>
          <p:cNvPr id="15" name="Text 8"/>
          <p:cNvSpPr/>
          <p:nvPr/>
        </p:nvSpPr>
        <p:spPr>
          <a:xfrm>
            <a:off x="5657850" y="4583906"/>
            <a:ext cx="2505075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深度学习模型可通过正则化项或注意力机制，识别并强调关键特征。</a:t>
            </a:r>
            <a:endParaRPr lang="en-US" sz="105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4257675" y="5391150"/>
            <a:ext cx="4105275" cy="140970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5657850" y="5703094"/>
            <a:ext cx="250507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实时调整</a:t>
            </a:r>
            <a:endParaRPr lang="en-US" sz="1200" dirty="0"/>
          </a:p>
        </p:txBody>
      </p:sp>
      <p:sp>
        <p:nvSpPr>
          <p:cNvPr id="18" name="Text 10"/>
          <p:cNvSpPr/>
          <p:nvPr/>
        </p:nvSpPr>
        <p:spPr>
          <a:xfrm>
            <a:off x="5657850" y="5993606"/>
            <a:ext cx="2505075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嵌入法在模型训练过程中动态调整，无需额外步骤即可完成特征选择。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314700"/>
            <a:ext cx="47625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实际应用案例分析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571500" y="4157662"/>
            <a:ext cx="4762500" cy="14288"/>
          </a:xfrm>
          <a:prstGeom prst="rect">
            <a:avLst/>
          </a:prstGeom>
          <a:solidFill>
            <a:srgbClr val="000000">
              <a:alpha val="30000"/>
            </a:srgbClr>
          </a:solidFill>
        </p:spPr>
      </p:sp>
      <p:sp>
        <p:nvSpPr>
          <p:cNvPr id="5" name="Text 2"/>
          <p:cNvSpPr/>
          <p:nvPr/>
        </p:nvSpPr>
        <p:spPr>
          <a:xfrm>
            <a:off x="571500" y="4362450"/>
            <a:ext cx="4762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19725" y="3009900"/>
            <a:ext cx="3729038" cy="2857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2500"/>
              </a:lnSpc>
              <a:buNone/>
            </a:pPr>
            <a:r>
              <a:rPr lang="en-US" sz="22500" b="1" dirty="0">
                <a:solidFill>
                  <a:srgbClr val="4784CB">
                    <a:alpha val="3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22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55295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t="3571" b="3571"/>
          <a:stretch>
            <a:fillRect/>
          </a:stretch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乳腺癌分类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81000" y="1428750"/>
            <a:ext cx="8382000" cy="383604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9176" y="4059734"/>
            <a:ext cx="13335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使用乳腺癌数据集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549176" y="4350246"/>
            <a:ext cx="1333500" cy="8763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研究采用乳腺癌数据集进行实验，以提高肿瘤良恶性分类的准确性。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549176" y="2868067"/>
            <a:ext cx="13335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特征选择方法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549176" y="3158579"/>
            <a:ext cx="13335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基于ANOVA F值选择5个最重要的特征，用于提高模型性能。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549176" y="1466850"/>
            <a:ext cx="13335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对比模型准确率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549176" y="1757362"/>
            <a:ext cx="1333500" cy="8763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对比特征选择前后的随机森林模型准确率，验证特征选择的有效性。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7261324" y="4059882"/>
            <a:ext cx="13335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绘制特征重要性图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7261324" y="4350395"/>
            <a:ext cx="1333500" cy="8763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通过绘制特征重要性分布图，直观展示每个特征对分类任务的贡献。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7261324" y="1466850"/>
            <a:ext cx="13335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提高分类性能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7261324" y="1757362"/>
            <a:ext cx="1333500" cy="8763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通过特征选择，旨在提高肿瘤良恶性分类的性能，确保模型更加可靠。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55295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t="3571" b="3571"/>
          <a:stretch>
            <a:fillRect/>
          </a:stretch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乳腺癌分类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5390" y="3478530"/>
            <a:ext cx="6713220" cy="815340"/>
          </a:xfrm>
          <a:prstGeom prst="rect">
            <a:avLst/>
          </a:prstGeom>
        </p:spPr>
      </p:pic>
      <p:sp>
        <p:nvSpPr>
          <p:cNvPr id="18" name="文本框 17"/>
          <p:cNvSpPr txBox="1"/>
          <p:nvPr/>
        </p:nvSpPr>
        <p:spPr>
          <a:xfrm>
            <a:off x="778510" y="1593850"/>
            <a:ext cx="779399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/>
            <a:r>
              <a:rPr lang="zh-CN" altLang="en-US"/>
              <a:t>我们将使用乳腺癌数据集进行二分类任务（预测肿瘤是良性还是恶性）。目标是通过特征选择技术（如过滤法、包裹法和嵌入法）筛选出对分类任务最有贡献的特征，并比较特征选择前后的模型性能。</a:t>
            </a:r>
            <a:endParaRPr lang="zh-CN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55295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t="3571" b="3571"/>
          <a:stretch>
            <a:fillRect/>
          </a:stretch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乳腺癌分类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5390" y="3478530"/>
            <a:ext cx="6713220" cy="815340"/>
          </a:xfrm>
          <a:prstGeom prst="rect">
            <a:avLst/>
          </a:prstGeom>
        </p:spPr>
      </p:pic>
      <p:sp>
        <p:nvSpPr>
          <p:cNvPr id="18" name="文本框 17"/>
          <p:cNvSpPr txBox="1"/>
          <p:nvPr/>
        </p:nvSpPr>
        <p:spPr>
          <a:xfrm>
            <a:off x="778510" y="1593850"/>
            <a:ext cx="779399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/>
            <a:r>
              <a:rPr lang="zh-CN" altLang="en-US"/>
              <a:t>我们将使用乳腺癌数据集进行二分类任务（预测肿瘤是良性还是恶性）。目标是通过特征选择技术（如过滤法、包裹法和嵌入法）筛选出对分类任务最有贡献的特征，并比较特征选择前后的模型性能。</a:t>
            </a:r>
            <a:endParaRPr lang="zh-CN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t="3571" b="3571"/>
          <a:stretch>
            <a:fillRect/>
          </a:stretch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特征选择方法对比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81000" y="1428750"/>
            <a:ext cx="8382000" cy="277177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766888" y="1514475"/>
            <a:ext cx="2667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615CE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1085850" y="1905000"/>
            <a:ext cx="162877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使用乳腺癌数据集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1085850" y="2195513"/>
            <a:ext cx="1628775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在乳腺癌数据集上进行特征选择方法的比较。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3548062" y="1514475"/>
            <a:ext cx="2667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5BB1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2867025" y="1905000"/>
            <a:ext cx="162877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过滤法特征选择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2867025" y="2195513"/>
            <a:ext cx="1628775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基于ANOVA F值选择5个关键特征，随机森林准确率为95.32%。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5329238" y="1514475"/>
            <a:ext cx="2667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615CE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648200" y="1905000"/>
            <a:ext cx="162877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包裹法特征选择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648200" y="2195513"/>
            <a:ext cx="1628775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通过递归特征消除选出5个特征，随机森林准确率提升至96.49%。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7110413" y="1514475"/>
            <a:ext cx="2667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5BB1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6429375" y="1905000"/>
            <a:ext cx="162877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嵌入法特征选择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6429375" y="2195513"/>
            <a:ext cx="1628775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根据随机森林模型特征重要性选取5个特征，准确率同样为95.32%。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6143625" y="2986088"/>
            <a:ext cx="2667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615CE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4648200" y="3376612"/>
            <a:ext cx="325755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特征选择方法对比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4648200" y="3667125"/>
            <a:ext cx="325755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对比了过滤法、包裹法与嵌入法三种特征选择方法的表现。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2733675" y="2986088"/>
            <a:ext cx="2667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5BB1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06</a:t>
            </a:r>
            <a:endParaRPr lang="en-US" sz="1500" dirty="0"/>
          </a:p>
        </p:txBody>
      </p:sp>
      <p:sp>
        <p:nvSpPr>
          <p:cNvPr id="23" name="Text 19"/>
          <p:cNvSpPr/>
          <p:nvPr/>
        </p:nvSpPr>
        <p:spPr>
          <a:xfrm>
            <a:off x="1238250" y="3376612"/>
            <a:ext cx="325755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随机森林模型应用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1238250" y="3667125"/>
            <a:ext cx="3257550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使用随机森林模型评估不同特征选择方法的效果。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55295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t="3571" b="3571"/>
          <a:stretch>
            <a:fillRect/>
          </a:stretch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特征选择方法对比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175" y="1238250"/>
            <a:ext cx="7124700" cy="420243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880110"/>
            <a:ext cx="3131820" cy="35814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55295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t="3571" b="3571"/>
          <a:stretch>
            <a:fillRect/>
          </a:stretch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特征选择方法对比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00860"/>
            <a:ext cx="7467600" cy="32004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2090" y="2907030"/>
            <a:ext cx="6179820" cy="121158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55295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t="3571" b="3571"/>
          <a:stretch>
            <a:fillRect/>
          </a:stretch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特征选择方法对比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952500"/>
            <a:ext cx="2895600" cy="28194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4260" y="1234440"/>
            <a:ext cx="6938645" cy="407606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t="3571" b="3571"/>
          <a:stretch>
            <a:fillRect/>
          </a:stretch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泰坦尼克号生存预测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00050" y="2019300"/>
            <a:ext cx="2781151" cy="22669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52475" y="2869406"/>
            <a:ext cx="2076301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数据预处理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752475" y="3159919"/>
            <a:ext cx="2076301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从Kaggle下载泰坦尼克号数据集，填充缺失值，编码分类变量，选择关键特征。</a:t>
            </a:r>
            <a:endParaRPr lang="en-US" sz="10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181201" y="2019300"/>
            <a:ext cx="2781151" cy="22669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533626" y="2974181"/>
            <a:ext cx="2076301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特征选择方法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3533626" y="3264694"/>
            <a:ext cx="2076301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对比过滤法、包裹法和嵌入法，评估对随机森林模型性能的影响。</a:t>
            </a:r>
            <a:endParaRPr lang="en-US" sz="10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962352" y="2019300"/>
            <a:ext cx="2781151" cy="226695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314777" y="2974181"/>
            <a:ext cx="2076301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模型性能对比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6314777" y="3264694"/>
            <a:ext cx="2076301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分析有无特征选择的模型性能差异，验证特征选择的实际效果。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55295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t="3571" b="3571"/>
          <a:stretch>
            <a:fillRect/>
          </a:stretch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泰坦尼克号生存预测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8280" y="2713355"/>
            <a:ext cx="6187440" cy="10668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941070"/>
            <a:ext cx="7444740" cy="29718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55295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t="3571" b="3571"/>
          <a:stretch>
            <a:fillRect/>
          </a:stretch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泰坦尼克号生存预测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9830" y="1288415"/>
            <a:ext cx="6784975" cy="398462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941070"/>
            <a:ext cx="2895600" cy="29718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314700"/>
            <a:ext cx="47625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特征选择的最佳实践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571500" y="4157662"/>
            <a:ext cx="4762500" cy="14288"/>
          </a:xfrm>
          <a:prstGeom prst="rect">
            <a:avLst/>
          </a:prstGeom>
          <a:solidFill>
            <a:srgbClr val="000000">
              <a:alpha val="30000"/>
            </a:srgbClr>
          </a:solidFill>
        </p:spPr>
      </p:sp>
      <p:sp>
        <p:nvSpPr>
          <p:cNvPr id="5" name="Text 2"/>
          <p:cNvSpPr/>
          <p:nvPr/>
        </p:nvSpPr>
        <p:spPr>
          <a:xfrm>
            <a:off x="571500" y="4362450"/>
            <a:ext cx="4762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19725" y="3009900"/>
            <a:ext cx="3729038" cy="2857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2500"/>
              </a:lnSpc>
              <a:buNone/>
            </a:pPr>
            <a:r>
              <a:rPr lang="en-US" sz="22500" b="1" dirty="0">
                <a:solidFill>
                  <a:srgbClr val="4784CB">
                    <a:alpha val="3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</a:t>
            </a:r>
            <a:endParaRPr lang="en-US" sz="22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结合领域知识与自动化工具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rcRect t="20395" b="20395"/>
          <a:stretch>
            <a:fillRect/>
          </a:stretch>
        </p:blipFill>
        <p:spPr>
          <a:xfrm>
            <a:off x="571500" y="1428750"/>
            <a:ext cx="2413000" cy="14287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66750" y="3048000"/>
            <a:ext cx="2222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领域知识引导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666750" y="3295650"/>
            <a:ext cx="2222500" cy="4191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利用行业经验识别关键特征，减少盲目搜索，加速模型优化过程。</a:t>
            </a:r>
            <a:endParaRPr lang="en-US" sz="10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rcRect t="20395" b="20395"/>
          <a:stretch>
            <a:fillRect/>
          </a:stretch>
        </p:blipFill>
        <p:spPr>
          <a:xfrm>
            <a:off x="3365500" y="1428750"/>
            <a:ext cx="2413000" cy="14287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460750" y="3048000"/>
            <a:ext cx="2222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自动化工具辅助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3460750" y="3295650"/>
            <a:ext cx="2222500" cy="4191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借助算法自动排除不相关变量，确保模型精简高效，提升预测准确性。</a:t>
            </a:r>
            <a:endParaRPr lang="en-US" sz="10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rcRect t="20395" b="20395"/>
          <a:stretch>
            <a:fillRect/>
          </a:stretch>
        </p:blipFill>
        <p:spPr>
          <a:xfrm>
            <a:off x="6159500" y="1428750"/>
            <a:ext cx="2413000" cy="142875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254750" y="3048000"/>
            <a:ext cx="2222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协同优化策略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6254750" y="3295650"/>
            <a:ext cx="2222500" cy="628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融合专家判断与智能算法，实现特征选择的精准与快速，增强模型的实用性和鲁棒性。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576888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t="3571" b="3571"/>
          <a:stretch>
            <a:fillRect/>
          </a:stretch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实际操作问题及解决方案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81000" y="1428750"/>
            <a:ext cx="8382000" cy="395763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464469" y="2752725"/>
            <a:ext cx="47625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615CE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781050" y="4238625"/>
            <a:ext cx="1843088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数据预处理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781050" y="4529138"/>
            <a:ext cx="1843088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确保数据质量，处理缺失值和异常值，为后续分析打下基础。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3345656" y="3605213"/>
            <a:ext cx="47625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5BB1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2662238" y="1676400"/>
            <a:ext cx="1843088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特征工程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2662238" y="1966913"/>
            <a:ext cx="1843088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利用领域知识创建有意义的特征，以增强模型的表现力。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5226844" y="2752725"/>
            <a:ext cx="47625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615CE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543425" y="4238625"/>
            <a:ext cx="1843088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算法选择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543425" y="4529138"/>
            <a:ext cx="1843088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根据问题类型和数据特性，合理选择特征选择算法，平衡效率与效果。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7108031" y="3605213"/>
            <a:ext cx="47625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5BB1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6424613" y="1466850"/>
            <a:ext cx="1843088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验证策略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6424613" y="1757362"/>
            <a:ext cx="1843088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采用交叉验证评估特征子集，确保模型泛化能力，防止过拟合。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7818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l="12079" r="12079"/>
          <a:stretch>
            <a:fillRect/>
          </a:stretch>
        </p:blipFill>
        <p:spPr>
          <a:xfrm>
            <a:off x="0" y="0"/>
            <a:ext cx="9144000" cy="6781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关键注意事项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81000" y="1428750"/>
            <a:ext cx="8382000" cy="51625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924300" y="4062413"/>
            <a:ext cx="1295400" cy="3238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650" b="1" dirty="0">
                <a:solidFill>
                  <a:srgbClr val="3B9DF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特征选择策略</a:t>
            </a:r>
            <a:endParaRPr lang="en-US" sz="1650" dirty="0"/>
          </a:p>
        </p:txBody>
      </p:sp>
      <p:sp>
        <p:nvSpPr>
          <p:cNvPr id="8" name="Text 4"/>
          <p:cNvSpPr/>
          <p:nvPr/>
        </p:nvSpPr>
        <p:spPr>
          <a:xfrm>
            <a:off x="2005013" y="1590675"/>
            <a:ext cx="1181100" cy="3238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5BB1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避免过度依赖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471488" y="2152650"/>
            <a:ext cx="2338388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减少对自动化工具的依赖，结合领域知识进行特征选择。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471488" y="2647950"/>
            <a:ext cx="2338388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避免因过度依赖自动化工具而遗漏重要的变量。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2005013" y="3314700"/>
            <a:ext cx="1181100" cy="3238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639C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持续监控模型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471488" y="3876675"/>
            <a:ext cx="2338388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定期检查模型的表现，确保其稳定性和预测准确性。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471488" y="4371975"/>
            <a:ext cx="2338388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通过监控发现并解决潜在的问题，提高模型的可靠性。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1814513" y="5038725"/>
            <a:ext cx="1371600" cy="3238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687E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考虑特征间关系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471488" y="5600700"/>
            <a:ext cx="2338388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分析特征之间的相互作用，优化模型性能。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471488" y="6096000"/>
            <a:ext cx="2338388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利用特征间的相关性，提升模型的预测能力。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6338888" y="2452688"/>
            <a:ext cx="1371600" cy="3238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615CE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验证特征稳定性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6334125" y="3014663"/>
            <a:ext cx="2338388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检验特征在不同数据集或时间点上的稳定性和有效性。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6334125" y="3509963"/>
            <a:ext cx="2338388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确保特征在各种条件下都能保持良好的表现。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6338888" y="4176713"/>
            <a:ext cx="1181100" cy="3238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6644D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增强泛化能力</a:t>
            </a:r>
            <a:endParaRPr lang="en-US" sz="1500" dirty="0"/>
          </a:p>
        </p:txBody>
      </p:sp>
      <p:sp>
        <p:nvSpPr>
          <p:cNvPr id="21" name="Text 17"/>
          <p:cNvSpPr/>
          <p:nvPr/>
        </p:nvSpPr>
        <p:spPr>
          <a:xfrm>
            <a:off x="6334125" y="4738688"/>
            <a:ext cx="2338388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通过综合考虑多种因素，提高模型的泛化能力。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6334125" y="5233988"/>
            <a:ext cx="2338388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确保模型不仅在训练集上表现良好，在新数据上也能有较好的预测效果。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2014538"/>
            <a:ext cx="80010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THANKS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571500" y="3014663"/>
            <a:ext cx="604838" cy="114300"/>
          </a:xfrm>
          <a:prstGeom prst="rect">
            <a:avLst/>
          </a:prstGeom>
          <a:solidFill>
            <a:srgbClr val="000000"/>
          </a:solid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2354</Words>
  <Application>WPS 演示</Application>
  <PresentationFormat>On-screen Show (16:9)</PresentationFormat>
  <Paragraphs>338</Paragraphs>
  <Slides>25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25</vt:i4>
      </vt:variant>
    </vt:vector>
  </HeadingPairs>
  <TitlesOfParts>
    <vt:vector size="35" baseType="lpstr">
      <vt:lpstr>Arial</vt:lpstr>
      <vt:lpstr>宋体</vt:lpstr>
      <vt:lpstr>Wingdings</vt:lpstr>
      <vt:lpstr>微软雅黑</vt:lpstr>
      <vt:lpstr>微软雅黑</vt:lpstr>
      <vt:lpstr>Calibri</vt:lpstr>
      <vt:lpstr>Arial Unicode MS</vt:lpstr>
      <vt:lpstr>等线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z</cp:lastModifiedBy>
  <cp:revision>12</cp:revision>
  <dcterms:created xsi:type="dcterms:W3CDTF">2025-04-19T07:26:00Z</dcterms:created>
  <dcterms:modified xsi:type="dcterms:W3CDTF">2025-04-19T10:08:45Z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FB71E214D02B4AF59C8DF475CFDA9A48_12</vt:lpwstr>
  </property>
  <property fmtid="{D5CDD505-2E9C-101B-9397-08002B2CF9AE}" pid="3" name="KSOProductBuildVer">
    <vt:lpwstr>2052-12.8.2.19823</vt:lpwstr>
  </property>
</Properties>
</file>