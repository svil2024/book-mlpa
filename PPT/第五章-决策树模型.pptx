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74" r:id="rId5"/>
    <p:sldId id="276" r:id="rId6"/>
    <p:sldId id="259" r:id="rId7"/>
    <p:sldId id="260" r:id="rId8"/>
    <p:sldId id="277" r:id="rId9"/>
    <p:sldId id="278" r:id="rId10"/>
    <p:sldId id="279" r:id="rId11"/>
    <p:sldId id="275" r:id="rId12"/>
    <p:sldId id="261" r:id="rId13"/>
    <p:sldId id="262" r:id="rId14"/>
    <p:sldId id="263" r:id="rId15"/>
    <p:sldId id="280" r:id="rId16"/>
    <p:sldId id="281" r:id="rId17"/>
    <p:sldId id="264" r:id="rId18"/>
    <p:sldId id="265" r:id="rId19"/>
    <p:sldId id="282" r:id="rId20"/>
    <p:sldId id="284" r:id="rId21"/>
    <p:sldId id="266" r:id="rId22"/>
    <p:sldId id="283" r:id="rId23"/>
    <p:sldId id="285" r:id="rId24"/>
    <p:sldId id="286" r:id="rId25"/>
    <p:sldId id="267" r:id="rId26"/>
    <p:sldId id="271" r:id="rId27"/>
    <p:sldId id="268" r:id="rId28"/>
    <p:sldId id="269" r:id="rId29"/>
    <p:sldId id="272" r:id="rId30"/>
    <p:sldId id="273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FEB788-314A-4031-94E2-299EE7100B6F}" type="doc">
      <dgm:prSet loTypeId="urn:microsoft.com/office/officeart/2005/8/layout/target3" loCatId="relationship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678BE72-7677-4A64-8143-4441EFEFC74C}">
      <dgm:prSet/>
      <dgm:spPr/>
      <dgm:t>
        <a:bodyPr/>
        <a:lstStyle/>
        <a:p>
          <a:pPr algn="l"/>
          <a:r>
            <a:rPr lang="zh-CN" dirty="0"/>
            <a:t>周末到了，石榴同学正在思考如何安排自己的时间。她列出了几个可能的活动选项：去公园散步、在家看电影、去图书馆学习，或者和朋友一起喝咖啡。然而，她的选择会受到一些条件的影响，比如天气状况（晴天、阴天、雨天）、是否有朋友约她（是/否）以及她的心情（开心、一般、疲惫）</a:t>
          </a:r>
        </a:p>
      </dgm:t>
    </dgm:pt>
    <dgm:pt modelId="{8FCF360D-4D05-418D-B29F-E3492635F905}" type="parTrans" cxnId="{E8375A3A-2B80-45F2-A3E2-78554396078E}">
      <dgm:prSet/>
      <dgm:spPr/>
      <dgm:t>
        <a:bodyPr/>
        <a:lstStyle/>
        <a:p>
          <a:endParaRPr lang="zh-CN" altLang="en-US"/>
        </a:p>
      </dgm:t>
    </dgm:pt>
    <dgm:pt modelId="{8AA4A5B5-801B-4314-8EAC-CBA165E1C1AD}" type="sibTrans" cxnId="{E8375A3A-2B80-45F2-A3E2-78554396078E}">
      <dgm:prSet/>
      <dgm:spPr/>
      <dgm:t>
        <a:bodyPr/>
        <a:lstStyle/>
        <a:p>
          <a:endParaRPr lang="zh-CN" altLang="en-US"/>
        </a:p>
      </dgm:t>
    </dgm:pt>
    <dgm:pt modelId="{B57EFFCA-457A-41E5-A118-87E93E974875}">
      <dgm:prSet/>
      <dgm:spPr/>
      <dgm:t>
        <a:bodyPr/>
        <a:lstStyle/>
        <a:p>
          <a:pPr algn="l"/>
          <a:r>
            <a:rPr lang="zh-CN" altLang="en-US" dirty="0"/>
            <a:t>她首先问自己：“今天天气怎么样？” 如果是晴天，她可能会倾向于去公园散步；如果是雨天，她更愿意选择在家看电影或去图书馆学习。接着，她又考虑了其他因素，比如“是否有朋友约我？” 和“我现在的心情如何？”。通过一步步提问，石榴同学最终得到了一个清晰的行动计划。</a:t>
          </a:r>
          <a:endParaRPr lang="zh-CN" dirty="0"/>
        </a:p>
      </dgm:t>
    </dgm:pt>
    <dgm:pt modelId="{607C78E5-99C2-4EA1-8B2F-31018215E31C}" type="parTrans" cxnId="{D9B1102F-A921-4559-9E9B-1FEEB46B51DE}">
      <dgm:prSet/>
      <dgm:spPr/>
      <dgm:t>
        <a:bodyPr/>
        <a:lstStyle/>
        <a:p>
          <a:endParaRPr lang="zh-CN" altLang="en-US"/>
        </a:p>
      </dgm:t>
    </dgm:pt>
    <dgm:pt modelId="{145BBB6A-50F7-4F1A-A2E1-C7C51F59E920}" type="sibTrans" cxnId="{D9B1102F-A921-4559-9E9B-1FEEB46B51DE}">
      <dgm:prSet/>
      <dgm:spPr/>
      <dgm:t>
        <a:bodyPr/>
        <a:lstStyle/>
        <a:p>
          <a:endParaRPr lang="zh-CN" altLang="en-US"/>
        </a:p>
      </dgm:t>
    </dgm:pt>
    <dgm:pt modelId="{2D9E92E9-1073-4C45-B383-CF07D56780C3}" type="pres">
      <dgm:prSet presAssocID="{9BFEB788-314A-4031-94E2-299EE7100B6F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B48EDEF-AB98-401A-8BFF-BF0B6731BE7C}" type="pres">
      <dgm:prSet presAssocID="{6678BE72-7677-4A64-8143-4441EFEFC74C}" presName="circle1" presStyleLbl="node1" presStyleIdx="0" presStyleCnt="2"/>
      <dgm:spPr/>
    </dgm:pt>
    <dgm:pt modelId="{AF9997B8-4CBB-43B0-B1ED-9788EA0A7BBD}" type="pres">
      <dgm:prSet presAssocID="{6678BE72-7677-4A64-8143-4441EFEFC74C}" presName="space" presStyleCnt="0"/>
      <dgm:spPr/>
    </dgm:pt>
    <dgm:pt modelId="{AE654FDB-E0E1-41A7-9A0F-BE21AFDFCA97}" type="pres">
      <dgm:prSet presAssocID="{6678BE72-7677-4A64-8143-4441EFEFC74C}" presName="rect1" presStyleLbl="alignAcc1" presStyleIdx="0" presStyleCnt="2"/>
      <dgm:spPr/>
    </dgm:pt>
    <dgm:pt modelId="{CC5519EE-4E73-4176-B811-89380FB71A84}" type="pres">
      <dgm:prSet presAssocID="{B57EFFCA-457A-41E5-A118-87E93E974875}" presName="vertSpace2" presStyleLbl="node1" presStyleIdx="0" presStyleCnt="2"/>
      <dgm:spPr/>
    </dgm:pt>
    <dgm:pt modelId="{0F353882-DACC-4941-9E16-B490D8375A9F}" type="pres">
      <dgm:prSet presAssocID="{B57EFFCA-457A-41E5-A118-87E93E974875}" presName="circle2" presStyleLbl="node1" presStyleIdx="1" presStyleCnt="2"/>
      <dgm:spPr/>
    </dgm:pt>
    <dgm:pt modelId="{C76BEA48-3502-4392-AC0C-7834FF24617A}" type="pres">
      <dgm:prSet presAssocID="{B57EFFCA-457A-41E5-A118-87E93E974875}" presName="rect2" presStyleLbl="alignAcc1" presStyleIdx="1" presStyleCnt="2"/>
      <dgm:spPr/>
    </dgm:pt>
    <dgm:pt modelId="{FE9C4339-24FC-4EC1-861A-EEB42FD5F368}" type="pres">
      <dgm:prSet presAssocID="{6678BE72-7677-4A64-8143-4441EFEFC74C}" presName="rect1ParTxNoCh" presStyleLbl="alignAcc1" presStyleIdx="1" presStyleCnt="2">
        <dgm:presLayoutVars>
          <dgm:chMax val="1"/>
          <dgm:bulletEnabled val="1"/>
        </dgm:presLayoutVars>
      </dgm:prSet>
      <dgm:spPr/>
    </dgm:pt>
    <dgm:pt modelId="{A36F495E-BAA5-4715-9007-4A97DD145C5F}" type="pres">
      <dgm:prSet presAssocID="{B57EFFCA-457A-41E5-A118-87E93E974875}" presName="rect2ParTxNoCh" presStyleLbl="alignAcc1" presStyleIdx="1" presStyleCnt="2">
        <dgm:presLayoutVars>
          <dgm:chMax val="1"/>
          <dgm:bulletEnabled val="1"/>
        </dgm:presLayoutVars>
      </dgm:prSet>
      <dgm:spPr/>
    </dgm:pt>
  </dgm:ptLst>
  <dgm:cxnLst>
    <dgm:cxn modelId="{0EBA8516-A67B-4642-874B-615809B376B0}" type="presOf" srcId="{B57EFFCA-457A-41E5-A118-87E93E974875}" destId="{C76BEA48-3502-4392-AC0C-7834FF24617A}" srcOrd="0" destOrd="0" presId="urn:microsoft.com/office/officeart/2005/8/layout/target3"/>
    <dgm:cxn modelId="{6A5B5B2D-B69C-41EB-BEDB-0A49AE077B0E}" type="presOf" srcId="{B57EFFCA-457A-41E5-A118-87E93E974875}" destId="{A36F495E-BAA5-4715-9007-4A97DD145C5F}" srcOrd="1" destOrd="0" presId="urn:microsoft.com/office/officeart/2005/8/layout/target3"/>
    <dgm:cxn modelId="{D9B1102F-A921-4559-9E9B-1FEEB46B51DE}" srcId="{9BFEB788-314A-4031-94E2-299EE7100B6F}" destId="{B57EFFCA-457A-41E5-A118-87E93E974875}" srcOrd="1" destOrd="0" parTransId="{607C78E5-99C2-4EA1-8B2F-31018215E31C}" sibTransId="{145BBB6A-50F7-4F1A-A2E1-C7C51F59E920}"/>
    <dgm:cxn modelId="{E8375A3A-2B80-45F2-A3E2-78554396078E}" srcId="{9BFEB788-314A-4031-94E2-299EE7100B6F}" destId="{6678BE72-7677-4A64-8143-4441EFEFC74C}" srcOrd="0" destOrd="0" parTransId="{8FCF360D-4D05-418D-B29F-E3492635F905}" sibTransId="{8AA4A5B5-801B-4314-8EAC-CBA165E1C1AD}"/>
    <dgm:cxn modelId="{DC220161-A188-4C3B-AC83-083564F1E9EB}" type="presOf" srcId="{9BFEB788-314A-4031-94E2-299EE7100B6F}" destId="{2D9E92E9-1073-4C45-B383-CF07D56780C3}" srcOrd="0" destOrd="0" presId="urn:microsoft.com/office/officeart/2005/8/layout/target3"/>
    <dgm:cxn modelId="{E10D82C3-2973-4EEC-A3B3-0E9D15BACB66}" type="presOf" srcId="{6678BE72-7677-4A64-8143-4441EFEFC74C}" destId="{AE654FDB-E0E1-41A7-9A0F-BE21AFDFCA97}" srcOrd="0" destOrd="0" presId="urn:microsoft.com/office/officeart/2005/8/layout/target3"/>
    <dgm:cxn modelId="{E0D00DD5-D99A-4FB0-B7A6-35A8A2FDE4D7}" type="presOf" srcId="{6678BE72-7677-4A64-8143-4441EFEFC74C}" destId="{FE9C4339-24FC-4EC1-861A-EEB42FD5F368}" srcOrd="1" destOrd="0" presId="urn:microsoft.com/office/officeart/2005/8/layout/target3"/>
    <dgm:cxn modelId="{DEC09AA8-E196-4B6C-8214-C4E10641B8C0}" type="presParOf" srcId="{2D9E92E9-1073-4C45-B383-CF07D56780C3}" destId="{FB48EDEF-AB98-401A-8BFF-BF0B6731BE7C}" srcOrd="0" destOrd="0" presId="urn:microsoft.com/office/officeart/2005/8/layout/target3"/>
    <dgm:cxn modelId="{9ECC8031-0D12-4C68-9F1B-A7C9E2A69D06}" type="presParOf" srcId="{2D9E92E9-1073-4C45-B383-CF07D56780C3}" destId="{AF9997B8-4CBB-43B0-B1ED-9788EA0A7BBD}" srcOrd="1" destOrd="0" presId="urn:microsoft.com/office/officeart/2005/8/layout/target3"/>
    <dgm:cxn modelId="{94A6F7E5-EB11-4E19-8573-3FE9B87CEC0A}" type="presParOf" srcId="{2D9E92E9-1073-4C45-B383-CF07D56780C3}" destId="{AE654FDB-E0E1-41A7-9A0F-BE21AFDFCA97}" srcOrd="2" destOrd="0" presId="urn:microsoft.com/office/officeart/2005/8/layout/target3"/>
    <dgm:cxn modelId="{51EE8877-B9C6-4D79-9814-321584E02F3D}" type="presParOf" srcId="{2D9E92E9-1073-4C45-B383-CF07D56780C3}" destId="{CC5519EE-4E73-4176-B811-89380FB71A84}" srcOrd="3" destOrd="0" presId="urn:microsoft.com/office/officeart/2005/8/layout/target3"/>
    <dgm:cxn modelId="{DE7BA048-968F-4B52-819A-3FE85D2D157B}" type="presParOf" srcId="{2D9E92E9-1073-4C45-B383-CF07D56780C3}" destId="{0F353882-DACC-4941-9E16-B490D8375A9F}" srcOrd="4" destOrd="0" presId="urn:microsoft.com/office/officeart/2005/8/layout/target3"/>
    <dgm:cxn modelId="{10C3C0FC-3278-40D9-AFE8-ACCD11327331}" type="presParOf" srcId="{2D9E92E9-1073-4C45-B383-CF07D56780C3}" destId="{C76BEA48-3502-4392-AC0C-7834FF24617A}" srcOrd="5" destOrd="0" presId="urn:microsoft.com/office/officeart/2005/8/layout/target3"/>
    <dgm:cxn modelId="{08219E50-8F3C-4301-BEAC-FCCB02A3F7D1}" type="presParOf" srcId="{2D9E92E9-1073-4C45-B383-CF07D56780C3}" destId="{FE9C4339-24FC-4EC1-861A-EEB42FD5F368}" srcOrd="6" destOrd="0" presId="urn:microsoft.com/office/officeart/2005/8/layout/target3"/>
    <dgm:cxn modelId="{2F9B7D49-94B7-4FF1-9329-D77E94655258}" type="presParOf" srcId="{2D9E92E9-1073-4C45-B383-CF07D56780C3}" destId="{A36F495E-BAA5-4715-9007-4A97DD145C5F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1B4906-0D9B-4388-8B7C-531589689F9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46F20046-8163-4605-8378-2BEC5C19DFC6}">
      <dgm:prSet/>
      <dgm:spPr/>
      <dgm:t>
        <a:bodyPr/>
        <a:lstStyle/>
        <a:p>
          <a:r>
            <a:rPr lang="en-US"/>
            <a:t>决策树的构建过程类似于人类面对问题时的思考方式，先考虑主要因素，再细化至具体细节，直至做出决定。</a:t>
          </a:r>
          <a:endParaRPr lang="zh-CN"/>
        </a:p>
      </dgm:t>
    </dgm:pt>
    <dgm:pt modelId="{855A04E2-2B8B-488A-A651-1186B95CDA38}" type="parTrans" cxnId="{D946B198-9241-4DAC-850E-3837499BA2EC}">
      <dgm:prSet/>
      <dgm:spPr/>
      <dgm:t>
        <a:bodyPr/>
        <a:lstStyle/>
        <a:p>
          <a:endParaRPr lang="zh-CN" altLang="en-US"/>
        </a:p>
      </dgm:t>
    </dgm:pt>
    <dgm:pt modelId="{A287AFAD-0AC1-4E7A-A35D-E4704CCDDA41}" type="sibTrans" cxnId="{D946B198-9241-4DAC-850E-3837499BA2EC}">
      <dgm:prSet/>
      <dgm:spPr/>
      <dgm:t>
        <a:bodyPr/>
        <a:lstStyle/>
        <a:p>
          <a:endParaRPr lang="zh-CN" altLang="en-US"/>
        </a:p>
      </dgm:t>
    </dgm:pt>
    <dgm:pt modelId="{444F92FB-0B89-4C95-B842-9DC570560EFF}">
      <dgm:prSet/>
      <dgm:spPr/>
      <dgm:t>
        <a:bodyPr/>
        <a:lstStyle/>
        <a:p>
          <a:r>
            <a:rPr lang="en-US"/>
            <a:t>每个节点基于最佳特征进行分裂，直至满足停止条件，确保每个子节点的样本尽可能属于同一类别。</a:t>
          </a:r>
          <a:endParaRPr lang="zh-CN"/>
        </a:p>
      </dgm:t>
    </dgm:pt>
    <dgm:pt modelId="{9060A309-D2A0-4544-9928-858851608B01}" type="parTrans" cxnId="{D122EB1F-0148-4763-8BD7-B2F0366DA5B1}">
      <dgm:prSet/>
      <dgm:spPr/>
      <dgm:t>
        <a:bodyPr/>
        <a:lstStyle/>
        <a:p>
          <a:endParaRPr lang="zh-CN" altLang="en-US"/>
        </a:p>
      </dgm:t>
    </dgm:pt>
    <dgm:pt modelId="{7BB893A2-F3B8-425A-B343-1B76636D2D88}" type="sibTrans" cxnId="{D122EB1F-0148-4763-8BD7-B2F0366DA5B1}">
      <dgm:prSet/>
      <dgm:spPr/>
      <dgm:t>
        <a:bodyPr/>
        <a:lstStyle/>
        <a:p>
          <a:endParaRPr lang="zh-CN" altLang="en-US"/>
        </a:p>
      </dgm:t>
    </dgm:pt>
    <dgm:pt modelId="{5EE94076-BB73-405A-B845-50270425764A}" type="pres">
      <dgm:prSet presAssocID="{4E1B4906-0D9B-4388-8B7C-531589689F9D}" presName="CompostProcess" presStyleCnt="0">
        <dgm:presLayoutVars>
          <dgm:dir/>
          <dgm:resizeHandles val="exact"/>
        </dgm:presLayoutVars>
      </dgm:prSet>
      <dgm:spPr/>
    </dgm:pt>
    <dgm:pt modelId="{50141F68-1D80-4104-8455-28BA4B6C1EF1}" type="pres">
      <dgm:prSet presAssocID="{4E1B4906-0D9B-4388-8B7C-531589689F9D}" presName="arrow" presStyleLbl="bgShp" presStyleIdx="0" presStyleCnt="1"/>
      <dgm:spPr/>
    </dgm:pt>
    <dgm:pt modelId="{709DDFE9-A44D-4F5A-AE79-4051C0486377}" type="pres">
      <dgm:prSet presAssocID="{4E1B4906-0D9B-4388-8B7C-531589689F9D}" presName="linearProcess" presStyleCnt="0"/>
      <dgm:spPr/>
    </dgm:pt>
    <dgm:pt modelId="{3718AE80-5546-41DB-8749-DB64ED374013}" type="pres">
      <dgm:prSet presAssocID="{46F20046-8163-4605-8378-2BEC5C19DFC6}" presName="textNode" presStyleLbl="node1" presStyleIdx="0" presStyleCnt="2">
        <dgm:presLayoutVars>
          <dgm:bulletEnabled val="1"/>
        </dgm:presLayoutVars>
      </dgm:prSet>
      <dgm:spPr/>
    </dgm:pt>
    <dgm:pt modelId="{A09FB139-D8BA-410C-A2D5-3937951F6DA1}" type="pres">
      <dgm:prSet presAssocID="{A287AFAD-0AC1-4E7A-A35D-E4704CCDDA41}" presName="sibTrans" presStyleCnt="0"/>
      <dgm:spPr/>
    </dgm:pt>
    <dgm:pt modelId="{47F5B463-D5D0-41EF-AF2C-1A8D41D6384B}" type="pres">
      <dgm:prSet presAssocID="{444F92FB-0B89-4C95-B842-9DC570560EFF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D122EB1F-0148-4763-8BD7-B2F0366DA5B1}" srcId="{4E1B4906-0D9B-4388-8B7C-531589689F9D}" destId="{444F92FB-0B89-4C95-B842-9DC570560EFF}" srcOrd="1" destOrd="0" parTransId="{9060A309-D2A0-4544-9928-858851608B01}" sibTransId="{7BB893A2-F3B8-425A-B343-1B76636D2D88}"/>
    <dgm:cxn modelId="{82EB3165-0EBF-422C-BAC9-86751581EDBD}" type="presOf" srcId="{46F20046-8163-4605-8378-2BEC5C19DFC6}" destId="{3718AE80-5546-41DB-8749-DB64ED374013}" srcOrd="0" destOrd="0" presId="urn:microsoft.com/office/officeart/2005/8/layout/hProcess9"/>
    <dgm:cxn modelId="{B6C77157-7190-47A2-8629-FFFD1FD9ED5A}" type="presOf" srcId="{4E1B4906-0D9B-4388-8B7C-531589689F9D}" destId="{5EE94076-BB73-405A-B845-50270425764A}" srcOrd="0" destOrd="0" presId="urn:microsoft.com/office/officeart/2005/8/layout/hProcess9"/>
    <dgm:cxn modelId="{D946B198-9241-4DAC-850E-3837499BA2EC}" srcId="{4E1B4906-0D9B-4388-8B7C-531589689F9D}" destId="{46F20046-8163-4605-8378-2BEC5C19DFC6}" srcOrd="0" destOrd="0" parTransId="{855A04E2-2B8B-488A-A651-1186B95CDA38}" sibTransId="{A287AFAD-0AC1-4E7A-A35D-E4704CCDDA41}"/>
    <dgm:cxn modelId="{6921DFBA-A0E7-44DD-AE35-6E34EF16FA93}" type="presOf" srcId="{444F92FB-0B89-4C95-B842-9DC570560EFF}" destId="{47F5B463-D5D0-41EF-AF2C-1A8D41D6384B}" srcOrd="0" destOrd="0" presId="urn:microsoft.com/office/officeart/2005/8/layout/hProcess9"/>
    <dgm:cxn modelId="{0F25CBB6-B894-4079-87AA-8997D8EE3379}" type="presParOf" srcId="{5EE94076-BB73-405A-B845-50270425764A}" destId="{50141F68-1D80-4104-8455-28BA4B6C1EF1}" srcOrd="0" destOrd="0" presId="urn:microsoft.com/office/officeart/2005/8/layout/hProcess9"/>
    <dgm:cxn modelId="{8093192C-FCE1-4C56-9B8D-E9A675630674}" type="presParOf" srcId="{5EE94076-BB73-405A-B845-50270425764A}" destId="{709DDFE9-A44D-4F5A-AE79-4051C0486377}" srcOrd="1" destOrd="0" presId="urn:microsoft.com/office/officeart/2005/8/layout/hProcess9"/>
    <dgm:cxn modelId="{B8E1A752-F91B-46E5-B67F-CAA1A9A41EBB}" type="presParOf" srcId="{709DDFE9-A44D-4F5A-AE79-4051C0486377}" destId="{3718AE80-5546-41DB-8749-DB64ED374013}" srcOrd="0" destOrd="0" presId="urn:microsoft.com/office/officeart/2005/8/layout/hProcess9"/>
    <dgm:cxn modelId="{9D507FAA-DA19-4B76-B6A8-360F1FBCD942}" type="presParOf" srcId="{709DDFE9-A44D-4F5A-AE79-4051C0486377}" destId="{A09FB139-D8BA-410C-A2D5-3937951F6DA1}" srcOrd="1" destOrd="0" presId="urn:microsoft.com/office/officeart/2005/8/layout/hProcess9"/>
    <dgm:cxn modelId="{200FA78D-D273-40A8-9783-486213D877D0}" type="presParOf" srcId="{709DDFE9-A44D-4F5A-AE79-4051C0486377}" destId="{47F5B463-D5D0-41EF-AF2C-1A8D41D6384B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6A3E0F-9901-48B1-A3BE-ADC5C91994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74870D06-5D02-4C87-A522-91F9490D689D}">
      <dgm:prSet/>
      <dgm:spPr/>
      <dgm:t>
        <a:bodyPr/>
        <a:lstStyle/>
        <a:p>
          <a:r>
            <a:rPr lang="zh-CN" b="1"/>
            <a:t>数据集纯度</a:t>
          </a:r>
          <a:endParaRPr lang="zh-CN"/>
        </a:p>
      </dgm:t>
    </dgm:pt>
    <dgm:pt modelId="{61F9ADE8-8AD4-4E75-8615-D71F8A3D8E17}" type="parTrans" cxnId="{BB85C50A-2788-4D7F-B9FC-771A1F99C644}">
      <dgm:prSet/>
      <dgm:spPr/>
      <dgm:t>
        <a:bodyPr/>
        <a:lstStyle/>
        <a:p>
          <a:endParaRPr lang="zh-CN" altLang="en-US"/>
        </a:p>
      </dgm:t>
    </dgm:pt>
    <dgm:pt modelId="{05781079-22A6-4887-BA45-25E5C71E6A9D}" type="sibTrans" cxnId="{BB85C50A-2788-4D7F-B9FC-771A1F99C644}">
      <dgm:prSet/>
      <dgm:spPr/>
      <dgm:t>
        <a:bodyPr/>
        <a:lstStyle/>
        <a:p>
          <a:endParaRPr lang="zh-CN" altLang="en-US"/>
        </a:p>
      </dgm:t>
    </dgm:pt>
    <dgm:pt modelId="{6F202C77-9BB7-41F0-AA02-7D8A42B649DA}">
      <dgm:prSet/>
      <dgm:spPr/>
      <dgm:t>
        <a:bodyPr/>
        <a:lstStyle/>
        <a:p>
          <a:r>
            <a:rPr lang="zh-CN" dirty="0"/>
            <a:t>用于衡量数据集中样本的类别分布是否均匀；数据集的纯度越高，说明数据集中样本的类别越单一；反之，纯度越低，说明数据集中样本的类别分布越混乱</a:t>
          </a:r>
        </a:p>
      </dgm:t>
    </dgm:pt>
    <dgm:pt modelId="{11EBD097-553B-4233-8161-A6D711E2265B}" type="parTrans" cxnId="{EDC9F8A1-8340-4D16-B311-D2817D982B31}">
      <dgm:prSet/>
      <dgm:spPr/>
      <dgm:t>
        <a:bodyPr/>
        <a:lstStyle/>
        <a:p>
          <a:endParaRPr lang="zh-CN" altLang="en-US"/>
        </a:p>
      </dgm:t>
    </dgm:pt>
    <dgm:pt modelId="{E89900D1-5DBD-4A64-BB00-96DFFA9C3CDE}" type="sibTrans" cxnId="{EDC9F8A1-8340-4D16-B311-D2817D982B31}">
      <dgm:prSet/>
      <dgm:spPr/>
      <dgm:t>
        <a:bodyPr/>
        <a:lstStyle/>
        <a:p>
          <a:endParaRPr lang="zh-CN" altLang="en-US"/>
        </a:p>
      </dgm:t>
    </dgm:pt>
    <dgm:pt modelId="{6A6A05DB-9084-439E-86E6-361F029136EA}" type="pres">
      <dgm:prSet presAssocID="{9C6A3E0F-9901-48B1-A3BE-ADC5C9199457}" presName="linear" presStyleCnt="0">
        <dgm:presLayoutVars>
          <dgm:animLvl val="lvl"/>
          <dgm:resizeHandles val="exact"/>
        </dgm:presLayoutVars>
      </dgm:prSet>
      <dgm:spPr/>
    </dgm:pt>
    <dgm:pt modelId="{69AD0FDF-743F-40D1-B29B-2FBABA61E703}" type="pres">
      <dgm:prSet presAssocID="{74870D06-5D02-4C87-A522-91F9490D68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E994E59-1B5C-4EB9-A450-E50380E6506A}" type="pres">
      <dgm:prSet presAssocID="{74870D06-5D02-4C87-A522-91F9490D68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B85C50A-2788-4D7F-B9FC-771A1F99C644}" srcId="{9C6A3E0F-9901-48B1-A3BE-ADC5C9199457}" destId="{74870D06-5D02-4C87-A522-91F9490D689D}" srcOrd="0" destOrd="0" parTransId="{61F9ADE8-8AD4-4E75-8615-D71F8A3D8E17}" sibTransId="{05781079-22A6-4887-BA45-25E5C71E6A9D}"/>
    <dgm:cxn modelId="{BAFB0C89-BE74-4F7D-8BA9-31C8B122F025}" type="presOf" srcId="{74870D06-5D02-4C87-A522-91F9490D689D}" destId="{69AD0FDF-743F-40D1-B29B-2FBABA61E703}" srcOrd="0" destOrd="0" presId="urn:microsoft.com/office/officeart/2005/8/layout/vList2"/>
    <dgm:cxn modelId="{EDC9F8A1-8340-4D16-B311-D2817D982B31}" srcId="{74870D06-5D02-4C87-A522-91F9490D689D}" destId="{6F202C77-9BB7-41F0-AA02-7D8A42B649DA}" srcOrd="0" destOrd="0" parTransId="{11EBD097-553B-4233-8161-A6D711E2265B}" sibTransId="{E89900D1-5DBD-4A64-BB00-96DFFA9C3CDE}"/>
    <dgm:cxn modelId="{053755AB-5242-40ED-A4C3-24E62B706175}" type="presOf" srcId="{9C6A3E0F-9901-48B1-A3BE-ADC5C9199457}" destId="{6A6A05DB-9084-439E-86E6-361F029136EA}" srcOrd="0" destOrd="0" presId="urn:microsoft.com/office/officeart/2005/8/layout/vList2"/>
    <dgm:cxn modelId="{CD8843E0-87D6-4631-9ECF-1BE8D2D48566}" type="presOf" srcId="{6F202C77-9BB7-41F0-AA02-7D8A42B649DA}" destId="{FE994E59-1B5C-4EB9-A450-E50380E6506A}" srcOrd="0" destOrd="0" presId="urn:microsoft.com/office/officeart/2005/8/layout/vList2"/>
    <dgm:cxn modelId="{6A8FA809-9BC6-4AAA-A5B3-01DEDED4C008}" type="presParOf" srcId="{6A6A05DB-9084-439E-86E6-361F029136EA}" destId="{69AD0FDF-743F-40D1-B29B-2FBABA61E703}" srcOrd="0" destOrd="0" presId="urn:microsoft.com/office/officeart/2005/8/layout/vList2"/>
    <dgm:cxn modelId="{E91C58C2-FC7F-4292-B8A9-5FB7B1C1B4D0}" type="presParOf" srcId="{6A6A05DB-9084-439E-86E6-361F029136EA}" destId="{FE994E59-1B5C-4EB9-A450-E50380E6506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8BA46F-BAE1-45E5-B136-9EBEDDEA1FE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B6B16076-6F9C-45F8-BC28-E258A95CCC09}">
      <dgm:prSet/>
      <dgm:spPr/>
      <dgm:t>
        <a:bodyPr/>
        <a:lstStyle/>
        <a:p>
          <a:r>
            <a:rPr lang="en-US" b="1"/>
            <a:t>信息熵：不确定性度量</a:t>
          </a:r>
          <a:endParaRPr lang="zh-CN"/>
        </a:p>
      </dgm:t>
    </dgm:pt>
    <dgm:pt modelId="{D4925774-2021-42E1-9304-409D6EE3648B}" type="parTrans" cxnId="{8AEA7460-B789-443B-9F85-8A3F00E63D41}">
      <dgm:prSet/>
      <dgm:spPr/>
      <dgm:t>
        <a:bodyPr/>
        <a:lstStyle/>
        <a:p>
          <a:endParaRPr lang="zh-CN" altLang="en-US"/>
        </a:p>
      </dgm:t>
    </dgm:pt>
    <dgm:pt modelId="{EE91C10C-F3C0-4DD3-AE50-2203AAE7B677}" type="sibTrans" cxnId="{8AEA7460-B789-443B-9F85-8A3F00E63D41}">
      <dgm:prSet/>
      <dgm:spPr/>
      <dgm:t>
        <a:bodyPr/>
        <a:lstStyle/>
        <a:p>
          <a:endParaRPr lang="zh-CN" altLang="en-US"/>
        </a:p>
      </dgm:t>
    </dgm:pt>
    <dgm:pt modelId="{72F612C3-3CDB-46A7-9705-9B442CB9880F}">
      <dgm:prSet/>
      <dgm:spPr/>
      <dgm:t>
        <a:bodyPr/>
        <a:lstStyle/>
        <a:p>
          <a:r>
            <a:rPr lang="en-US"/>
            <a:t>信息熵H(D)=-Σp_k log p_k，量化数据集D的不确定性，低熵表示高纯度。</a:t>
          </a:r>
          <a:endParaRPr lang="zh-CN"/>
        </a:p>
      </dgm:t>
    </dgm:pt>
    <dgm:pt modelId="{F52E603C-4754-462E-9C61-DD0DBEF29589}" type="parTrans" cxnId="{BB42CDB0-9AC8-400D-9493-E869BF743CC0}">
      <dgm:prSet/>
      <dgm:spPr/>
      <dgm:t>
        <a:bodyPr/>
        <a:lstStyle/>
        <a:p>
          <a:endParaRPr lang="zh-CN" altLang="en-US"/>
        </a:p>
      </dgm:t>
    </dgm:pt>
    <dgm:pt modelId="{CA76562C-570A-483E-9581-76D1A4D93CB5}" type="sibTrans" cxnId="{BB42CDB0-9AC8-400D-9493-E869BF743CC0}">
      <dgm:prSet/>
      <dgm:spPr/>
      <dgm:t>
        <a:bodyPr/>
        <a:lstStyle/>
        <a:p>
          <a:endParaRPr lang="zh-CN" altLang="en-US"/>
        </a:p>
      </dgm:t>
    </dgm:pt>
    <dgm:pt modelId="{D70F563D-B9D1-4BD0-89C7-46DF0466622F}" type="pres">
      <dgm:prSet presAssocID="{B58BA46F-BAE1-45E5-B136-9EBEDDEA1FE5}" presName="Name0" presStyleCnt="0">
        <dgm:presLayoutVars>
          <dgm:dir/>
          <dgm:animLvl val="lvl"/>
          <dgm:resizeHandles val="exact"/>
        </dgm:presLayoutVars>
      </dgm:prSet>
      <dgm:spPr/>
    </dgm:pt>
    <dgm:pt modelId="{D8815885-3DF4-4B71-A034-43552CE5B93C}" type="pres">
      <dgm:prSet presAssocID="{B6B16076-6F9C-45F8-BC28-E258A95CCC09}" presName="composite" presStyleCnt="0"/>
      <dgm:spPr/>
    </dgm:pt>
    <dgm:pt modelId="{0E29ABFE-C626-4DF0-8DEE-9979EE6B29B1}" type="pres">
      <dgm:prSet presAssocID="{B6B16076-6F9C-45F8-BC28-E258A95CCC0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07931CB-3C86-43A9-8C2C-B0B58B921DCC}" type="pres">
      <dgm:prSet presAssocID="{B6B16076-6F9C-45F8-BC28-E258A95CCC09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AEA7460-B789-443B-9F85-8A3F00E63D41}" srcId="{B58BA46F-BAE1-45E5-B136-9EBEDDEA1FE5}" destId="{B6B16076-6F9C-45F8-BC28-E258A95CCC09}" srcOrd="0" destOrd="0" parTransId="{D4925774-2021-42E1-9304-409D6EE3648B}" sibTransId="{EE91C10C-F3C0-4DD3-AE50-2203AAE7B677}"/>
    <dgm:cxn modelId="{11B2C493-1CBB-4B2C-A37D-F38E13B2C63E}" type="presOf" srcId="{72F612C3-3CDB-46A7-9705-9B442CB9880F}" destId="{707931CB-3C86-43A9-8C2C-B0B58B921DCC}" srcOrd="0" destOrd="0" presId="urn:microsoft.com/office/officeart/2005/8/layout/hList1"/>
    <dgm:cxn modelId="{BB42CDB0-9AC8-400D-9493-E869BF743CC0}" srcId="{B6B16076-6F9C-45F8-BC28-E258A95CCC09}" destId="{72F612C3-3CDB-46A7-9705-9B442CB9880F}" srcOrd="0" destOrd="0" parTransId="{F52E603C-4754-462E-9C61-DD0DBEF29589}" sibTransId="{CA76562C-570A-483E-9581-76D1A4D93CB5}"/>
    <dgm:cxn modelId="{2BC295B6-4818-42EF-9743-ABF608D8BBDC}" type="presOf" srcId="{B6B16076-6F9C-45F8-BC28-E258A95CCC09}" destId="{0E29ABFE-C626-4DF0-8DEE-9979EE6B29B1}" srcOrd="0" destOrd="0" presId="urn:microsoft.com/office/officeart/2005/8/layout/hList1"/>
    <dgm:cxn modelId="{3B0EFCD6-1D83-47F1-8411-1AFAED27B7C8}" type="presOf" srcId="{B58BA46F-BAE1-45E5-B136-9EBEDDEA1FE5}" destId="{D70F563D-B9D1-4BD0-89C7-46DF0466622F}" srcOrd="0" destOrd="0" presId="urn:microsoft.com/office/officeart/2005/8/layout/hList1"/>
    <dgm:cxn modelId="{8BF303EA-8CE6-49DA-B5FC-DFBEAF9AF959}" type="presParOf" srcId="{D70F563D-B9D1-4BD0-89C7-46DF0466622F}" destId="{D8815885-3DF4-4B71-A034-43552CE5B93C}" srcOrd="0" destOrd="0" presId="urn:microsoft.com/office/officeart/2005/8/layout/hList1"/>
    <dgm:cxn modelId="{1115C018-3170-493F-858A-D3D8E515B0ED}" type="presParOf" srcId="{D8815885-3DF4-4B71-A034-43552CE5B93C}" destId="{0E29ABFE-C626-4DF0-8DEE-9979EE6B29B1}" srcOrd="0" destOrd="0" presId="urn:microsoft.com/office/officeart/2005/8/layout/hList1"/>
    <dgm:cxn modelId="{A14CD34A-D2F1-4C3C-992F-6B2A66EA7DC7}" type="presParOf" srcId="{D8815885-3DF4-4B71-A034-43552CE5B93C}" destId="{707931CB-3C86-43A9-8C2C-B0B58B921D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58BA46F-BAE1-45E5-B136-9EBEDDEA1FE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6B16076-6F9C-45F8-BC28-E258A95CCC09}">
      <dgm:prSet/>
      <dgm:spPr/>
      <dgm:t>
        <a:bodyPr/>
        <a:lstStyle/>
        <a:p>
          <a:r>
            <a:rPr lang="zh-CN" altLang="en-US" b="1" dirty="0"/>
            <a:t>信息增益：减少不确定性</a:t>
          </a:r>
          <a:endParaRPr lang="zh-CN" dirty="0"/>
        </a:p>
      </dgm:t>
    </dgm:pt>
    <dgm:pt modelId="{D4925774-2021-42E1-9304-409D6EE3648B}" type="parTrans" cxnId="{8AEA7460-B789-443B-9F85-8A3F00E63D41}">
      <dgm:prSet/>
      <dgm:spPr/>
      <dgm:t>
        <a:bodyPr/>
        <a:lstStyle/>
        <a:p>
          <a:endParaRPr lang="zh-CN" altLang="en-US"/>
        </a:p>
      </dgm:t>
    </dgm:pt>
    <dgm:pt modelId="{EE91C10C-F3C0-4DD3-AE50-2203AAE7B677}" type="sibTrans" cxnId="{8AEA7460-B789-443B-9F85-8A3F00E63D41}">
      <dgm:prSet/>
      <dgm:spPr/>
      <dgm:t>
        <a:bodyPr/>
        <a:lstStyle/>
        <a:p>
          <a:endParaRPr lang="zh-CN" altLang="en-US"/>
        </a:p>
      </dgm:t>
    </dgm:pt>
    <dgm:pt modelId="{72F612C3-3CDB-46A7-9705-9B442CB9880F}">
      <dgm:prSet/>
      <dgm:spPr/>
      <dgm:t>
        <a:bodyPr/>
        <a:lstStyle/>
        <a:p>
          <a:r>
            <a:rPr lang="zh-CN" altLang="en-US" dirty="0"/>
            <a:t>信息增益衡量的是在使用某个特征进行分裂后，数据集的混乱程度（熵）减少了多少</a:t>
          </a:r>
          <a:endParaRPr lang="zh-CN" dirty="0"/>
        </a:p>
      </dgm:t>
    </dgm:pt>
    <dgm:pt modelId="{F52E603C-4754-462E-9C61-DD0DBEF29589}" type="parTrans" cxnId="{BB42CDB0-9AC8-400D-9493-E869BF743CC0}">
      <dgm:prSet/>
      <dgm:spPr/>
      <dgm:t>
        <a:bodyPr/>
        <a:lstStyle/>
        <a:p>
          <a:endParaRPr lang="zh-CN" altLang="en-US"/>
        </a:p>
      </dgm:t>
    </dgm:pt>
    <dgm:pt modelId="{CA76562C-570A-483E-9581-76D1A4D93CB5}" type="sibTrans" cxnId="{BB42CDB0-9AC8-400D-9493-E869BF743CC0}">
      <dgm:prSet/>
      <dgm:spPr/>
      <dgm:t>
        <a:bodyPr/>
        <a:lstStyle/>
        <a:p>
          <a:endParaRPr lang="zh-CN" altLang="en-US"/>
        </a:p>
      </dgm:t>
    </dgm:pt>
    <dgm:pt modelId="{D70F563D-B9D1-4BD0-89C7-46DF0466622F}" type="pres">
      <dgm:prSet presAssocID="{B58BA46F-BAE1-45E5-B136-9EBEDDEA1FE5}" presName="Name0" presStyleCnt="0">
        <dgm:presLayoutVars>
          <dgm:dir/>
          <dgm:animLvl val="lvl"/>
          <dgm:resizeHandles val="exact"/>
        </dgm:presLayoutVars>
      </dgm:prSet>
      <dgm:spPr/>
    </dgm:pt>
    <dgm:pt modelId="{D8815885-3DF4-4B71-A034-43552CE5B93C}" type="pres">
      <dgm:prSet presAssocID="{B6B16076-6F9C-45F8-BC28-E258A95CCC09}" presName="composite" presStyleCnt="0"/>
      <dgm:spPr/>
    </dgm:pt>
    <dgm:pt modelId="{0E29ABFE-C626-4DF0-8DEE-9979EE6B29B1}" type="pres">
      <dgm:prSet presAssocID="{B6B16076-6F9C-45F8-BC28-E258A95CCC0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07931CB-3C86-43A9-8C2C-B0B58B921DCC}" type="pres">
      <dgm:prSet presAssocID="{B6B16076-6F9C-45F8-BC28-E258A95CCC09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AEA7460-B789-443B-9F85-8A3F00E63D41}" srcId="{B58BA46F-BAE1-45E5-B136-9EBEDDEA1FE5}" destId="{B6B16076-6F9C-45F8-BC28-E258A95CCC09}" srcOrd="0" destOrd="0" parTransId="{D4925774-2021-42E1-9304-409D6EE3648B}" sibTransId="{EE91C10C-F3C0-4DD3-AE50-2203AAE7B677}"/>
    <dgm:cxn modelId="{11B2C493-1CBB-4B2C-A37D-F38E13B2C63E}" type="presOf" srcId="{72F612C3-3CDB-46A7-9705-9B442CB9880F}" destId="{707931CB-3C86-43A9-8C2C-B0B58B921DCC}" srcOrd="0" destOrd="0" presId="urn:microsoft.com/office/officeart/2005/8/layout/hList1"/>
    <dgm:cxn modelId="{BB42CDB0-9AC8-400D-9493-E869BF743CC0}" srcId="{B6B16076-6F9C-45F8-BC28-E258A95CCC09}" destId="{72F612C3-3CDB-46A7-9705-9B442CB9880F}" srcOrd="0" destOrd="0" parTransId="{F52E603C-4754-462E-9C61-DD0DBEF29589}" sibTransId="{CA76562C-570A-483E-9581-76D1A4D93CB5}"/>
    <dgm:cxn modelId="{2BC295B6-4818-42EF-9743-ABF608D8BBDC}" type="presOf" srcId="{B6B16076-6F9C-45F8-BC28-E258A95CCC09}" destId="{0E29ABFE-C626-4DF0-8DEE-9979EE6B29B1}" srcOrd="0" destOrd="0" presId="urn:microsoft.com/office/officeart/2005/8/layout/hList1"/>
    <dgm:cxn modelId="{3B0EFCD6-1D83-47F1-8411-1AFAED27B7C8}" type="presOf" srcId="{B58BA46F-BAE1-45E5-B136-9EBEDDEA1FE5}" destId="{D70F563D-B9D1-4BD0-89C7-46DF0466622F}" srcOrd="0" destOrd="0" presId="urn:microsoft.com/office/officeart/2005/8/layout/hList1"/>
    <dgm:cxn modelId="{8BF303EA-8CE6-49DA-B5FC-DFBEAF9AF959}" type="presParOf" srcId="{D70F563D-B9D1-4BD0-89C7-46DF0466622F}" destId="{D8815885-3DF4-4B71-A034-43552CE5B93C}" srcOrd="0" destOrd="0" presId="urn:microsoft.com/office/officeart/2005/8/layout/hList1"/>
    <dgm:cxn modelId="{1115C018-3170-493F-858A-D3D8E515B0ED}" type="presParOf" srcId="{D8815885-3DF4-4B71-A034-43552CE5B93C}" destId="{0E29ABFE-C626-4DF0-8DEE-9979EE6B29B1}" srcOrd="0" destOrd="0" presId="urn:microsoft.com/office/officeart/2005/8/layout/hList1"/>
    <dgm:cxn modelId="{A14CD34A-D2F1-4C3C-992F-6B2A66EA7DC7}" type="presParOf" srcId="{D8815885-3DF4-4B71-A034-43552CE5B93C}" destId="{707931CB-3C86-43A9-8C2C-B0B58B921D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8BA46F-BAE1-45E5-B136-9EBEDDEA1FE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6B16076-6F9C-45F8-BC28-E258A95CCC09}">
      <dgm:prSet/>
      <dgm:spPr/>
      <dgm:t>
        <a:bodyPr/>
        <a:lstStyle/>
        <a:p>
          <a:r>
            <a:rPr lang="zh-CN" altLang="en-US" b="1" dirty="0"/>
            <a:t>基尼指数：衡量不纯度</a:t>
          </a:r>
          <a:endParaRPr lang="zh-CN" dirty="0"/>
        </a:p>
      </dgm:t>
    </dgm:pt>
    <dgm:pt modelId="{D4925774-2021-42E1-9304-409D6EE3648B}" type="parTrans" cxnId="{8AEA7460-B789-443B-9F85-8A3F00E63D41}">
      <dgm:prSet/>
      <dgm:spPr/>
      <dgm:t>
        <a:bodyPr/>
        <a:lstStyle/>
        <a:p>
          <a:endParaRPr lang="zh-CN" altLang="en-US"/>
        </a:p>
      </dgm:t>
    </dgm:pt>
    <dgm:pt modelId="{EE91C10C-F3C0-4DD3-AE50-2203AAE7B677}" type="sibTrans" cxnId="{8AEA7460-B789-443B-9F85-8A3F00E63D41}">
      <dgm:prSet/>
      <dgm:spPr/>
      <dgm:t>
        <a:bodyPr/>
        <a:lstStyle/>
        <a:p>
          <a:endParaRPr lang="zh-CN" altLang="en-US"/>
        </a:p>
      </dgm:t>
    </dgm:pt>
    <dgm:pt modelId="{72F612C3-3CDB-46A7-9705-9B442CB9880F}">
      <dgm:prSet/>
      <dgm:spPr/>
      <dgm:t>
        <a:bodyPr/>
        <a:lstStyle/>
        <a:p>
          <a:r>
            <a:rPr lang="zh-CN" altLang="en-US" dirty="0"/>
            <a:t>随机抽取两个样本，它们属于不同类别的概率；一个数据集完全纯净（即所有样本都属于同一类别），那么基尼指数为</a:t>
          </a:r>
          <a:r>
            <a:rPr lang="en-US" altLang="en-US" dirty="0"/>
            <a:t>0</a:t>
          </a:r>
          <a:r>
            <a:rPr lang="zh-CN" altLang="en-US" dirty="0"/>
            <a:t>；如果数据集非常混乱（即样本均匀分布在多个类别中），那么基尼指数会接近</a:t>
          </a:r>
          <a:r>
            <a:rPr lang="en-US" altLang="en-US" dirty="0"/>
            <a:t>1</a:t>
          </a:r>
          <a:endParaRPr lang="zh-CN" dirty="0"/>
        </a:p>
      </dgm:t>
    </dgm:pt>
    <dgm:pt modelId="{F52E603C-4754-462E-9C61-DD0DBEF29589}" type="parTrans" cxnId="{BB42CDB0-9AC8-400D-9493-E869BF743CC0}">
      <dgm:prSet/>
      <dgm:spPr/>
      <dgm:t>
        <a:bodyPr/>
        <a:lstStyle/>
        <a:p>
          <a:endParaRPr lang="zh-CN" altLang="en-US"/>
        </a:p>
      </dgm:t>
    </dgm:pt>
    <dgm:pt modelId="{CA76562C-570A-483E-9581-76D1A4D93CB5}" type="sibTrans" cxnId="{BB42CDB0-9AC8-400D-9493-E869BF743CC0}">
      <dgm:prSet/>
      <dgm:spPr/>
      <dgm:t>
        <a:bodyPr/>
        <a:lstStyle/>
        <a:p>
          <a:endParaRPr lang="zh-CN" altLang="en-US"/>
        </a:p>
      </dgm:t>
    </dgm:pt>
    <dgm:pt modelId="{D70F563D-B9D1-4BD0-89C7-46DF0466622F}" type="pres">
      <dgm:prSet presAssocID="{B58BA46F-BAE1-45E5-B136-9EBEDDEA1FE5}" presName="Name0" presStyleCnt="0">
        <dgm:presLayoutVars>
          <dgm:dir/>
          <dgm:animLvl val="lvl"/>
          <dgm:resizeHandles val="exact"/>
        </dgm:presLayoutVars>
      </dgm:prSet>
      <dgm:spPr/>
    </dgm:pt>
    <dgm:pt modelId="{D8815885-3DF4-4B71-A034-43552CE5B93C}" type="pres">
      <dgm:prSet presAssocID="{B6B16076-6F9C-45F8-BC28-E258A95CCC09}" presName="composite" presStyleCnt="0"/>
      <dgm:spPr/>
    </dgm:pt>
    <dgm:pt modelId="{0E29ABFE-C626-4DF0-8DEE-9979EE6B29B1}" type="pres">
      <dgm:prSet presAssocID="{B6B16076-6F9C-45F8-BC28-E258A95CCC0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707931CB-3C86-43A9-8C2C-B0B58B921DCC}" type="pres">
      <dgm:prSet presAssocID="{B6B16076-6F9C-45F8-BC28-E258A95CCC09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AEA7460-B789-443B-9F85-8A3F00E63D41}" srcId="{B58BA46F-BAE1-45E5-B136-9EBEDDEA1FE5}" destId="{B6B16076-6F9C-45F8-BC28-E258A95CCC09}" srcOrd="0" destOrd="0" parTransId="{D4925774-2021-42E1-9304-409D6EE3648B}" sibTransId="{EE91C10C-F3C0-4DD3-AE50-2203AAE7B677}"/>
    <dgm:cxn modelId="{11B2C493-1CBB-4B2C-A37D-F38E13B2C63E}" type="presOf" srcId="{72F612C3-3CDB-46A7-9705-9B442CB9880F}" destId="{707931CB-3C86-43A9-8C2C-B0B58B921DCC}" srcOrd="0" destOrd="0" presId="urn:microsoft.com/office/officeart/2005/8/layout/hList1"/>
    <dgm:cxn modelId="{BB42CDB0-9AC8-400D-9493-E869BF743CC0}" srcId="{B6B16076-6F9C-45F8-BC28-E258A95CCC09}" destId="{72F612C3-3CDB-46A7-9705-9B442CB9880F}" srcOrd="0" destOrd="0" parTransId="{F52E603C-4754-462E-9C61-DD0DBEF29589}" sibTransId="{CA76562C-570A-483E-9581-76D1A4D93CB5}"/>
    <dgm:cxn modelId="{2BC295B6-4818-42EF-9743-ABF608D8BBDC}" type="presOf" srcId="{B6B16076-6F9C-45F8-BC28-E258A95CCC09}" destId="{0E29ABFE-C626-4DF0-8DEE-9979EE6B29B1}" srcOrd="0" destOrd="0" presId="urn:microsoft.com/office/officeart/2005/8/layout/hList1"/>
    <dgm:cxn modelId="{3B0EFCD6-1D83-47F1-8411-1AFAED27B7C8}" type="presOf" srcId="{B58BA46F-BAE1-45E5-B136-9EBEDDEA1FE5}" destId="{D70F563D-B9D1-4BD0-89C7-46DF0466622F}" srcOrd="0" destOrd="0" presId="urn:microsoft.com/office/officeart/2005/8/layout/hList1"/>
    <dgm:cxn modelId="{8BF303EA-8CE6-49DA-B5FC-DFBEAF9AF959}" type="presParOf" srcId="{D70F563D-B9D1-4BD0-89C7-46DF0466622F}" destId="{D8815885-3DF4-4B71-A034-43552CE5B93C}" srcOrd="0" destOrd="0" presId="urn:microsoft.com/office/officeart/2005/8/layout/hList1"/>
    <dgm:cxn modelId="{1115C018-3170-493F-858A-D3D8E515B0ED}" type="presParOf" srcId="{D8815885-3DF4-4B71-A034-43552CE5B93C}" destId="{0E29ABFE-C626-4DF0-8DEE-9979EE6B29B1}" srcOrd="0" destOrd="0" presId="urn:microsoft.com/office/officeart/2005/8/layout/hList1"/>
    <dgm:cxn modelId="{A14CD34A-D2F1-4C3C-992F-6B2A66EA7DC7}" type="presParOf" srcId="{D8815885-3DF4-4B71-A034-43552CE5B93C}" destId="{707931CB-3C86-43A9-8C2C-B0B58B921D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8EDEF-AB98-401A-8BFF-BF0B6731BE7C}">
      <dsp:nvSpPr>
        <dsp:cNvPr id="0" name=""/>
        <dsp:cNvSpPr/>
      </dsp:nvSpPr>
      <dsp:spPr>
        <a:xfrm>
          <a:off x="0" y="0"/>
          <a:ext cx="3048000" cy="30480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654FDB-E0E1-41A7-9A0F-BE21AFDFCA97}">
      <dsp:nvSpPr>
        <dsp:cNvPr id="0" name=""/>
        <dsp:cNvSpPr/>
      </dsp:nvSpPr>
      <dsp:spPr>
        <a:xfrm>
          <a:off x="1524000" y="0"/>
          <a:ext cx="6602450" cy="304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kern="1200" dirty="0"/>
            <a:t>周末到了，石榴同学正在思考如何安排自己的时间。她列出了几个可能的活动选项：去公园散步、在家看电影、去图书馆学习，或者和朋友一起喝咖啡。然而，她的选择会受到一些条件的影响，比如天气状况（晴天、阴天、雨天）、是否有朋友约她（是/否）以及她的心情（开心、一般、疲惫）</a:t>
          </a:r>
        </a:p>
      </dsp:txBody>
      <dsp:txXfrm>
        <a:off x="1524000" y="0"/>
        <a:ext cx="6602450" cy="1447800"/>
      </dsp:txXfrm>
    </dsp:sp>
    <dsp:sp modelId="{0F353882-DACC-4941-9E16-B490D8375A9F}">
      <dsp:nvSpPr>
        <dsp:cNvPr id="0" name=""/>
        <dsp:cNvSpPr/>
      </dsp:nvSpPr>
      <dsp:spPr>
        <a:xfrm>
          <a:off x="800100" y="1447800"/>
          <a:ext cx="1447800" cy="14478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76BEA48-3502-4392-AC0C-7834FF24617A}">
      <dsp:nvSpPr>
        <dsp:cNvPr id="0" name=""/>
        <dsp:cNvSpPr/>
      </dsp:nvSpPr>
      <dsp:spPr>
        <a:xfrm>
          <a:off x="1524000" y="1447800"/>
          <a:ext cx="6602450" cy="144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她首先问自己：“今天天气怎么样？” 如果是晴天，她可能会倾向于去公园散步；如果是雨天，她更愿意选择在家看电影或去图书馆学习。接着，她又考虑了其他因素，比如“是否有朋友约我？” 和“我现在的心情如何？”。通过一步步提问，石榴同学最终得到了一个清晰的行动计划。</a:t>
          </a:r>
          <a:endParaRPr lang="zh-CN" sz="1600" kern="1200" dirty="0"/>
        </a:p>
      </dsp:txBody>
      <dsp:txXfrm>
        <a:off x="1524000" y="1447800"/>
        <a:ext cx="6602450" cy="1447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41F68-1D80-4104-8455-28BA4B6C1EF1}">
      <dsp:nvSpPr>
        <dsp:cNvPr id="0" name=""/>
        <dsp:cNvSpPr/>
      </dsp:nvSpPr>
      <dsp:spPr>
        <a:xfrm>
          <a:off x="580142" y="0"/>
          <a:ext cx="6574946" cy="315777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18AE80-5546-41DB-8749-DB64ED374013}">
      <dsp:nvSpPr>
        <dsp:cNvPr id="0" name=""/>
        <dsp:cNvSpPr/>
      </dsp:nvSpPr>
      <dsp:spPr>
        <a:xfrm>
          <a:off x="94" y="947331"/>
          <a:ext cx="3773191" cy="12631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决策树的构建过程类似于人类面对问题时的思考方式，先考虑主要因素，再细化至具体细节，直至做出决定。</a:t>
          </a:r>
          <a:endParaRPr lang="zh-CN" sz="1700" kern="1200"/>
        </a:p>
      </dsp:txBody>
      <dsp:txXfrm>
        <a:off x="61754" y="1008991"/>
        <a:ext cx="3649871" cy="1139788"/>
      </dsp:txXfrm>
    </dsp:sp>
    <dsp:sp modelId="{47F5B463-D5D0-41EF-AF2C-1A8D41D6384B}">
      <dsp:nvSpPr>
        <dsp:cNvPr id="0" name=""/>
        <dsp:cNvSpPr/>
      </dsp:nvSpPr>
      <dsp:spPr>
        <a:xfrm>
          <a:off x="3961945" y="947331"/>
          <a:ext cx="3773191" cy="12631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每个节点基于最佳特征进行分裂，直至满足停止条件，确保每个子节点的样本尽可能属于同一类别。</a:t>
          </a:r>
          <a:endParaRPr lang="zh-CN" sz="1700" kern="1200"/>
        </a:p>
      </dsp:txBody>
      <dsp:txXfrm>
        <a:off x="4023605" y="1008991"/>
        <a:ext cx="3649871" cy="1139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D0FDF-743F-40D1-B29B-2FBABA61E703}">
      <dsp:nvSpPr>
        <dsp:cNvPr id="0" name=""/>
        <dsp:cNvSpPr/>
      </dsp:nvSpPr>
      <dsp:spPr>
        <a:xfrm>
          <a:off x="0" y="4689"/>
          <a:ext cx="4503466" cy="605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1" kern="1200"/>
            <a:t>数据集纯度</a:t>
          </a:r>
          <a:endParaRPr lang="zh-CN" sz="2300" kern="1200"/>
        </a:p>
      </dsp:txBody>
      <dsp:txXfrm>
        <a:off x="29557" y="34246"/>
        <a:ext cx="4444352" cy="546360"/>
      </dsp:txXfrm>
    </dsp:sp>
    <dsp:sp modelId="{FE994E59-1B5C-4EB9-A450-E50380E6506A}">
      <dsp:nvSpPr>
        <dsp:cNvPr id="0" name=""/>
        <dsp:cNvSpPr/>
      </dsp:nvSpPr>
      <dsp:spPr>
        <a:xfrm>
          <a:off x="0" y="610164"/>
          <a:ext cx="4503466" cy="1190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8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kern="1200" dirty="0"/>
            <a:t>用于衡量数据集中样本的类别分布是否均匀；数据集的纯度越高，说明数据集中样本的类别越单一；反之，纯度越低，说明数据集中样本的类别分布越混乱</a:t>
          </a:r>
        </a:p>
      </dsp:txBody>
      <dsp:txXfrm>
        <a:off x="0" y="610164"/>
        <a:ext cx="4503466" cy="11902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9ABFE-C626-4DF0-8DEE-9979EE6B29B1}">
      <dsp:nvSpPr>
        <dsp:cNvPr id="0" name=""/>
        <dsp:cNvSpPr/>
      </dsp:nvSpPr>
      <dsp:spPr>
        <a:xfrm>
          <a:off x="0" y="29556"/>
          <a:ext cx="3783167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信息熵：不确定性度量</a:t>
          </a:r>
          <a:endParaRPr lang="zh-CN" sz="1800" kern="1200"/>
        </a:p>
      </dsp:txBody>
      <dsp:txXfrm>
        <a:off x="0" y="29556"/>
        <a:ext cx="3783167" cy="518400"/>
      </dsp:txXfrm>
    </dsp:sp>
    <dsp:sp modelId="{707931CB-3C86-43A9-8C2C-B0B58B921DCC}">
      <dsp:nvSpPr>
        <dsp:cNvPr id="0" name=""/>
        <dsp:cNvSpPr/>
      </dsp:nvSpPr>
      <dsp:spPr>
        <a:xfrm>
          <a:off x="0" y="547956"/>
          <a:ext cx="3783167" cy="13093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信息熵H(D)=-Σp_k log p_k，量化数据集D的不确定性，低熵表示高纯度。</a:t>
          </a:r>
          <a:endParaRPr lang="zh-CN" sz="1800" kern="1200"/>
        </a:p>
      </dsp:txBody>
      <dsp:txXfrm>
        <a:off x="0" y="547956"/>
        <a:ext cx="3783167" cy="13093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9ABFE-C626-4DF0-8DEE-9979EE6B29B1}">
      <dsp:nvSpPr>
        <dsp:cNvPr id="0" name=""/>
        <dsp:cNvSpPr/>
      </dsp:nvSpPr>
      <dsp:spPr>
        <a:xfrm>
          <a:off x="0" y="51539"/>
          <a:ext cx="3783167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/>
            <a:t>信息增益：减少不确定性</a:t>
          </a:r>
          <a:endParaRPr lang="zh-CN" sz="2000" kern="1200" dirty="0"/>
        </a:p>
      </dsp:txBody>
      <dsp:txXfrm>
        <a:off x="0" y="51539"/>
        <a:ext cx="3783167" cy="576000"/>
      </dsp:txXfrm>
    </dsp:sp>
    <dsp:sp modelId="{707931CB-3C86-43A9-8C2C-B0B58B921DCC}">
      <dsp:nvSpPr>
        <dsp:cNvPr id="0" name=""/>
        <dsp:cNvSpPr/>
      </dsp:nvSpPr>
      <dsp:spPr>
        <a:xfrm>
          <a:off x="0" y="627539"/>
          <a:ext cx="3783167" cy="12077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信息增益衡量的是在使用某个特征进行分裂后，数据集的混乱程度（熵）减少了多少</a:t>
          </a:r>
          <a:endParaRPr lang="zh-CN" sz="2000" kern="1200" dirty="0"/>
        </a:p>
      </dsp:txBody>
      <dsp:txXfrm>
        <a:off x="0" y="627539"/>
        <a:ext cx="3783167" cy="12077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9ABFE-C626-4DF0-8DEE-9979EE6B29B1}">
      <dsp:nvSpPr>
        <dsp:cNvPr id="0" name=""/>
        <dsp:cNvSpPr/>
      </dsp:nvSpPr>
      <dsp:spPr>
        <a:xfrm>
          <a:off x="0" y="51539"/>
          <a:ext cx="8027251" cy="576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/>
            <a:t>基尼指数：衡量不纯度</a:t>
          </a:r>
          <a:endParaRPr lang="zh-CN" sz="2000" kern="1200" dirty="0"/>
        </a:p>
      </dsp:txBody>
      <dsp:txXfrm>
        <a:off x="0" y="51539"/>
        <a:ext cx="8027251" cy="576000"/>
      </dsp:txXfrm>
    </dsp:sp>
    <dsp:sp modelId="{707931CB-3C86-43A9-8C2C-B0B58B921DCC}">
      <dsp:nvSpPr>
        <dsp:cNvPr id="0" name=""/>
        <dsp:cNvSpPr/>
      </dsp:nvSpPr>
      <dsp:spPr>
        <a:xfrm>
          <a:off x="0" y="627539"/>
          <a:ext cx="8027251" cy="12077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kern="1200" dirty="0"/>
            <a:t>随机抽取两个样本，它们属于不同类别的概率；一个数据集完全纯净（即所有样本都属于同一类别），那么基尼指数为</a:t>
          </a:r>
          <a:r>
            <a:rPr lang="en-US" altLang="en-US" sz="2000" kern="1200" dirty="0"/>
            <a:t>0</a:t>
          </a:r>
          <a:r>
            <a:rPr lang="zh-CN" altLang="en-US" sz="2000" kern="1200" dirty="0"/>
            <a:t>；如果数据集非常混乱（即样本均匀分布在多个类别中），那么基尼指数会接近</a:t>
          </a:r>
          <a:r>
            <a:rPr lang="en-US" altLang="en-US" sz="2000" kern="1200" dirty="0"/>
            <a:t>1</a:t>
          </a:r>
          <a:endParaRPr lang="zh-CN" sz="2000" kern="1200" dirty="0"/>
        </a:p>
      </dsp:txBody>
      <dsp:txXfrm>
        <a:off x="0" y="627539"/>
        <a:ext cx="8027251" cy="1207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784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30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61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12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35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61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07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18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50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610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392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86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841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357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10" Type="http://schemas.openxmlformats.org/officeDocument/2006/relationships/image" Target="../media/image8.png"/><Relationship Id="rId4" Type="http://schemas.openxmlformats.org/officeDocument/2006/relationships/diagramData" Target="../diagrams/data5.xml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决策树模型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882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决策树基础理论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决策树构建与优化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实践应用与案例分析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r>
              <a:rPr lang="en-US" sz="16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与进阶讨论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决策树基础理论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44753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2656" r="12656"/>
          <a:stretch/>
        </p:blipFill>
        <p:spPr>
          <a:xfrm>
            <a:off x="0" y="1"/>
            <a:ext cx="9144000" cy="5143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核心思想与实例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41156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20" name="图示 19">
            <a:extLst>
              <a:ext uri="{FF2B5EF4-FFF2-40B4-BE49-F238E27FC236}">
                <a16:creationId xmlns:a16="http://schemas.microsoft.com/office/drawing/2014/main" id="{1B53A5FA-F1E6-422A-9822-F75DC0B8D5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7462983"/>
              </p:ext>
            </p:extLst>
          </p:nvPr>
        </p:nvGraphicFramePr>
        <p:xfrm>
          <a:off x="571500" y="1226634"/>
          <a:ext cx="8126451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17312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44753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2656" r="12656"/>
          <a:stretch/>
        </p:blipFill>
        <p:spPr>
          <a:xfrm>
            <a:off x="0" y="1"/>
            <a:ext cx="9144000" cy="5143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核心思想与实例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41156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0E0FD6-A18E-42A1-969A-18D1C42CB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29520"/>
            <a:ext cx="7887793" cy="231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1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9144000" cy="44753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2656" r="12656"/>
          <a:stretch/>
        </p:blipFill>
        <p:spPr>
          <a:xfrm>
            <a:off x="0" y="1"/>
            <a:ext cx="9144000" cy="5143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核心思想与实例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>
            <a:extLst>
              <a:ext uri="{FF2B5EF4-FFF2-40B4-BE49-F238E27FC236}">
                <a16:creationId xmlns:a16="http://schemas.microsoft.com/office/drawing/2014/main" id="{3C919AC4-B4F5-4BDB-A8C9-0CCF7670F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2129565"/>
              </p:ext>
            </p:extLst>
          </p:nvPr>
        </p:nvGraphicFramePr>
        <p:xfrm>
          <a:off x="977589" y="1242778"/>
          <a:ext cx="7735231" cy="315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分裂准则与数学原理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9" name="图示 18">
            <a:extLst>
              <a:ext uri="{FF2B5EF4-FFF2-40B4-BE49-F238E27FC236}">
                <a16:creationId xmlns:a16="http://schemas.microsoft.com/office/drawing/2014/main" id="{2421C42B-AF7B-48C9-BB9F-E2FB087E4B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2126328"/>
              </p:ext>
            </p:extLst>
          </p:nvPr>
        </p:nvGraphicFramePr>
        <p:xfrm>
          <a:off x="626096" y="1302370"/>
          <a:ext cx="4503466" cy="1805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18D2B25-6B0B-41E6-9CF6-9CBCAF43AE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5941" y="2204921"/>
            <a:ext cx="3336618" cy="2565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分裂准则与数学原理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287CA50C-8717-4856-886E-F14E7E261E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2129556"/>
              </p:ext>
            </p:extLst>
          </p:nvPr>
        </p:nvGraphicFramePr>
        <p:xfrm>
          <a:off x="455110" y="1941704"/>
          <a:ext cx="3783167" cy="1886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DFD79D-BF75-4145-9DAD-4784771AD0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1904" y="1295400"/>
            <a:ext cx="4578468" cy="360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2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分裂准则与数学原理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287CA50C-8717-4856-886E-F14E7E261E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7436723"/>
              </p:ext>
            </p:extLst>
          </p:nvPr>
        </p:nvGraphicFramePr>
        <p:xfrm>
          <a:off x="455110" y="1941704"/>
          <a:ext cx="3783167" cy="1886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 4"/>
          <p:cNvSpPr/>
          <p:nvPr/>
        </p:nvSpPr>
        <p:spPr>
          <a:xfrm>
            <a:off x="752475" y="2733675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DFD79D-BF75-4145-9DAD-4784771AD0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1560549"/>
            <a:ext cx="4095325" cy="32225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97B890-2C3A-4A5C-AC6A-8D37AE87DD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951866"/>
            <a:ext cx="3473086" cy="66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3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分裂准则与数学原理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287CA50C-8717-4856-886E-F14E7E261E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075564"/>
              </p:ext>
            </p:extLst>
          </p:nvPr>
        </p:nvGraphicFramePr>
        <p:xfrm>
          <a:off x="574054" y="1480787"/>
          <a:ext cx="8027251" cy="1886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 4"/>
          <p:cNvSpPr/>
          <p:nvPr/>
        </p:nvSpPr>
        <p:spPr>
          <a:xfrm>
            <a:off x="871419" y="2272758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97B890-2C3A-4A5C-AC6A-8D37AE87DD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5087" y="3490949"/>
            <a:ext cx="3473086" cy="66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计算实例</a:t>
            </a:r>
            <a:endParaRPr lang="en-US" sz="22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40FF581-5560-4A25-B0B3-55DD52418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0" y="1592741"/>
            <a:ext cx="2524640" cy="301592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2FFFDA9-D53F-4E74-BECC-5BD9EC6A4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4740" y="1554985"/>
            <a:ext cx="5726706" cy="39494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56582F8-0DE3-448A-88C6-C4B7D3645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8803" y="2072199"/>
            <a:ext cx="3909780" cy="38893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57968D5-64FF-45A4-9404-644BED5782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803" y="2510481"/>
            <a:ext cx="3821076" cy="38210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D6F9DB6-918E-4E01-82B2-3EE09EAF3C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6010" y="2997167"/>
            <a:ext cx="4455648" cy="41622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541558CB-EFC2-4857-801E-E95073B6AB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7820" y="3413391"/>
            <a:ext cx="6120546" cy="107808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994550F-F5D7-4719-AA1D-7BBC250DF8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6865" y="4400550"/>
            <a:ext cx="5042456" cy="4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81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决策树构建与优化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树的生成流程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递归分裂步骤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5811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从根节点开始，基于特征选择标准递归地将数据集分为子集，直至满足终止条件。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91313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91313" y="15811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利用信息熵或基尼指数评估每个特征的信息增益，选择最佳分裂特征。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29125" y="24003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子集划分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29125" y="26479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根据选定特征的不同值，将数据集划分为多个子集，准备下一层分裂。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691313" y="24003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终止条件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91313" y="26479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当子集中所有样本属于同一类别或达到预设深度时，停止分裂，形成叶节点。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剪枝技术详解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预剪枝策略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限制树的生长，如设置最大深度或最小样本数，防止过拟合，提升模型泛化能力。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后剪枝方法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先构建完整树，再基于代价复杂度剪枝，优化ccp_alpha参数，平衡模型复杂度与准确性。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剪枝效果评估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对比剪枝前后，模型在训练集与测试集上的准确率，验证剪枝的有效性。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</a:t>
            </a: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580FDF8-F0C4-4CFC-9D35-2915D2854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31" y="1152092"/>
            <a:ext cx="2606520" cy="24973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23A13B8-CB7C-4E46-A645-81EBBBD00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915" y="1717087"/>
            <a:ext cx="4169067" cy="243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33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</a:t>
            </a: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</a:t>
            </a:r>
            <a:r>
              <a:rPr lang="en-US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580FDF8-F0C4-4CFC-9D35-2915D2854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98" y="1033084"/>
            <a:ext cx="2606520" cy="24973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CF4FD9-B85F-46E9-A6D7-D0256AD8C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782" y="1129790"/>
            <a:ext cx="2006065" cy="5322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F48A50-0AC4-4C82-98E9-020C2E92EB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813" y="1642300"/>
            <a:ext cx="3821076" cy="5799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EB45BEC-F531-4639-830D-F35FC21DC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6351" y="2447896"/>
            <a:ext cx="5936315" cy="34799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2039A5A-1160-40BD-821B-F08F83B788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702" y="2896909"/>
            <a:ext cx="5847612" cy="36846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F1E4A0B-4A6E-4876-9592-643A015A644E}"/>
              </a:ext>
            </a:extLst>
          </p:cNvPr>
          <p:cNvSpPr txBox="1"/>
          <p:nvPr/>
        </p:nvSpPr>
        <p:spPr>
          <a:xfrm>
            <a:off x="3367067" y="80812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节点的信息熵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31DA44-99EB-4F94-A963-42F9FB19F5DA}"/>
              </a:ext>
            </a:extLst>
          </p:cNvPr>
          <p:cNvSpPr txBox="1"/>
          <p:nvPr/>
        </p:nvSpPr>
        <p:spPr>
          <a:xfrm>
            <a:off x="3337928" y="2140444"/>
            <a:ext cx="4638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最佳特征进行分裂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1E013A-BC96-41B1-875E-4AAE701F154C}"/>
              </a:ext>
            </a:extLst>
          </p:cNvPr>
          <p:cNvSpPr txBox="1"/>
          <p:nvPr/>
        </p:nvSpPr>
        <p:spPr>
          <a:xfrm>
            <a:off x="3337928" y="3211425"/>
            <a:ext cx="4638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限制最大深度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6848C52-A311-42CC-A1B0-7E6605B4C4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6740" y="3211425"/>
            <a:ext cx="2720562" cy="18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37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实践应用与案例分析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830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分类任务：鸢尾花数据集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4072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176" y="4269581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数据集特征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9176" y="4560094"/>
            <a:ext cx="1333500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鸢尾花数据集包含花萼与花瓣的长度、宽度，这些特征用于识别三种不同的鸢尾花。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9176" y="1676549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9176" y="1967061"/>
            <a:ext cx="1333500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DecisionTreeClassifier 训练模型，通过给定的数据集学习如何区分不同种类的鸢尾花。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261324" y="4269432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模型可视化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261324" y="4559945"/>
            <a:ext cx="1333500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plot_tree 函数展示决策树结构，帮助理解模型的决策路径和规则。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261324" y="1676400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性能评估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61324" y="1966913"/>
            <a:ext cx="1333500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评估模型的准确率与分类报告，特别关注 Precision 和 Recall 指标，以全面了解模型性能。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745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分类任务：鸢尾花数据集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61945BF-70F9-42C9-B71B-CE631BED5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56" y="1393963"/>
            <a:ext cx="3145565" cy="208794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133B83D-703E-4D77-99B0-09122FC63B6F}"/>
              </a:ext>
            </a:extLst>
          </p:cNvPr>
          <p:cNvSpPr txBox="1"/>
          <p:nvPr/>
        </p:nvSpPr>
        <p:spPr>
          <a:xfrm>
            <a:off x="4012810" y="137784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数据加载与预处理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构建与训练决策树模型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模型评估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可视化决策树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441CA83-5ADA-4213-9B05-566EF0D37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0645" y="2848042"/>
            <a:ext cx="5356330" cy="275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10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745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分类任务：鸢尾花数据集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1936C61-FC89-4A07-AB83-FDE362F0D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037" y="1295400"/>
            <a:ext cx="7048378" cy="463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9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回归任务：加州房价预测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2000250"/>
            <a:ext cx="8382000" cy="1943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050" y="2107406"/>
            <a:ext cx="155733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MedInc影响显著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1050" y="2788444"/>
            <a:ext cx="1557338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MedInc在房价预测中具有显著影响，是决策树中的关键特征。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757488" y="2107406"/>
            <a:ext cx="155733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量化模型性能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57488" y="2788444"/>
            <a:ext cx="1557338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使用MSE与R²分数评估模型性能，确保预测精度与稳定性。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33925" y="2107406"/>
            <a:ext cx="155733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特征重要性图表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33925" y="2788444"/>
            <a:ext cx="155733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通过图表直观展示各特征对模型预测的影响程度。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710363" y="2107406"/>
            <a:ext cx="155733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决策树优势明显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10363" y="2788444"/>
            <a:ext cx="1557338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决策树在处理连续值与非线性关系方面表现出色，适用于回归任务。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回归任务：加州房价预测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4CAF7DB-D63D-426E-8144-B3F3F0D31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17" y="878159"/>
            <a:ext cx="3095082" cy="259358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34709FF-4C3E-4814-BF2A-FB8CCAE03063}"/>
              </a:ext>
            </a:extLst>
          </p:cNvPr>
          <p:cNvSpPr txBox="1"/>
          <p:nvPr/>
        </p:nvSpPr>
        <p:spPr>
          <a:xfrm>
            <a:off x="3746811" y="995970"/>
            <a:ext cx="46389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数据加载与预处理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构建与训练决策树模型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模型评估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可视化特征重要性</a:t>
            </a:r>
          </a:p>
        </p:txBody>
      </p:sp>
    </p:spTree>
    <p:extLst>
      <p:ext uri="{BB962C8B-B14F-4D97-AF65-F5344CB8AC3E}">
        <p14:creationId xmlns:p14="http://schemas.microsoft.com/office/powerpoint/2010/main" val="3741240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特征空间的划分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34709FF-4C3E-4814-BF2A-FB8CCAE03063}"/>
              </a:ext>
            </a:extLst>
          </p:cNvPr>
          <p:cNvSpPr txBox="1"/>
          <p:nvPr/>
        </p:nvSpPr>
        <p:spPr>
          <a:xfrm>
            <a:off x="4830848" y="1038135"/>
            <a:ext cx="38224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数据产生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构建与训练决策树模型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绘制边界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4B2A018-EB3F-4CCD-A586-1FF47C06B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29" y="952500"/>
            <a:ext cx="4680819" cy="356861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3AD58E-C82E-45AE-AC45-6E9FD76E2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848" y="2347964"/>
            <a:ext cx="3486131" cy="268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52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回归任务：加州房价预测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4CAF7DB-D63D-426E-8144-B3F3F0D31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17" y="878159"/>
            <a:ext cx="3095082" cy="259358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34709FF-4C3E-4814-BF2A-FB8CCAE03063}"/>
              </a:ext>
            </a:extLst>
          </p:cNvPr>
          <p:cNvSpPr txBox="1"/>
          <p:nvPr/>
        </p:nvSpPr>
        <p:spPr>
          <a:xfrm>
            <a:off x="3746811" y="995970"/>
            <a:ext cx="46389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数据加载与预处理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构建与训练决策树模型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模型评估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可视化特征重要性</a:t>
            </a:r>
          </a:p>
        </p:txBody>
      </p:sp>
    </p:spTree>
    <p:extLst>
      <p:ext uri="{BB962C8B-B14F-4D97-AF65-F5344CB8AC3E}">
        <p14:creationId xmlns:p14="http://schemas.microsoft.com/office/powerpoint/2010/main" val="1939737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r>
              <a:rPr lang="en-US" sz="37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与进阶讨论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关键结论回顾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直观性优势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决策树模型以其直观性著称，易于理解和解释，无需复杂的数学背景即可洞察数据模式。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剪枝技术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剪枝是决策树模型中平衡模型复杂度与泛化能力的关键，有效防止过拟合，提升模型的实用性。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适应性广泛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8384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决策树适用于多种类型的数据，无需特征缩放，能有效处理非线性和分类问题，展现出强大的适应性。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29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2632" r="2632"/>
          <a:stretch/>
        </p:blipFill>
        <p:spPr>
          <a:xfrm>
            <a:off x="0" y="0"/>
            <a:ext cx="9144000" cy="5429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决策树的局限性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3810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52875" y="2019300"/>
            <a:ext cx="123825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决策树问题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066800" y="3409950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过拟合风险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66838" y="4038600"/>
            <a:ext cx="150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过度适应训练数据，导致模型复杂度高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366838" y="4533900"/>
            <a:ext cx="150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在新数据上的泛化性能下降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733800" y="3409950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对噪声敏感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033838" y="4038600"/>
            <a:ext cx="15049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小的变动或数据集中的噪声可能引起树结构的大幅变化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033838" y="4743450"/>
            <a:ext cx="150495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稳定性较差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400800" y="3409950"/>
            <a:ext cx="101917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特征偏向性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700838" y="4038600"/>
            <a:ext cx="150495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连续特征或具有更多取值的特征更可能被选为分裂点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00838" y="4743450"/>
            <a:ext cx="150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造成模型对某些特征的偏好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优化方向与集成方法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8333" b="8333"/>
          <a:stretch/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0480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集成方法引入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95650"/>
            <a:ext cx="1714500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面对决策树的局限，集成学习成为提升性能的关键。随机森林与GBDT通过组合多个弱学习器，有效降低过拟合风险，提高模型稳定性和预测精度。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8333" b="8333"/>
          <a:stretch/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30480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超参数调优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32956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利用网格搜索与交叉验证等工具，精细化调整决策树的超参数，如树的深度、叶子节点最小样本数，以达到最佳模型性能。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8333" b="8333"/>
          <a:stretch/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30480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32956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深入探索特征选择与构造，识别最具影响力的特征，如MedInc收入中位数，优化模型输入，进一步提升决策树的预测能力。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8333" b="8333"/>
          <a:stretch/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304800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模型融合策略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3295650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采用模型融合策略，如Stacking，将决策树与其他模型结合，利用各自优势互补，构建更强大的预测系统。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15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课后任务布置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47958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0590" y="3171825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80752" y="4657725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调整模型参数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0752" y="4948237"/>
            <a:ext cx="12160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通过改变鸢尾花分类模型的 max_depth 参数，观察其对模型性能的影响。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04765" y="4024313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034927" y="188595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研究计算效率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34927" y="2176463"/>
            <a:ext cx="1216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对比信息增益与基尼指数在决策树中的计算效率差异。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658939" y="3171825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289102" y="4657725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应用决策树模型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89102" y="4948237"/>
            <a:ext cx="121607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选取自选数据集，使用决策树模型进行预测，并分析特征重要性和模型表现。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13114" y="4024313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3276" y="146685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阅读最新文献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43276" y="1757362"/>
            <a:ext cx="121607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查阅有关随机森林与GBDT的最新研究，了解集成学习方法如何改善决策树的不足。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67289" y="3171825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797451" y="4657725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涵盖多个方面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797451" y="4948237"/>
            <a:ext cx="12160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本任务包括编程实践、理论探究、案例拓展和文献阅读四个部分。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21463" y="4024313"/>
            <a:ext cx="476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51625" y="1676400"/>
            <a:ext cx="1216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总结改进策略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51625" y="1966913"/>
            <a:ext cx="121607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基于上述活动，总结如何利用集成方法优化决策树模型。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PPT内容由通义AI生成，访问tongyi.ai智能生成更多PPT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762</Words>
  <Application>Microsoft Office PowerPoint</Application>
  <PresentationFormat>全屏显示(16:9)</PresentationFormat>
  <Paragraphs>177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</cp:lastModifiedBy>
  <cp:revision>12</cp:revision>
  <dcterms:created xsi:type="dcterms:W3CDTF">2025-04-18T12:54:49Z</dcterms:created>
  <dcterms:modified xsi:type="dcterms:W3CDTF">2025-04-18T23:20:42Z</dcterms:modified>
</cp:coreProperties>
</file>