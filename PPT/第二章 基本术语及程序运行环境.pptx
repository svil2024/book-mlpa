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94" r:id="rId4"/>
    <p:sldId id="260" r:id="rId5"/>
    <p:sldId id="290" r:id="rId6"/>
    <p:sldId id="291" r:id="rId7"/>
    <p:sldId id="292" r:id="rId8"/>
    <p:sldId id="293" r:id="rId9"/>
    <p:sldId id="261" r:id="rId10"/>
    <p:sldId id="269" r:id="rId11"/>
    <p:sldId id="270" r:id="rId12"/>
    <p:sldId id="271" r:id="rId13"/>
    <p:sldId id="272" r:id="rId14"/>
    <p:sldId id="273" r:id="rId15"/>
    <p:sldId id="262" r:id="rId16"/>
    <p:sldId id="286" r:id="rId17"/>
    <p:sldId id="287" r:id="rId18"/>
    <p:sldId id="289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85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79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98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73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44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13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75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28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6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06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24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基本术语及程序运行环境  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李石峰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32" name="Text 29"/>
          <p:cNvSpPr/>
          <p:nvPr/>
        </p:nvSpPr>
        <p:spPr>
          <a:xfrm>
            <a:off x="3990975" y="3821906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E7515208-5556-4304-A690-BD0827955909}"/>
              </a:ext>
            </a:extLst>
          </p:cNvPr>
          <p:cNvGrpSpPr/>
          <p:nvPr/>
        </p:nvGrpSpPr>
        <p:grpSpPr>
          <a:xfrm>
            <a:off x="3524250" y="1760789"/>
            <a:ext cx="5048250" cy="2095500"/>
            <a:chOff x="3524250" y="1307306"/>
            <a:chExt cx="5048250" cy="2095500"/>
          </a:xfrm>
        </p:grpSpPr>
        <p:sp>
          <p:nvSpPr>
            <p:cNvPr id="8" name="Text 5"/>
            <p:cNvSpPr/>
            <p:nvPr/>
          </p:nvSpPr>
          <p:spPr>
            <a:xfrm>
              <a:off x="3990975" y="1307306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endParaRPr lang="en-US" sz="10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610350" y="1307306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endParaRPr lang="en-US" sz="10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3524250" y="1616869"/>
              <a:ext cx="352425" cy="33337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3038"/>
                </a:lnSpc>
                <a:buNone/>
              </a:pPr>
              <a:r>
                <a:rPr lang="en-US" sz="1875" b="1" dirty="0">
                  <a:solidFill>
                    <a:srgbClr val="4784C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01</a:t>
              </a:r>
              <a:endParaRPr lang="en-US" sz="1875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3990975" y="1688306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zh-CN" altLang="en-US" sz="1200" b="1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核心术语</a:t>
              </a:r>
              <a:endParaRPr lang="en-US" sz="12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3990975" y="1935956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endParaRPr lang="en-US" sz="105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143625" y="1616869"/>
              <a:ext cx="352425" cy="33337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3038"/>
                </a:lnSpc>
                <a:buNone/>
              </a:pPr>
              <a:r>
                <a:rPr lang="en-US" sz="1875" b="1" dirty="0">
                  <a:solidFill>
                    <a:srgbClr val="4784C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02</a:t>
              </a:r>
              <a:endParaRPr lang="en-US" sz="1875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610350" y="1688306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程序环境配置里程碑</a:t>
              </a:r>
              <a:endParaRPr lang="en-US" sz="12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6610350" y="1935956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endParaRPr lang="en-US" sz="10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3524250" y="2245519"/>
              <a:ext cx="352425" cy="33337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3038"/>
                </a:lnSpc>
                <a:buNone/>
              </a:pPr>
              <a:r>
                <a:rPr lang="en-US" sz="1875" b="1" dirty="0">
                  <a:solidFill>
                    <a:srgbClr val="4784C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03</a:t>
              </a:r>
              <a:endParaRPr lang="en-US" sz="1875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3990975" y="2316956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开发工具全景图</a:t>
              </a:r>
              <a:endParaRPr lang="en-US" sz="12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3990975" y="2564606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endParaRPr lang="en-US" sz="105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610350" y="2564606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endParaRPr lang="en-US" sz="105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3990975" y="3193256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endParaRPr lang="en-US" sz="105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6610350" y="1959191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endParaRPr lang="en-US" sz="105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6143625" y="2268754"/>
              <a:ext cx="352425" cy="33337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3038"/>
                </a:lnSpc>
                <a:buNone/>
              </a:pPr>
              <a:r>
                <a:rPr lang="en-US" sz="1875" b="1" dirty="0">
                  <a:solidFill>
                    <a:srgbClr val="4784C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04</a:t>
              </a:r>
              <a:endParaRPr lang="en-US" sz="1875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6610350" y="2340191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第一个机器学习项目</a:t>
              </a:r>
              <a:endParaRPr lang="en-US" sz="12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6610350" y="2587841"/>
              <a:ext cx="1962150" cy="2095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endParaRPr lang="en-US" sz="105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5250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r>
              <a:rPr lang="en-US" altLang="zh-CN" sz="4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endParaRPr lang="en-US" altLang="zh-CN" sz="400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  <p:extLst>
      <p:ext uri="{BB962C8B-B14F-4D97-AF65-F5344CB8AC3E}">
        <p14:creationId xmlns:p14="http://schemas.microsoft.com/office/powerpoint/2010/main" val="3708369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核心术语认知（监督/无监督/强化学习） 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核心术语认知（监督/无监督/强化学习）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2019300"/>
            <a:ext cx="2085975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监督学习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138112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通过已标记数据训练模型，预测未知数据标签。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6025" y="2019300"/>
            <a:ext cx="2085975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869406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无监督学习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3159919"/>
            <a:ext cx="138112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探索数据内在结构，无需预设标签，发现模式。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2019300"/>
            <a:ext cx="2085975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869406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3159919"/>
            <a:ext cx="138112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智能体通过与环境互动，学习策略以最大化奖励。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7975" y="2019300"/>
            <a:ext cx="2085975" cy="22669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869406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半监督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3286297"/>
            <a:ext cx="138112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b="0" i="0" dirty="0">
                <a:effectLst/>
                <a:latin typeface="-apple-system"/>
              </a:rPr>
              <a:t>结合了少量标注数据和大量未标注数据进行训练，利用未标注数据的结构信息来提升模型的性能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核心术语认知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  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4266" y="1056576"/>
            <a:ext cx="4219575" cy="34262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7487" y="2103863"/>
            <a:ext cx="3369062" cy="1618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特征</a:t>
            </a:r>
            <a:endParaRPr lang="en-US" altLang="zh-CN" sz="200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algn="l">
              <a:lnSpc>
                <a:spcPts val="1650"/>
              </a:lnSpc>
              <a:buNone/>
            </a:pPr>
            <a:endParaRPr lang="en-US" altLang="zh-CN" sz="1050" b="1" i="0" dirty="0">
              <a:solidFill>
                <a:srgbClr val="000000"/>
              </a:solidFill>
              <a:effectLst/>
              <a:latin typeface="Microsoft YaHei" pitchFamily="34" charset="0"/>
              <a:ea typeface="Microsoft YaHei" pitchFamily="34" charset="-122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0" i="0" dirty="0">
                <a:effectLst/>
                <a:latin typeface="system-ui"/>
              </a:rPr>
              <a:t>机器学习中的特征是指用于描述数据实例的属性或变量，能够捕捉数据的本质信息以帮助模型进行预测或分类。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68255" y="1056576"/>
            <a:ext cx="4426337" cy="34262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84228" y="2103863"/>
            <a:ext cx="3642732" cy="1618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2000" b="1" i="0" dirty="0">
                <a:effectLst/>
                <a:latin typeface="system-ui"/>
              </a:rPr>
              <a:t>模型</a:t>
            </a:r>
            <a:endParaRPr lang="en-US" altLang="zh-CN" sz="2000" b="1" i="0" dirty="0">
              <a:effectLst/>
              <a:latin typeface="system-ui"/>
            </a:endParaRPr>
          </a:p>
          <a:p>
            <a:pPr marL="0" indent="0" algn="l">
              <a:lnSpc>
                <a:spcPts val="1650"/>
              </a:lnSpc>
              <a:buNone/>
            </a:pPr>
            <a:endParaRPr lang="en-US" altLang="zh-CN" sz="1050" b="1" i="0" dirty="0">
              <a:effectLst/>
              <a:latin typeface="system-ui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0" i="0" dirty="0">
                <a:effectLst/>
                <a:latin typeface="system-ui"/>
              </a:rPr>
              <a:t>从数据中学习到的数学规则，能根据输入特征预测结果（比如用公式判断明天是否下雨）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4559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核心术语认知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zh-CN" altLang="en-US" sz="2400" b="1" i="0" dirty="0">
                <a:effectLst/>
                <a:latin typeface="system-ui"/>
              </a:rPr>
              <a:t>过拟合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2400" b="1" i="0" dirty="0">
                <a:effectLst/>
                <a:latin typeface="system-ui"/>
              </a:rPr>
              <a:t>欠拟合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  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3744" y="1056576"/>
            <a:ext cx="4219575" cy="34262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6965" y="2103863"/>
            <a:ext cx="3369062" cy="1618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zh-CN" altLang="en-US" sz="2000" b="1" i="0" dirty="0">
                <a:effectLst/>
                <a:latin typeface="system-ui"/>
              </a:rPr>
              <a:t>过拟合</a:t>
            </a:r>
            <a:br>
              <a:rPr lang="zh-CN" altLang="en-US" sz="2000" dirty="0"/>
            </a:br>
            <a:endParaRPr lang="en-US" altLang="zh-CN" sz="105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zh-CN" altLang="en-US" sz="1600" b="0" i="0" dirty="0">
                <a:effectLst/>
                <a:latin typeface="system-ui"/>
              </a:rPr>
              <a:t>过拟合指模型在训练数据上表现出极高的性能（如接近</a:t>
            </a:r>
            <a:r>
              <a:rPr lang="en-US" altLang="zh-CN" sz="1600" b="0" i="0" dirty="0">
                <a:effectLst/>
                <a:latin typeface="system-ui"/>
              </a:rPr>
              <a:t>100%</a:t>
            </a:r>
            <a:r>
              <a:rPr lang="zh-CN" altLang="en-US" sz="1600" b="0" i="0" dirty="0">
                <a:effectLst/>
                <a:latin typeface="system-ui"/>
              </a:rPr>
              <a:t>准确率），但在新数据（验证集</a:t>
            </a:r>
            <a:r>
              <a:rPr lang="en-US" altLang="zh-CN" sz="1600" b="0" i="0" dirty="0">
                <a:effectLst/>
                <a:latin typeface="system-ui"/>
              </a:rPr>
              <a:t>/</a:t>
            </a:r>
            <a:r>
              <a:rPr lang="zh-CN" altLang="en-US" sz="1600" b="0" i="0" dirty="0">
                <a:effectLst/>
                <a:latin typeface="system-ui"/>
              </a:rPr>
              <a:t>测试集）上性能显著下降的现象</a:t>
            </a:r>
            <a:endParaRPr lang="zh-CN" altLang="en-US" sz="1600" b="0" i="0" dirty="0">
              <a:solidFill>
                <a:srgbClr val="000000"/>
              </a:solidFill>
              <a:effectLst/>
              <a:latin typeface="system-ui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27733" y="1056576"/>
            <a:ext cx="4426337" cy="34262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43706" y="2103863"/>
            <a:ext cx="3642732" cy="1983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zh-CN" altLang="en-US" sz="2000" b="1" i="0" dirty="0">
                <a:effectLst/>
                <a:latin typeface="system-ui"/>
              </a:rPr>
              <a:t>欠拟合</a:t>
            </a:r>
            <a:endParaRPr lang="en-US" altLang="zh-CN" sz="2000" b="1" i="0" dirty="0">
              <a:effectLst/>
              <a:latin typeface="system-ui"/>
            </a:endParaRPr>
          </a:p>
          <a:p>
            <a:pPr marL="0" indent="0" algn="l">
              <a:lnSpc>
                <a:spcPts val="2200"/>
              </a:lnSpc>
              <a:buNone/>
            </a:pPr>
            <a:endParaRPr lang="en-US" altLang="zh-CN" sz="1050" b="1" i="0" dirty="0">
              <a:effectLst/>
              <a:latin typeface="system-ui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zh-CN" altLang="en-US" sz="1600" b="0" i="0" dirty="0">
                <a:effectLst/>
                <a:latin typeface="system-ui"/>
              </a:rPr>
              <a:t>欠拟合指模型在训练数据和测试数据上均表现不佳，无法捕捉数据的基本规律。通常由模型复杂度过低（如线性模型处理非线性问题）或训练不足导致，表现为训练损失和验证损失均较高，且误差随数据量增加无明显改善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2725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核心术语认知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zh-CN" altLang="en-US" sz="2400" b="1" i="0" dirty="0">
                <a:effectLst/>
                <a:latin typeface="system-ui"/>
              </a:rPr>
              <a:t>交叉验证</a:t>
            </a: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  </a:t>
            </a:r>
            <a:endParaRPr lang="en-US" sz="2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7893" y="685800"/>
            <a:ext cx="8616177" cy="44577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6703" y="1717753"/>
            <a:ext cx="7181384" cy="30010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just" latinLnBrk="1">
              <a:lnSpc>
                <a:spcPts val="2200"/>
              </a:lnSpc>
            </a:pPr>
            <a:r>
              <a:rPr lang="zh-CN" altLang="en-US" b="0" i="0" dirty="0">
                <a:effectLst/>
                <a:latin typeface="system-ui"/>
              </a:rPr>
              <a:t>交叉验证是一种评估模型泛化能力的统计方法，核心思想是通过重复划分数据集为训练集和验证集，减少评估结果对数据划分的敏感性。常用方法包括：</a:t>
            </a:r>
          </a:p>
          <a:p>
            <a:pPr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system-ui"/>
              </a:rPr>
              <a:t>K</a:t>
            </a:r>
            <a:r>
              <a:rPr lang="zh-CN" altLang="en-US" b="1" i="0" dirty="0">
                <a:effectLst/>
                <a:latin typeface="system-ui"/>
              </a:rPr>
              <a:t>折交叉验证</a:t>
            </a:r>
            <a:r>
              <a:rPr lang="zh-CN" altLang="en-US" b="0" i="0" dirty="0">
                <a:effectLst/>
                <a:latin typeface="system-ui"/>
              </a:rPr>
              <a:t>：将数据分为</a:t>
            </a:r>
            <a:r>
              <a:rPr lang="en-US" altLang="zh-CN" b="0" i="0" dirty="0">
                <a:effectLst/>
                <a:latin typeface="system-ui"/>
              </a:rPr>
              <a:t>K</a:t>
            </a:r>
            <a:r>
              <a:rPr lang="zh-CN" altLang="en-US" b="0" i="0" dirty="0">
                <a:effectLst/>
                <a:latin typeface="system-ui"/>
              </a:rPr>
              <a:t>个子集，依次以每个子集为验证集，其余为训练集，最终取</a:t>
            </a:r>
            <a:r>
              <a:rPr lang="en-US" altLang="zh-CN" b="0" i="0" dirty="0">
                <a:effectLst/>
                <a:latin typeface="system-ui"/>
              </a:rPr>
              <a:t>K</a:t>
            </a:r>
            <a:r>
              <a:rPr lang="zh-CN" altLang="en-US" b="0" i="0" dirty="0">
                <a:effectLst/>
                <a:latin typeface="system-ui"/>
              </a:rPr>
              <a:t>次结果的平均值。</a:t>
            </a:r>
          </a:p>
          <a:p>
            <a:pPr algn="l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system-ui"/>
              </a:rPr>
              <a:t>留出法</a:t>
            </a:r>
            <a:r>
              <a:rPr lang="zh-CN" altLang="en-US" b="0" i="0" dirty="0">
                <a:effectLst/>
                <a:latin typeface="system-ui"/>
              </a:rPr>
              <a:t>：按固定比例（如</a:t>
            </a:r>
            <a:r>
              <a:rPr lang="en-US" altLang="zh-CN" b="0" i="0" dirty="0">
                <a:effectLst/>
                <a:latin typeface="system-ui"/>
              </a:rPr>
              <a:t>20%</a:t>
            </a:r>
            <a:r>
              <a:rPr lang="zh-CN" altLang="en-US" b="0" i="0" dirty="0">
                <a:effectLst/>
                <a:latin typeface="system-ui"/>
              </a:rPr>
              <a:t>）划分验证集。</a:t>
            </a:r>
            <a:br>
              <a:rPr lang="zh-CN" altLang="en-US" b="0" i="0" dirty="0">
                <a:effectLst/>
                <a:latin typeface="system-ui"/>
              </a:rPr>
            </a:br>
            <a:r>
              <a:rPr lang="zh-CN" altLang="en-US" b="0" i="0" dirty="0">
                <a:effectLst/>
                <a:latin typeface="system-ui"/>
              </a:rPr>
              <a:t>其优势在于充分利用有限数据，降低过拟合风险，并提供更稳定的性能估计</a:t>
            </a:r>
          </a:p>
        </p:txBody>
      </p:sp>
    </p:spTree>
    <p:extLst>
      <p:ext uri="{BB962C8B-B14F-4D97-AF65-F5344CB8AC3E}">
        <p14:creationId xmlns:p14="http://schemas.microsoft.com/office/powerpoint/2010/main" val="2520524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5250"/>
              </a:lnSpc>
            </a:pPr>
            <a:r>
              <a:rPr lang="en-US" altLang="zh-CN" sz="40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程序环境全流程配置</a:t>
            </a:r>
            <a:r>
              <a:rPr lang="en-US" altLang="zh-CN" sz="4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endParaRPr lang="en-US" altLang="zh-CN" sz="400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  <p:extLst>
      <p:ext uri="{BB962C8B-B14F-4D97-AF65-F5344CB8AC3E}">
        <p14:creationId xmlns:p14="http://schemas.microsoft.com/office/powerpoint/2010/main" val="236901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程序环境全流程配置 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程序环境全流程配置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2019300"/>
            <a:ext cx="2085975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003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基础环境搭建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090863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选择合适的操作系统，安装基础软件包，如Python和必要的编译器。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6025" y="2019300"/>
            <a:ext cx="2085975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8003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虚拟环境创建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3090863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利用venv或conda创建隔离的Python环境，保证项目间依赖独立。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2019300"/>
            <a:ext cx="2085975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8003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核心库安装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3090863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安装NumPy、Pandas、Scikit-learn等关键库，构建数据分析和机器学习基础。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7975" y="2019300"/>
            <a:ext cx="2085975" cy="23383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8003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扩展库集成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3090863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根据项目需求，额外安装TensorFlow、PyTorch等深度学习框架，增强模型能力。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 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7597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操作系统选择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0502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选择适合机器学习的稳定操作系统，如Ubuntu，确保底层支持与兼容性。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0" y="144780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7597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硬件适配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0502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确认硬件驱动与系统版本匹配，特别是GPU驱动，以充分利用硬件加速。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1694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虚拟化技术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4599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利用Docker或VirtualBox创建隔离环境，便于管理和复现实验条件。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0" y="285750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1694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基础软件安装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4599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安装基本工具如Git、Python，奠定后续环境搭建的基础。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97490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环境层  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环境层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31594" y="2084348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29125" y="2674898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操作系统选择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429125" y="2922548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选择适合机器学习的稳定操作系统，如Ubuntu，确保兼容性和性能。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93781" y="2084348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91313" y="2674898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虚拟环境搭建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691313" y="2922548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利用conda或virtualenv创建隔离环境，便于管理依赖和版本控制。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9251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768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核心库 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核心库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0"/>
            <a:ext cx="8382000" cy="39576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0590" y="2752725"/>
            <a:ext cx="47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80752" y="4238625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Numpy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0752" y="4529138"/>
            <a:ext cx="1216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矩阵计算核心库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04765" y="3605213"/>
            <a:ext cx="47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034927" y="1466850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Pandas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034927" y="1757362"/>
            <a:ext cx="1216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 b="0" i="0" dirty="0">
                <a:effectLst/>
                <a:latin typeface="-apple-system"/>
              </a:rPr>
              <a:t>功能强大的 </a:t>
            </a:r>
            <a:r>
              <a:rPr lang="en-US" altLang="zh-CN" sz="1050" b="0" i="0" dirty="0">
                <a:effectLst/>
                <a:latin typeface="-apple-system"/>
              </a:rPr>
              <a:t>Python </a:t>
            </a:r>
            <a:r>
              <a:rPr lang="zh-CN" altLang="en-US" sz="1050" b="0" i="0" dirty="0">
                <a:effectLst/>
                <a:latin typeface="-apple-system"/>
              </a:rPr>
              <a:t>数据分析库，特别适合处理结构化数据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658939" y="2752725"/>
            <a:ext cx="47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289102" y="4238625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89102" y="4529138"/>
            <a:ext cx="1216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 b="0" i="0" dirty="0">
                <a:effectLst/>
                <a:latin typeface="-apple-system"/>
              </a:rPr>
              <a:t>创建静态、动画和交互式可视化图形的 </a:t>
            </a:r>
            <a:r>
              <a:rPr lang="en-US" altLang="zh-CN" sz="1050" b="0" i="0" dirty="0">
                <a:effectLst/>
                <a:latin typeface="-apple-system"/>
              </a:rPr>
              <a:t>Python </a:t>
            </a:r>
            <a:r>
              <a:rPr lang="zh-CN" altLang="en-US" sz="1050" b="0" i="0" dirty="0">
                <a:effectLst/>
                <a:latin typeface="-apple-system"/>
              </a:rPr>
              <a:t>绘图库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13114" y="3605213"/>
            <a:ext cx="47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43276" y="1676400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Sklearn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43276" y="1966913"/>
            <a:ext cx="1216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 b="0" i="0" dirty="0">
                <a:effectLst/>
                <a:latin typeface="-apple-system"/>
              </a:rPr>
              <a:t>开源的机器学习库，支持多种机器学习算法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67289" y="2752725"/>
            <a:ext cx="47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797451" y="4238625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797451" y="4529138"/>
            <a:ext cx="1216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altLang="zh-CN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PyTorch是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</a:t>
            </a:r>
            <a:r>
              <a:rPr lang="en-US" altLang="zh-CN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项目的基础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050" dirty="0"/>
          </a:p>
        </p:txBody>
      </p:sp>
      <p:sp>
        <p:nvSpPr>
          <p:cNvPr id="22" name="Text 18"/>
          <p:cNvSpPr/>
          <p:nvPr/>
        </p:nvSpPr>
        <p:spPr>
          <a:xfrm>
            <a:off x="7421463" y="3605213"/>
            <a:ext cx="47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51625" y="1466850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Opencv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051625" y="1757362"/>
            <a:ext cx="1216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 b="0" i="0" dirty="0">
                <a:effectLst/>
                <a:latin typeface="-apple-system"/>
              </a:rPr>
              <a:t>开源的计算机视觉和机器学习软件库，提供了大量的图像和视频处理功能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273794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150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扩展库 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扩展库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0"/>
            <a:ext cx="8382000" cy="4495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9525" y="2019300"/>
            <a:ext cx="150495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扩展库工具接口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19138" y="3409950"/>
            <a:ext cx="1038225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图像处理支持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76300" y="4305300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提供图像增强功能，改善图像质量。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76300" y="5010150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实现图像分割技术，区分图像中的不同区域。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052638" y="3409950"/>
            <a:ext cx="1038225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自然语言理解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209800" y="4305300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支持文本情感分析，判断文本的情感倾向。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09800" y="5010150"/>
            <a:ext cx="1009650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实现机器翻译功能，将一种语言翻译成另一种语言。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86138" y="3409950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性能评估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43300" y="4038600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通过基准测试比较不同库的性能差异。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43300" y="4743450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考虑资源消耗，选择低功耗的解决方案。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719638" y="3409950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兼容性考量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76800" y="4038600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确保所选库能与现有系统良好集成。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76800" y="4743450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检查库是否支持多种操作系统和硬件平台。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53138" y="3409950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社区支持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210300" y="4038600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活跃的开发者社区可以快速解决问题。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10300" y="4743450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丰富的文档和教程有助于新手上手。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386638" y="3409950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无缝衔接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543800" y="4038600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确保扩展库与基础层和核心库的兼容性。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543800" y="4743450"/>
            <a:ext cx="10096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遵循标准接口规范，减少集成难度。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99420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开发工具全景图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开发工具链详解 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开发工具链详解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1204796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代码开发工具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1452446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IDE如PyCharm, Jupyter, 提供高效编码环境，支持语法高亮、调试等功能。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5500" y="1204796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实验管理平台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65500" y="1452446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如MLflow, TensorBoard, 记录实验参数、结果，便于对比分析。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59500" y="1204796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数据可视化软件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9500" y="1452446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利用Matplotlib, Seaborn等库，实现数据和模型结果的直观展示。</a:t>
            </a:r>
            <a:endParaRPr lang="en-US" sz="105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A9F8885-E7DC-479D-A581-7F975711F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146" y="2100862"/>
            <a:ext cx="4216854" cy="203181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FACFD2F-1BA4-42FD-B1FC-0AD9C2A00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953" y="2100862"/>
            <a:ext cx="3680895" cy="20318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第一个机器学习项目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529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核心内容 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核心内容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0"/>
            <a:ext cx="8382000" cy="38360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176" y="4059882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9176" y="4350395"/>
            <a:ext cx="1333500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去除噪声和冗余数据，填补缺失值，保证数据的准确性和一致性。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9176" y="1466850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特征选择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9176" y="1757362"/>
            <a:ext cx="1333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挑选对模型预测最有价值的特征，减少维度，提高模型效率。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261324" y="4059882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61324" y="4350395"/>
            <a:ext cx="1333500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利用监督学习算法反复训练模型，不断调整参数直至损失函数最小化。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261324" y="1466850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数据标准化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261324" y="1757362"/>
            <a:ext cx="1333500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将数据转换到同一量纲或范围内，避免某些特征因数值范围大而主导模型。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EEAC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EEAC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673</Words>
  <Application>Microsoft Office PowerPoint</Application>
  <PresentationFormat>全屏显示(16:9)</PresentationFormat>
  <Paragraphs>151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-apple-system</vt:lpstr>
      <vt:lpstr>system-ui</vt:lpstr>
      <vt:lpstr>等线</vt:lpstr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</cp:lastModifiedBy>
  <cp:revision>6</cp:revision>
  <dcterms:created xsi:type="dcterms:W3CDTF">2025-04-15T00:12:42Z</dcterms:created>
  <dcterms:modified xsi:type="dcterms:W3CDTF">2025-04-17T04:49:17Z</dcterms:modified>
</cp:coreProperties>
</file>