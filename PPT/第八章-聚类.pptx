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70" r:id="rId17"/>
    <p:sldId id="271" r:id="rId18"/>
    <p:sldId id="272" r:id="rId19"/>
    <p:sldId id="273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8" r:id="rId28"/>
    <p:sldId id="289" r:id="rId29"/>
    <p:sldId id="283" r:id="rId30"/>
    <p:sldId id="290" r:id="rId31"/>
    <p:sldId id="291" r:id="rId32"/>
    <p:sldId id="284" r:id="rId33"/>
    <p:sldId id="292" r:id="rId34"/>
    <p:sldId id="293" r:id="rId35"/>
    <p:sldId id="285" r:id="rId36"/>
    <p:sldId id="294" r:id="rId37"/>
    <p:sldId id="295" r:id="rId38"/>
    <p:sldId id="296" r:id="rId39"/>
    <p:sldId id="298" r:id="rId40"/>
    <p:sldId id="299" r:id="rId41"/>
    <p:sldId id="287" r:id="rId4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9" Type="http://schemas.openxmlformats.org/officeDocument/2006/relationships/notesSlide" Target="../notesSlides/notesSlide4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5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3.jpe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3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3.jpe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5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7" name="文本框 6"/>
          <p:cNvSpPr txBox="1"/>
          <p:nvPr/>
        </p:nvSpPr>
        <p:spPr>
          <a:xfrm>
            <a:off x="3402330" y="3188335"/>
            <a:ext cx="23691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李石峰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125047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3739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聚类概述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990975" y="162163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76736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37000" y="188452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聚类构建与优化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610350" y="162163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3439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37000" y="246427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聚类算法实践案例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90975" y="22502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87924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37000" y="2987516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总结与进阶讨论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610350" y="22502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990975" y="246745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610350" y="287893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990975" y="35075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610350" y="3507581"/>
            <a:ext cx="19621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聚类概述</a:t>
            </a:r>
            <a:endParaRPr lang="zh-CN" altLang="en-US" sz="37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概述</a:t>
            </a:r>
            <a:endParaRPr lang="zh-CN" altLang="en-US" sz="22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68008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1600" dirty="0"/>
              <a:t>         </a:t>
            </a:r>
            <a:r>
              <a:rPr lang="zh-CN" altLang="en-US" sz="1600" dirty="0"/>
              <a:t>聚类是一种无监督学习方法，其目标是将数据集划分为若干个簇，使得同一簇内的数据点彼此相似，而不同簇之间的数据点差异较大。然而，由于聚类结果通常没有真实标签作为参考，如何评估聚类算法的性能成为一个关键问题。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2771775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176688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108585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热爱摄影</a:t>
            </a:r>
            <a:endParaRPr lang="en-US" sz="1200" dirty="0"/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1085850" y="21955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石榴同学对摄影充满热情，拍摄了大量风景照片。</a:t>
            </a:r>
            <a:endParaRPr lang="en-US" sz="105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3548062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286702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自动分类需求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2867025" y="2195513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面对大量照片，石榴同学希望实现自动分类。</a:t>
            </a:r>
            <a:endParaRPr lang="en-US" sz="1050" dirty="0"/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532923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464820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选择K-Means</a:t>
            </a:r>
            <a:endParaRPr lang="en-US" sz="1200" dirty="0"/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4648200" y="2195513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K-Means算法被选中用于照片分类。</a:t>
            </a:r>
            <a:endParaRPr lang="en-US" sz="1050" dirty="0"/>
          </a:p>
        </p:txBody>
      </p:sp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7110413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>
            <p:custDataLst>
              <p:tags r:id="rId14"/>
            </p:custDataLst>
          </p:nvPr>
        </p:nvSpPr>
        <p:spPr>
          <a:xfrm>
            <a:off x="642937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分类效果良好</a:t>
            </a:r>
            <a:endParaRPr lang="en-US" sz="1200" dirty="0"/>
          </a:p>
        </p:txBody>
      </p:sp>
      <p:sp>
        <p:nvSpPr>
          <p:cNvPr id="18" name="Text 14"/>
          <p:cNvSpPr/>
          <p:nvPr>
            <p:custDataLst>
              <p:tags r:id="rId15"/>
            </p:custDataLst>
          </p:nvPr>
        </p:nvSpPr>
        <p:spPr>
          <a:xfrm>
            <a:off x="6429375" y="21955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K-Means能够有效分类“日出”、“森林”和“河流”等照片。</a:t>
            </a:r>
            <a:endParaRPr lang="en-US" sz="1050" dirty="0"/>
          </a:p>
        </p:txBody>
      </p:sp>
      <p:sp>
        <p:nvSpPr>
          <p:cNvPr id="19" name="Text 15"/>
          <p:cNvSpPr/>
          <p:nvPr>
            <p:custDataLst>
              <p:tags r:id="rId16"/>
            </p:custDataLst>
          </p:nvPr>
        </p:nvSpPr>
        <p:spPr>
          <a:xfrm>
            <a:off x="7110413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>
            <p:custDataLst>
              <p:tags r:id="rId17"/>
            </p:custDataLst>
          </p:nvPr>
        </p:nvSpPr>
        <p:spPr>
          <a:xfrm>
            <a:off x="6429375" y="3376612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噪声影响显著</a:t>
            </a:r>
            <a:endParaRPr lang="en-US" sz="1200" dirty="0"/>
          </a:p>
        </p:txBody>
      </p:sp>
      <p:sp>
        <p:nvSpPr>
          <p:cNvPr id="21" name="Text 17"/>
          <p:cNvSpPr/>
          <p:nvPr>
            <p:custDataLst>
              <p:tags r:id="rId18"/>
            </p:custDataLst>
          </p:nvPr>
        </p:nvSpPr>
        <p:spPr>
          <a:xfrm>
            <a:off x="6429375" y="3667125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然而，K-Means在处理含噪声的照片时效果不佳。</a:t>
            </a:r>
            <a:endParaRPr lang="en-US" sz="1050" dirty="0"/>
          </a:p>
        </p:txBody>
      </p:sp>
      <p:sp>
        <p:nvSpPr>
          <p:cNvPr id="22" name="Text 18"/>
          <p:cNvSpPr/>
          <p:nvPr>
            <p:custDataLst>
              <p:tags r:id="rId19"/>
            </p:custDataLst>
          </p:nvPr>
        </p:nvSpPr>
        <p:spPr>
          <a:xfrm>
            <a:off x="5329238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>
            <p:custDataLst>
              <p:tags r:id="rId20"/>
            </p:custDataLst>
          </p:nvPr>
        </p:nvSpPr>
        <p:spPr>
          <a:xfrm>
            <a:off x="4648200" y="3376612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引入DBSCAN算法</a:t>
            </a:r>
            <a:endParaRPr lang="en-US" sz="1200" dirty="0"/>
          </a:p>
        </p:txBody>
      </p:sp>
      <p:sp>
        <p:nvSpPr>
          <p:cNvPr id="24" name="Text 20"/>
          <p:cNvSpPr/>
          <p:nvPr>
            <p:custDataLst>
              <p:tags r:id="rId21"/>
            </p:custDataLst>
          </p:nvPr>
        </p:nvSpPr>
        <p:spPr>
          <a:xfrm>
            <a:off x="4648200" y="3667125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为了克服K-Means的局限，引入了DBSCAN算法。</a:t>
            </a:r>
            <a:endParaRPr lang="en-US" sz="1050" dirty="0"/>
          </a:p>
        </p:txBody>
      </p:sp>
      <p:sp>
        <p:nvSpPr>
          <p:cNvPr id="25" name="Text 21"/>
          <p:cNvSpPr/>
          <p:nvPr>
            <p:custDataLst>
              <p:tags r:id="rId22"/>
            </p:custDataLst>
          </p:nvPr>
        </p:nvSpPr>
        <p:spPr>
          <a:xfrm>
            <a:off x="3548062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2"/>
          <p:cNvSpPr/>
          <p:nvPr>
            <p:custDataLst>
              <p:tags r:id="rId23"/>
            </p:custDataLst>
          </p:nvPr>
        </p:nvSpPr>
        <p:spPr>
          <a:xfrm>
            <a:off x="2867025" y="3376612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增强鲁棒性</a:t>
            </a:r>
            <a:endParaRPr lang="en-US" sz="1200" dirty="0"/>
          </a:p>
        </p:txBody>
      </p:sp>
      <p:sp>
        <p:nvSpPr>
          <p:cNvPr id="27" name="Text 23"/>
          <p:cNvSpPr/>
          <p:nvPr>
            <p:custDataLst>
              <p:tags r:id="rId24"/>
            </p:custDataLst>
          </p:nvPr>
        </p:nvSpPr>
        <p:spPr>
          <a:xfrm>
            <a:off x="2867025" y="3667125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DBSCAN表现出更强的鲁棒性，解决了噪声问题。</a:t>
            </a:r>
            <a:endParaRPr lang="en-US" sz="1050" dirty="0"/>
          </a:p>
        </p:txBody>
      </p:sp>
      <p:sp>
        <p:nvSpPr>
          <p:cNvPr id="28" name="Text 24"/>
          <p:cNvSpPr/>
          <p:nvPr>
            <p:custDataLst>
              <p:tags r:id="rId25"/>
            </p:custDataLst>
          </p:nvPr>
        </p:nvSpPr>
        <p:spPr>
          <a:xfrm>
            <a:off x="1766888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5"/>
          <p:cNvSpPr/>
          <p:nvPr>
            <p:custDataLst>
              <p:tags r:id="rId26"/>
            </p:custDataLst>
          </p:nvPr>
        </p:nvSpPr>
        <p:spPr>
          <a:xfrm>
            <a:off x="1085850" y="3376612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实现精准分类</a:t>
            </a:r>
            <a:endParaRPr lang="en-US" sz="1200" dirty="0"/>
          </a:p>
        </p:txBody>
      </p:sp>
      <p:sp>
        <p:nvSpPr>
          <p:cNvPr id="30" name="Text 26"/>
          <p:cNvSpPr/>
          <p:nvPr>
            <p:custDataLst>
              <p:tags r:id="rId27"/>
            </p:custDataLst>
          </p:nvPr>
        </p:nvSpPr>
        <p:spPr>
          <a:xfrm>
            <a:off x="1085850" y="3667125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最终，DBSCAN成功实现了照片的精准分类。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</a:t>
            </a:r>
            <a:r>
              <a:rPr lang="zh-CN" alt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构建与</a:t>
            </a:r>
            <a:r>
              <a:rPr lang="zh-CN" alt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</a:t>
            </a:r>
            <a:endParaRPr lang="zh-CN" altLang="en-US" sz="37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内部指标详解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轮廓系数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轮廓系数衡量每个数据点的簇内紧密性和簇间分离性，范围[-1,1]，值越接近1表示聚类效果越好。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戴维森-鲍尔丁指数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戴维森-鲍尔丁指数(DBI)通过簇内距离和簇间距离的比值评估聚类效果，值越小表示聚类效果越好。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Calinski-Harabasz 指数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Calinski-Harabasz 指数(CHI)通过簇间方差与簇内方差的比值评估聚类效果，值越大表示聚类效果越好。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Dunn 指数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Dunn 指数衡量簇间的最小距离与簇内的最大直径之比，值越大表示聚类效果越好。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3875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外部指标解析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619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26243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兰德指数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55295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衡量聚类结果与真实标签之间的一致性，值越接近1表示一致性越高。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1908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互信息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481388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评估聚类结果与真实标签之间的信息共享程度，值越接近1表示共享信息越多。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3288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同质性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61937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反映簇内样本的纯度，值越接近1表示簇内样本越相似。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完整性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175736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衡量同一类别样本是否被分配到同一个簇，值越接近1表示类别集中度越高。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57162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V-Measure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1862138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综合考虑同质性和完整性，值越接近1表示聚类效果越好。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43363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评估角度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272415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这些指标从不同角度评估聚类效果，帮助理解聚类结果的质量。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2956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数值意义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358616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所有指标的值越接近1，表示聚类效果越好，模型性能更佳。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157662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应用场景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444817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适用于监督学习场景下的聚类算法评估，帮助选择最优模型。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可视化辅助度量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散点图分析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通过散点图直观展现数据点分布，观察簇的形态和分离情况，适用于低维数据集。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67000" y="2000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树状图展示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67000" y="224790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在层次聚类中，树状图揭示数据点间的层次关系，帮助理解簇的形成过程和结构。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62500" y="2000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t-SNE降维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62500" y="224790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将高维数据降至二维或三维，通过t-SNE算法保持数据点间的相对距离，便于可视化聚类效果。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0002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UMAP应用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247900"/>
            <a:ext cx="1714500" cy="1257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UMAP（Uniform Manifold Approximation and Projection）作为替代t-SNE的降维方法，保持全局和局部结构，提供清晰的聚类可视化。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综合评价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781151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00350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多指标考量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090863"/>
            <a:ext cx="2076301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在评估聚类效果时，应结合多种指标，如轮廓系数评估簇内紧密性和簇间分离性，ARI或NMI验证聚类结果与真实标签的一致性。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2019300"/>
            <a:ext cx="2781151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领域知识融入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结合领域知识，通过可视化或业务指标进一步分析聚类结果，确保其在特定场景下的适用性和有效性。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2019300"/>
            <a:ext cx="2781151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00350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综合判断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090863"/>
            <a:ext cx="2076301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单一指标可能无法全面反映聚类效果，需综合考虑内部指标、外部指标和可视化辅助度量，以获得更全面的评价。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578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087" r="1087"/>
          <a:stretch>
            <a:fillRect/>
          </a:stretch>
        </p:blipFill>
        <p:spPr>
          <a:xfrm>
            <a:off x="0" y="0"/>
            <a:ext cx="9144000" cy="5257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性能度量小结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6385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76375" y="3057525"/>
            <a:ext cx="981075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聚类评估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3562350" y="1895475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内部指标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943475" y="1466850"/>
            <a:ext cx="32575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轮廓系数，评估簇内紧密性和簇间分离性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943475" y="1828800"/>
            <a:ext cx="32575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戴维森-鲍尔丁指数，评估簇内紧密性和簇间分离性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943475" y="2190750"/>
            <a:ext cx="32575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Calinski-Harabasz 指数，评估簇内紧密性和簇间分离性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562350" y="308610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外部指标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43475" y="2762250"/>
            <a:ext cx="31051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调整兰德指数，验证聚类结果与真实标签的一致性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943475" y="3124200"/>
            <a:ext cx="31051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互信息，验证聚类结果与真实标签的一致性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943475" y="3486150"/>
            <a:ext cx="31051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同质性与完整性，验证聚类结果与真实标签的一致性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62350" y="4276725"/>
            <a:ext cx="990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可视化辅助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010150" y="3848100"/>
            <a:ext cx="32575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散点图，用于直观分析低维数据的聚类效果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010150" y="4210050"/>
            <a:ext cx="32575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树状图，用于直观分析低维数据的聚类效果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010150" y="4572000"/>
            <a:ext cx="32575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t-SNE/UMAP 降维，用于直观分析低维数据的聚类效果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常见距离度量方法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7597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欧氏距离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05025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衡量两点间直线距离，适用于连续数值数据，低维空间表现佳，对噪声敏感。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447800"/>
            <a:ext cx="4171950" cy="2819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7597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曼哈顿距离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05025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沿坐标轴方向测量两点间路径距离，适合稀疏高维数据，鲁棒性好，计算简单。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1694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闵可夫斯基距离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45995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欧氏与曼哈顿距离的推广，参数p控制敏感性，灵活适应不同任务需求。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距离小结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2762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19212" y="2619375"/>
            <a:ext cx="1295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距离度量方法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3719513" y="1609725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欧氏距离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100638" y="1466850"/>
            <a:ext cx="3238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适用于连续型数值数据，尤其在低维空间中表现良好。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100638" y="1828800"/>
            <a:ext cx="32385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在低维空间中，能够准确反映点之间的实际距离。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719513" y="2543175"/>
            <a:ext cx="990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曼哈顿距离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67313" y="2190750"/>
            <a:ext cx="32575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适用于稀疏数据或高维数据，对噪声和异常值的鲁棒性较强。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167313" y="2762250"/>
            <a:ext cx="32575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在城市街区模型中，计算两点间沿轴方向的实际路径距离。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719513" y="3581400"/>
            <a:ext cx="990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余弦相似度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167313" y="3333750"/>
            <a:ext cx="32575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适用于高维稀疏数据，如文本聚类，关注向量方向而非长度。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167313" y="3905250"/>
            <a:ext cx="32575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在文本分析中，可以有效衡量文档间的相似程度。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K-Means算法详解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2757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2956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初始化簇中心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3586163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随机选择或使用特定方法初始化K个簇中心，作为聚类的起点。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43363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分配数据点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272415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计算每个数据点与各簇中心的距离，将其分配给距离最近的簇。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157162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更新簇中心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1862138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重新计算每个簇的中心位置，通常取簇内所有点的平均值。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重复迭代过程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175736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不断重复分配数据点和更新簇中心的过程，直到满足停止条件。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23288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预设簇数量K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61937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在开始前需要人为设定簇的数量K，这可能影响最终的聚类结果。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31908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算法局限性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3481388"/>
            <a:ext cx="2362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K-Means对初始簇中心敏感，假设簇形状为球形，且容易受到噪声和异常值的影响。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K-Means++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K-Means局限性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随机初始化可能导致局部最优，收敛速度慢，结果不稳定。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K-Means++改进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67000" y="28384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通过概率采样优化初始簇中心选择，提高算法性能和稳定性。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初始化过程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0" y="28384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首个簇中心随机选择，后续中心基于距离概率分布选取，确保分散。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算法优势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283845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更高的聚类质量，更快的收敛速度，更稳定的结果。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模糊 C 均值聚类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软分配概念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模糊C均值聚类允许数据点同时属于多个簇，通过隶属度表示归属程度，提供更灵活的分组策略。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隶属度计算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隶属度量化数据点对各簇的归属，公式考虑距离和模糊指数，反映点与簇中心的接近程度。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应用场景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适用于图像分割、模式识别和模糊逻辑系统，处理复杂分布数据，如边界点识别和模糊性控制。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高斯混合模型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GMM核心思想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GMM假设数据由多个高斯分布生成，通过概率方式分配簇归属，实现软聚类。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GMM优点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67000" y="283845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软聚类能力、灵活性强、生成模型特性，适用于复杂分布形状。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GMM局限性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0" y="283845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计算复杂度高、对初始参数敏感、需指定簇数。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GMM应用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2838450"/>
            <a:ext cx="171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广泛应用于图像分割、语音识别和异常检测等领域。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57788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DBSCAN 算法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5385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4469" y="2543175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81050" y="4029075"/>
            <a:ext cx="18430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基于密度聚类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1050" y="4319588"/>
            <a:ext cx="18430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DBSCAN算法能识别任意形状的簇，具有强抗噪性。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345656" y="3395663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662238" y="1466850"/>
            <a:ext cx="18430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核心点定义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662238" y="1757362"/>
            <a:ext cx="18430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邻域内至少有MinPts个点的点为核心点。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226844" y="2543175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43425" y="4029075"/>
            <a:ext cx="18430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簇形成机制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43425" y="4319588"/>
            <a:ext cx="18430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边界点在核心点邻域内，噪声点非核心也非边界。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08031" y="3395663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4613" y="1466850"/>
            <a:ext cx="18430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算法流程特点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4613" y="1757362"/>
            <a:ext cx="18430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遍历数据集，扩展簇至所有密度可达点，自动确定簇数量。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OPTICS 算法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447800"/>
            <a:ext cx="4171950" cy="14144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552575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OPTICS简介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1843088"/>
            <a:ext cx="25717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OPTICS, Ordering Points To Identify the Clustering Structure, 改进了DBSCAN对参数敏感的问题，生成可达距离图揭示数据的层次化密度结构。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1447800"/>
            <a:ext cx="4171950" cy="14144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6549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核心概念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194548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通过计算核心距离和可达距离，反映点成为核心点的最小密度要求和两点间的密度连接性。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2862263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069431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算法流程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359944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初始化参数，遍历数据点计算核心距离和可达距离，生成可达距离图，用户根据图中低谷区域提取簇。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2000" y="2862263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069431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优点与局限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359944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揭示层次化密度结构，对参数不敏感，灵活性强；但计算复杂度高，结果解释依赖后处理，处理高维数据性能下降。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分层聚类的基本概念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8333" b="8333"/>
          <a:stretch>
            <a:fillRect/>
          </a:stretch>
        </p:blipFill>
        <p:spPr>
          <a:xfrm>
            <a:off x="571500" y="1428750"/>
            <a:ext cx="17145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048000"/>
            <a:ext cx="1524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层次结构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295650"/>
            <a:ext cx="1524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分层聚类构建簇的层次化结构，通过逐步合并或分裂数据点，形成树状图（Dendrogram）。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/>
          <a:srcRect t="8333" b="8333"/>
          <a:stretch>
            <a:fillRect/>
          </a:stretch>
        </p:blipFill>
        <p:spPr>
          <a:xfrm>
            <a:off x="2667000" y="1428750"/>
            <a:ext cx="17145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62250" y="3048000"/>
            <a:ext cx="1524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无需预设簇数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62250" y="3295650"/>
            <a:ext cx="1524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与K-Means不同，分层聚类无需预先指定簇的数量，用户可根据树状图选择合适的粒度提取簇。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rcRect t="8333" b="8333"/>
          <a:stretch>
            <a:fillRect/>
          </a:stretch>
        </p:blipFill>
        <p:spPr>
          <a:xfrm>
            <a:off x="4762500" y="1428750"/>
            <a:ext cx="17145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57750" y="3048000"/>
            <a:ext cx="1524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两种类型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857750" y="3295650"/>
            <a:ext cx="1524000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分层聚类分为凝聚层次聚类（自底向上）和分裂层次聚类（自顶向下），分别通过合并或分裂数据点构建层次结构。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rcRect t="8333" b="8333"/>
          <a:stretch>
            <a:fillRect/>
          </a:stretch>
        </p:blipFill>
        <p:spPr>
          <a:xfrm>
            <a:off x="6858000" y="1428750"/>
            <a:ext cx="1714500" cy="1428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53250" y="3048000"/>
            <a:ext cx="1524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揭示数据结构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953250" y="3295650"/>
            <a:ext cx="1524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分层聚类能够揭示数据的层次化结构，适合探索性数据分析，但计算复杂度较高，对噪声敏感。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凝聚层次聚类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自底向上策略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凝聚层次聚类从每个数据点独立开始，逐步合并最相似的簇，直至形成一个大簇。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树状图构建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65500" y="2247900"/>
            <a:ext cx="24130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构建树状图（Dendrogram），展示数据点的层次化结构，便于用户选择合适的簇数。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59500" y="20002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距离度量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9500" y="2247900"/>
            <a:ext cx="2413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使用单链、全链或平均链等方法计算簇间距离，影响聚类结果。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64845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分裂层次聚类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5029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24300" y="3995738"/>
            <a:ext cx="12954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分裂层次聚类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2195513" y="1590675"/>
            <a:ext cx="990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策略与过程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71488" y="215265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从所有数据点作为单个簇开始。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71488" y="2438400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逐步分裂成更小的簇，直到每个数据点成为独立簇。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1488" y="2933700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分裂点的选择基于最大方差、最小相似性或高斯混合模型等方法。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262188" y="360045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算法实现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1488" y="4162425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算法初始化为一个簇，通过选择分裂点并递归分裂。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1488" y="4657725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分裂过程直至满足停止条件，并记录分裂过程生成树状图。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262188" y="5324475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1488" y="588645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能够揭示全局结构，灵活性强。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71488" y="617220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适用于小规模数据集。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338888" y="2047875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缺点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34125" y="260985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计算复杂度高，对初始分裂点敏感。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334125" y="289560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难以处理噪声。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338888" y="335280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644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应用场景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334125" y="3914775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适用于需要揭示数据全局结构的场景。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334125" y="4200525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适合小规模数据集的聚类分析。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6338888" y="4657725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技术细节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334125" y="5219700"/>
            <a:ext cx="2338388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分裂点的选择是优化分裂过程的关键。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334125" y="5505450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分裂过程生成的树状图有助于理解数据结构。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聚类算法实践案例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K-Means 的客户分群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593725" y="950595"/>
            <a:ext cx="7715250" cy="3850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r>
              <a:rPr lang="zh-CN" altLang="en-US"/>
              <a:t>某电商平台希望根据用户的消费行为对其进行分群，以便制定个性化的营销策略。数据集包含每位用户的年消费金额（单位：千元）和消费频率（单位：次</a:t>
            </a:r>
            <a:r>
              <a:rPr lang="en-US" altLang="zh-CN"/>
              <a:t>/</a:t>
            </a:r>
            <a:r>
              <a:rPr lang="zh-CN" altLang="en-US"/>
              <a:t>月）。我们选择</a:t>
            </a:r>
            <a:r>
              <a:rPr lang="en-US" altLang="zh-CN"/>
              <a:t> K-Means </a:t>
            </a:r>
            <a:r>
              <a:rPr lang="zh-CN" altLang="en-US"/>
              <a:t>算法对用户进行分群。假设我们有以下二维数据点：用户</a:t>
            </a:r>
            <a:r>
              <a:rPr lang="en-US" altLang="zh-CN"/>
              <a:t> 1</a:t>
            </a:r>
            <a:r>
              <a:rPr lang="zh-CN" altLang="en-US"/>
              <a:t>：</a:t>
            </a:r>
            <a:r>
              <a:rPr lang="en-US" altLang="zh-CN"/>
              <a:t>(10, 2)</a:t>
            </a:r>
            <a:r>
              <a:rPr lang="zh-CN" altLang="en-US"/>
              <a:t>，用户</a:t>
            </a:r>
            <a:r>
              <a:rPr lang="en-US" altLang="zh-CN"/>
              <a:t> 2</a:t>
            </a:r>
            <a:r>
              <a:rPr lang="zh-CN" altLang="en-US"/>
              <a:t>：</a:t>
            </a:r>
            <a:r>
              <a:rPr lang="en-US" altLang="zh-CN"/>
              <a:t>(15, 3)</a:t>
            </a:r>
            <a:r>
              <a:rPr lang="zh-CN" altLang="en-US"/>
              <a:t>，用户</a:t>
            </a:r>
            <a:r>
              <a:rPr lang="en-US" altLang="zh-CN"/>
              <a:t> 3</a:t>
            </a:r>
            <a:r>
              <a:rPr lang="zh-CN" altLang="en-US"/>
              <a:t>：</a:t>
            </a:r>
            <a:r>
              <a:rPr lang="en-US" altLang="zh-CN"/>
              <a:t>(20, 4)</a:t>
            </a:r>
            <a:r>
              <a:rPr lang="zh-CN" altLang="en-US"/>
              <a:t>，用户</a:t>
            </a:r>
            <a:r>
              <a:rPr lang="en-US" altLang="zh-CN"/>
              <a:t> 4</a:t>
            </a:r>
            <a:r>
              <a:rPr lang="zh-CN" altLang="en-US"/>
              <a:t>：</a:t>
            </a:r>
            <a:r>
              <a:rPr lang="en-US" altLang="zh-CN"/>
              <a:t>(80, 10)</a:t>
            </a:r>
            <a:r>
              <a:rPr lang="zh-CN" altLang="en-US"/>
              <a:t>，用户</a:t>
            </a:r>
            <a:r>
              <a:rPr lang="en-US" altLang="zh-CN"/>
              <a:t> 5</a:t>
            </a:r>
            <a:r>
              <a:rPr lang="zh-CN" altLang="en-US"/>
              <a:t>：</a:t>
            </a:r>
            <a:r>
              <a:rPr lang="en-US" altLang="zh-CN"/>
              <a:t>(90, 12)</a:t>
            </a:r>
            <a:r>
              <a:rPr lang="zh-CN" altLang="en-US"/>
              <a:t>，用户</a:t>
            </a:r>
            <a:r>
              <a:rPr lang="en-US" altLang="zh-CN"/>
              <a:t> 6</a:t>
            </a:r>
            <a:r>
              <a:rPr lang="zh-CN" altLang="en-US"/>
              <a:t>：</a:t>
            </a:r>
            <a:r>
              <a:rPr lang="en-US" altLang="zh-CN"/>
              <a:t>(100, 15)</a:t>
            </a:r>
            <a:r>
              <a:rPr lang="zh-CN" altLang="en-US"/>
              <a:t>。实现步骤如下：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使用</a:t>
            </a:r>
            <a:r>
              <a:rPr lang="en-US" altLang="zh-CN"/>
              <a:t> K-Means </a:t>
            </a:r>
            <a:r>
              <a:rPr lang="zh-CN" altLang="en-US"/>
              <a:t>算法将用户分为两类。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可视化分群结果。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分析每类用户的特征。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742950"/>
            <a:ext cx="8001000" cy="3997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5" y="374015"/>
            <a:ext cx="7635240" cy="27736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0025" y="67945"/>
            <a:ext cx="538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以下是</a:t>
            </a:r>
            <a:r>
              <a:rPr lang="en-US" altLang="zh-CN"/>
              <a:t> Python </a:t>
            </a:r>
            <a:r>
              <a:rPr lang="zh-CN" altLang="en-US"/>
              <a:t>代码实现：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35" y="3154680"/>
            <a:ext cx="763524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742950"/>
            <a:ext cx="8001000" cy="3997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4" name="文本框 3"/>
          <p:cNvSpPr txBox="1"/>
          <p:nvPr/>
        </p:nvSpPr>
        <p:spPr>
          <a:xfrm>
            <a:off x="562610" y="263525"/>
            <a:ext cx="8309610" cy="3854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运行上述代码后，能够得到下图</a:t>
            </a:r>
            <a:r>
              <a:rPr lang="en-US" altLang="zh-CN"/>
              <a:t>8.1</a:t>
            </a:r>
            <a:r>
              <a:rPr lang="zh-CN" altLang="en-US"/>
              <a:t>，可以看到用户被分为两类，第一类：低消费金额、低消费频率的用户。第二类：高消费金额、高消费频率的用户。电商平台可以根据这两类用户的特点制定</a:t>
            </a:r>
            <a:endParaRPr lang="zh-CN" altLang="en-US"/>
          </a:p>
          <a:p>
            <a:r>
              <a:rPr lang="zh-CN" altLang="en-US"/>
              <a:t>不同的营销策略。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1569720"/>
            <a:ext cx="5516880" cy="35737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7867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DBSCAN 的异常检测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5" name="文本框 24"/>
          <p:cNvSpPr txBox="1"/>
          <p:nvPr/>
        </p:nvSpPr>
        <p:spPr>
          <a:xfrm>
            <a:off x="571500" y="873760"/>
            <a:ext cx="8001000" cy="3639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r>
              <a:rPr lang="zh-CN" altLang="en-US"/>
              <a:t>某银行希望检测信用卡交易中的异常行为。数据集包含每笔交易的金额（单位：千元）和时间间隔（单位：小时）。由于异常交易通常具有孤立性和稀疏性，我们选择</a:t>
            </a:r>
            <a:r>
              <a:rPr lang="en-US" altLang="zh-CN"/>
              <a:t> DBSCAN </a:t>
            </a:r>
            <a:r>
              <a:rPr lang="zh-CN" altLang="en-US"/>
              <a:t>算法进行异常检测。</a:t>
            </a:r>
            <a:endParaRPr lang="zh-CN" altLang="en-US"/>
          </a:p>
          <a:p>
            <a:r>
              <a:rPr lang="en-US" altLang="zh-CN"/>
              <a:t>         </a:t>
            </a:r>
            <a:r>
              <a:rPr lang="zh-CN" altLang="en-US"/>
              <a:t>假设我们有以下二维数据点：交易</a:t>
            </a:r>
            <a:r>
              <a:rPr lang="en-US" altLang="zh-CN"/>
              <a:t> 1</a:t>
            </a:r>
            <a:r>
              <a:rPr lang="zh-CN" altLang="en-US"/>
              <a:t>：</a:t>
            </a:r>
            <a:r>
              <a:rPr lang="en-US" altLang="zh-CN"/>
              <a:t>(1, 2)</a:t>
            </a:r>
            <a:r>
              <a:rPr lang="zh-CN" altLang="en-US"/>
              <a:t>，交易</a:t>
            </a:r>
            <a:r>
              <a:rPr lang="en-US" altLang="zh-CN"/>
              <a:t> 2</a:t>
            </a:r>
            <a:r>
              <a:rPr lang="zh-CN" altLang="en-US"/>
              <a:t>：</a:t>
            </a:r>
            <a:r>
              <a:rPr lang="en-US" altLang="zh-CN"/>
              <a:t>(1.5, 2.5)</a:t>
            </a:r>
            <a:r>
              <a:rPr lang="zh-CN" altLang="en-US"/>
              <a:t>，交易</a:t>
            </a:r>
            <a:r>
              <a:rPr lang="en-US" altLang="zh-CN"/>
              <a:t> 3</a:t>
            </a:r>
            <a:r>
              <a:rPr lang="zh-CN" altLang="en-US"/>
              <a:t>：</a:t>
            </a:r>
            <a:r>
              <a:rPr lang="en-US" altLang="zh-CN"/>
              <a:t>(2, 3)</a:t>
            </a:r>
            <a:r>
              <a:rPr lang="zh-CN" altLang="en-US"/>
              <a:t>，交易</a:t>
            </a:r>
            <a:r>
              <a:rPr lang="en-US" altLang="zh-CN"/>
              <a:t> 4</a:t>
            </a:r>
            <a:r>
              <a:rPr lang="zh-CN" altLang="en-US"/>
              <a:t>：</a:t>
            </a:r>
            <a:r>
              <a:rPr lang="en-US" altLang="zh-CN"/>
              <a:t>(10, 15)</a:t>
            </a:r>
            <a:r>
              <a:rPr lang="zh-CN" altLang="en-US"/>
              <a:t>，交易</a:t>
            </a:r>
            <a:r>
              <a:rPr lang="en-US" altLang="zh-CN"/>
              <a:t> 5</a:t>
            </a:r>
            <a:r>
              <a:rPr lang="zh-CN" altLang="en-US"/>
              <a:t>：</a:t>
            </a:r>
            <a:r>
              <a:rPr lang="en-US" altLang="zh-CN"/>
              <a:t>(11, 16)</a:t>
            </a:r>
            <a:r>
              <a:rPr lang="zh-CN" altLang="en-US"/>
              <a:t>，交易</a:t>
            </a:r>
            <a:r>
              <a:rPr lang="en-US" altLang="zh-CN"/>
              <a:t> 6</a:t>
            </a:r>
            <a:r>
              <a:rPr lang="zh-CN" altLang="en-US"/>
              <a:t>：</a:t>
            </a:r>
            <a:r>
              <a:rPr lang="en-US" altLang="zh-CN"/>
              <a:t>(50, 70)</a:t>
            </a:r>
            <a:r>
              <a:rPr lang="zh-CN" altLang="en-US"/>
              <a:t>。具体实现步骤如下：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使用</a:t>
            </a:r>
            <a:r>
              <a:rPr lang="en-US" altLang="zh-CN"/>
              <a:t> DBSCAN </a:t>
            </a:r>
            <a:r>
              <a:rPr lang="zh-CN" altLang="en-US"/>
              <a:t>算法识别正常交易和异常交易。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可视化检测结果。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分析异常交易的特征。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7867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dirty="0"/>
              <a:t>以下是</a:t>
            </a:r>
            <a:r>
              <a:rPr lang="en-US" altLang="zh-CN" sz="2250" dirty="0"/>
              <a:t> Python </a:t>
            </a:r>
            <a:r>
              <a:rPr lang="zh-CN" altLang="en-US" sz="2250" dirty="0"/>
              <a:t>代码实现：</a:t>
            </a:r>
            <a:endParaRPr lang="zh-CN" alt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5" name="文本框 24"/>
          <p:cNvSpPr txBox="1"/>
          <p:nvPr/>
        </p:nvSpPr>
        <p:spPr>
          <a:xfrm>
            <a:off x="571500" y="873760"/>
            <a:ext cx="8001000" cy="3639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95" y="873760"/>
            <a:ext cx="7559040" cy="12039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35" y="2077720"/>
            <a:ext cx="75819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386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8765" y="200660"/>
            <a:ext cx="8247380" cy="1187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运行上述代码后，能够得到下图</a:t>
            </a:r>
            <a:r>
              <a:rPr lang="en-US" altLang="zh-CN" dirty="0"/>
              <a:t>8.2</a:t>
            </a:r>
            <a:r>
              <a:rPr lang="zh-CN" altLang="en-US" dirty="0"/>
              <a:t>，可以看到，正常交易：形成两个簇（左下角），分别对应低金额短时间间隔和高金额长时间间隔的交易。异常交易：孤立点</a:t>
            </a:r>
            <a:r>
              <a:rPr lang="en-US" altLang="zh-CN" dirty="0"/>
              <a:t> (50, 70) </a:t>
            </a:r>
            <a:r>
              <a:rPr lang="zh-CN" altLang="en-US" dirty="0"/>
              <a:t>被标记为噪声（右上角）。银行可以针对异常交易进一步调查其合法性。</a:t>
            </a:r>
            <a:endParaRPr lang="zh-CN" altLang="en-US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5" name="文本框 24"/>
          <p:cNvSpPr txBox="1"/>
          <p:nvPr/>
        </p:nvSpPr>
        <p:spPr>
          <a:xfrm>
            <a:off x="571500" y="873760"/>
            <a:ext cx="8001000" cy="3639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330" y="1529080"/>
            <a:ext cx="470154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基于凝聚层次聚类的文档分类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01015" y="952500"/>
            <a:ext cx="785495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/>
              <a:t>         </a:t>
            </a:r>
            <a:r>
              <a:rPr lang="zh-CN" altLang="en-US"/>
              <a:t>某新闻网站希望对一组新闻文章进行分类，以便更好地组织内容。数据集包含每篇文章的主题词向量（通过</a:t>
            </a:r>
            <a:r>
              <a:rPr lang="en-US" altLang="zh-CN"/>
              <a:t> TF-IDF </a:t>
            </a:r>
            <a:r>
              <a:rPr lang="zh-CN" altLang="en-US"/>
              <a:t>方法生成）。我们选择凝聚层次聚类算法对文章进行分类。</a:t>
            </a:r>
            <a:endParaRPr lang="zh-CN" altLang="en-US"/>
          </a:p>
          <a:p>
            <a:pPr algn="just"/>
            <a:r>
              <a:rPr lang="en-US" altLang="zh-CN"/>
              <a:t>        </a:t>
            </a:r>
            <a:r>
              <a:rPr lang="zh-CN" altLang="en-US"/>
              <a:t>假设我们有以下二维主题词向量：文章</a:t>
            </a:r>
            <a:r>
              <a:rPr lang="en-US" altLang="zh-CN"/>
              <a:t> 1</a:t>
            </a:r>
            <a:r>
              <a:rPr lang="zh-CN" altLang="en-US"/>
              <a:t>：</a:t>
            </a:r>
            <a:r>
              <a:rPr lang="en-US" altLang="zh-CN"/>
              <a:t>(0.1, 0.2)</a:t>
            </a:r>
            <a:r>
              <a:rPr lang="zh-CN" altLang="en-US"/>
              <a:t>，文章</a:t>
            </a:r>
            <a:r>
              <a:rPr lang="en-US" altLang="zh-CN"/>
              <a:t> 2</a:t>
            </a:r>
            <a:r>
              <a:rPr lang="zh-CN" altLang="en-US"/>
              <a:t>：</a:t>
            </a:r>
            <a:r>
              <a:rPr lang="en-US" altLang="zh-CN"/>
              <a:t>(0.15, 0.25)</a:t>
            </a:r>
            <a:r>
              <a:rPr lang="zh-CN" altLang="en-US"/>
              <a:t>，文章</a:t>
            </a:r>
            <a:r>
              <a:rPr lang="en-US" altLang="zh-CN"/>
              <a:t> 3</a:t>
            </a:r>
            <a:r>
              <a:rPr lang="zh-CN" altLang="en-US"/>
              <a:t>：</a:t>
            </a:r>
            <a:r>
              <a:rPr lang="en-US" altLang="zh-CN"/>
              <a:t>(0.2, 0.3)</a:t>
            </a:r>
            <a:r>
              <a:rPr lang="zh-CN" altLang="en-US"/>
              <a:t>，文章</a:t>
            </a:r>
            <a:r>
              <a:rPr lang="en-US" altLang="zh-CN"/>
              <a:t> 4</a:t>
            </a:r>
            <a:r>
              <a:rPr lang="zh-CN" altLang="en-US"/>
              <a:t>：</a:t>
            </a:r>
            <a:r>
              <a:rPr lang="en-US" altLang="zh-CN"/>
              <a:t>(0.8, 0.9)</a:t>
            </a:r>
            <a:r>
              <a:rPr lang="zh-CN" altLang="en-US"/>
              <a:t>，文章</a:t>
            </a:r>
            <a:r>
              <a:rPr lang="en-US" altLang="zh-CN"/>
              <a:t> 5</a:t>
            </a:r>
            <a:r>
              <a:rPr lang="zh-CN" altLang="en-US"/>
              <a:t>：</a:t>
            </a:r>
            <a:r>
              <a:rPr lang="en-US" altLang="zh-CN"/>
              <a:t>(0.85, 0.95)</a:t>
            </a:r>
            <a:r>
              <a:rPr lang="zh-CN" altLang="en-US"/>
              <a:t>，文章</a:t>
            </a:r>
            <a:r>
              <a:rPr lang="en-US" altLang="zh-CN"/>
              <a:t> 6</a:t>
            </a:r>
            <a:r>
              <a:rPr lang="zh-CN" altLang="en-US"/>
              <a:t>：</a:t>
            </a:r>
            <a:r>
              <a:rPr lang="en-US" altLang="zh-CN"/>
              <a:t>(0.9, 1.0)</a:t>
            </a:r>
            <a:r>
              <a:rPr lang="zh-CN" altLang="en-US"/>
              <a:t>。实现步骤如下：</a:t>
            </a:r>
            <a:endParaRPr lang="zh-CN" altLang="en-US"/>
          </a:p>
          <a:p>
            <a:pPr algn="just"/>
            <a:r>
              <a:rPr lang="en-US" altLang="zh-CN"/>
              <a:t>1. </a:t>
            </a:r>
            <a:r>
              <a:rPr lang="zh-CN" altLang="en-US"/>
              <a:t>使用凝聚层次聚类算法对文章进行分类。</a:t>
            </a:r>
            <a:endParaRPr lang="zh-CN" altLang="en-US"/>
          </a:p>
          <a:p>
            <a:pPr algn="just"/>
            <a:endParaRPr lang="zh-CN" altLang="en-US"/>
          </a:p>
          <a:p>
            <a:pPr algn="just"/>
            <a:r>
              <a:rPr lang="en-US" altLang="zh-CN"/>
              <a:t>2. </a:t>
            </a:r>
            <a:r>
              <a:rPr lang="zh-CN" altLang="en-US"/>
              <a:t>绘制树状图（</a:t>
            </a:r>
            <a:r>
              <a:rPr lang="en-US" altLang="zh-CN"/>
              <a:t>Dendrogram</a:t>
            </a:r>
            <a:r>
              <a:rPr lang="zh-CN" altLang="en-US"/>
              <a:t>）以展示层次化结构。</a:t>
            </a:r>
            <a:endParaRPr lang="zh-CN" altLang="en-US"/>
          </a:p>
          <a:p>
            <a:pPr algn="just"/>
            <a:endParaRPr lang="zh-CN" altLang="en-US"/>
          </a:p>
          <a:p>
            <a:pPr algn="just"/>
            <a:r>
              <a:rPr lang="en-US" altLang="zh-CN"/>
              <a:t>3. </a:t>
            </a:r>
            <a:r>
              <a:rPr lang="zh-CN" altLang="en-US"/>
              <a:t>根据树状图选择合适的切割点提取簇。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dirty="0"/>
              <a:t>以下是</a:t>
            </a:r>
            <a:r>
              <a:rPr lang="en-US" altLang="zh-CN" sz="2250" dirty="0"/>
              <a:t> Python </a:t>
            </a:r>
            <a:r>
              <a:rPr lang="zh-CN" altLang="en-US" sz="2250" dirty="0"/>
              <a:t>代码实现：</a:t>
            </a:r>
            <a:endParaRPr lang="zh-CN" alt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01015" y="952500"/>
            <a:ext cx="7854950" cy="2907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813435"/>
            <a:ext cx="7589520" cy="13868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" y="2200275"/>
            <a:ext cx="760476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15652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运行上述代码后，能够得到下图</a:t>
            </a:r>
            <a:r>
              <a:rPr lang="en-US" altLang="zh-CN" dirty="0"/>
              <a:t>8.3</a:t>
            </a:r>
            <a:r>
              <a:rPr lang="zh-CN" altLang="en-US" dirty="0"/>
              <a:t>，可以看到树状图清晰地展示了数据的层次化结构：前三篇文章形成一个簇，表示相似主题的文章；后三篇文章形成另一个簇，表示另一类主题的文章。新闻网站可以根据这些分类结果对文章进行归档或推荐。</a:t>
            </a:r>
            <a:endParaRPr lang="zh-CN" altLang="en-US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15" name="文本框 14"/>
          <p:cNvSpPr txBox="1"/>
          <p:nvPr/>
        </p:nvSpPr>
        <p:spPr>
          <a:xfrm>
            <a:off x="501015" y="2086610"/>
            <a:ext cx="7854950" cy="2459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" y="1600200"/>
            <a:ext cx="533400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照片分类</a:t>
            </a:r>
            <a:endParaRPr lang="en-US" sz="2250" dirty="0"/>
          </a:p>
        </p:txBody>
      </p:sp>
      <p:sp>
        <p:nvSpPr>
          <p:cNvPr id="19" name="文本框 18"/>
          <p:cNvSpPr txBox="1"/>
          <p:nvPr/>
        </p:nvSpPr>
        <p:spPr>
          <a:xfrm>
            <a:off x="554990" y="1158875"/>
            <a:ext cx="778573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/>
              <a:t>         </a:t>
            </a:r>
            <a:r>
              <a:rPr lang="zh-CN" altLang="en-US"/>
              <a:t>回忆本章开头，石榴同学拍摄了各种照片，想要对这些照片进行分类，经过研究，石榴同学决定尝试两种经典的聚类算法：</a:t>
            </a:r>
            <a:r>
              <a:rPr lang="en-US" altLang="zh-CN"/>
              <a:t>K-Means </a:t>
            </a:r>
            <a:r>
              <a:rPr lang="zh-CN" altLang="en-US"/>
              <a:t>和</a:t>
            </a:r>
            <a:r>
              <a:rPr lang="en-US" altLang="zh-CN"/>
              <a:t> DBSCAN</a:t>
            </a:r>
            <a:r>
              <a:rPr lang="zh-CN" altLang="en-US"/>
              <a:t>。她希望通过实验比较这两种算法在照片分类任务中的表现，并找到最适合的方法，具体任务包括：</a:t>
            </a:r>
            <a:endParaRPr lang="zh-CN" altLang="en-US"/>
          </a:p>
          <a:p>
            <a:pPr algn="just"/>
            <a:r>
              <a:rPr lang="en-US" altLang="zh-CN"/>
              <a:t>1. </a:t>
            </a:r>
            <a:r>
              <a:rPr lang="zh-CN" altLang="en-US"/>
              <a:t>使用图像特征提取方法（如颜色直方图或深度学习特征）将照片转换为特征向量。</a:t>
            </a:r>
            <a:endParaRPr lang="zh-CN" altLang="en-US"/>
          </a:p>
          <a:p>
            <a:pPr algn="just"/>
            <a:endParaRPr lang="zh-CN" altLang="en-US"/>
          </a:p>
          <a:p>
            <a:pPr algn="just"/>
            <a:r>
              <a:rPr lang="en-US" altLang="zh-CN"/>
              <a:t>2. </a:t>
            </a:r>
            <a:r>
              <a:rPr lang="zh-CN" altLang="en-US"/>
              <a:t>应用</a:t>
            </a:r>
            <a:r>
              <a:rPr lang="en-US" altLang="zh-CN"/>
              <a:t> K-Means </a:t>
            </a:r>
            <a:r>
              <a:rPr lang="zh-CN" altLang="en-US"/>
              <a:t>算法对照片进行分类，并分析其效果。</a:t>
            </a:r>
            <a:endParaRPr lang="zh-CN" altLang="en-US"/>
          </a:p>
          <a:p>
            <a:pPr algn="just"/>
            <a:endParaRPr lang="zh-CN" altLang="en-US"/>
          </a:p>
          <a:p>
            <a:pPr algn="just"/>
            <a:r>
              <a:rPr lang="en-US" altLang="zh-CN"/>
              <a:t>3. </a:t>
            </a:r>
            <a:r>
              <a:rPr lang="zh-CN" altLang="en-US"/>
              <a:t>应用</a:t>
            </a:r>
            <a:r>
              <a:rPr lang="en-US" altLang="zh-CN"/>
              <a:t> DBSCAN </a:t>
            </a:r>
            <a:r>
              <a:rPr lang="zh-CN" altLang="en-US"/>
              <a:t>算法对照片进行分类，并分析其对噪声的鲁棒性。</a:t>
            </a:r>
            <a:endParaRPr lang="zh-CN" altLang="en-US"/>
          </a:p>
          <a:p>
            <a:pPr algn="just"/>
            <a:endParaRPr lang="zh-CN" altLang="en-US"/>
          </a:p>
          <a:p>
            <a:pPr algn="just"/>
            <a:r>
              <a:rPr lang="en-US" altLang="zh-CN"/>
              <a:t>4. </a:t>
            </a:r>
            <a:r>
              <a:rPr lang="zh-CN" altLang="en-US"/>
              <a:t>对比两种算法的结果，选择更适合的算法并解释原因。</a:t>
            </a:r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475" y="11557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dirty="0"/>
              <a:t>以下是</a:t>
            </a:r>
            <a:r>
              <a:rPr lang="en-US" altLang="zh-CN" dirty="0"/>
              <a:t> Python </a:t>
            </a:r>
            <a:r>
              <a:rPr lang="zh-CN" altLang="en-US" dirty="0"/>
              <a:t>代码框架，供参考：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554990" y="1158875"/>
            <a:ext cx="7785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515620"/>
            <a:ext cx="5977255" cy="4041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" y="4570730"/>
            <a:ext cx="601599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475" y="11557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dirty="0"/>
              <a:t>运行上述程序后，输出结果如下图所示：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554990" y="1158875"/>
            <a:ext cx="7785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922020"/>
            <a:ext cx="7391400" cy="32994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总结与进阶讨论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12500" r="12500"/>
          <a:stretch>
            <a:fillRect/>
          </a:stretch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关键结论回顾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429125" y="13335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聚类算法概览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429125" y="158115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聚类算法将数据点分组，无需预设类别，适用于探索性数据分析。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691313" y="13335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性能度量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691630" y="1581150"/>
            <a:ext cx="1880870" cy="9912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内部指标评估簇内紧密性和簇间分离性，外部指标衡量聚类结果与真实标签一致性。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429125" y="24003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距离度量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359910" y="283845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欧氏、曼哈顿、余弦等距离度量影响聚类效果，选择应基于数据特性和任务需求。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388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课后任务布置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40195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24300" y="2019300"/>
            <a:ext cx="12954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聚类算法研究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19138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算法应用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76300" y="4038600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选择聚类算法，应用于实际数据集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76300" y="474345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分析和报告聚类结果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052638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文献综述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209800" y="4038600"/>
            <a:ext cx="10096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阅读至少三篇关于聚类算法最新进展的学术论文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09800" y="474345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总结关键观点和发现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86138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实验设计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43300" y="4038600"/>
            <a:ext cx="10096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设计实验对比两种聚类算法在特定数据集上的性能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43300" y="495300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撰写详细的实验报告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719638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数据集选择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76800" y="403860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选择适合的聚类算法的数据集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76800" y="453390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确保数据集的质量和代表性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53138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644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性能评估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210300" y="403860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定义性能评估指标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10300" y="453390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比较不同算法的性能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386638" y="3409950"/>
            <a:ext cx="1019175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结果分析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543800" y="403860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分析实验结果，得出结论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543800" y="4533900"/>
            <a:ext cx="100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讨论算法的优势和局限性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2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3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4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5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6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7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8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9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10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11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12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13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14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15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16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17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18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19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20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21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22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23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24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ags/tag25.xml><?xml version="1.0" encoding="utf-8"?>
<p:tagLst xmlns:p="http://schemas.openxmlformats.org/presentationml/2006/main">
  <p:tag name="KSO_WM_DIAGRAM_VIRTUALLY_FRAME" val="{&quot;height&quot;:218.25,&quot;left&quot;:30,&quot;top&quot;:112.5,&quot;width&quot;:66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5456</Words>
  <Application>WPS 演示</Application>
  <PresentationFormat>On-screen Show (16:9)</PresentationFormat>
  <Paragraphs>569</Paragraphs>
  <Slides>38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z</cp:lastModifiedBy>
  <cp:revision>3</cp:revision>
  <dcterms:created xsi:type="dcterms:W3CDTF">2025-04-19T08:21:00Z</dcterms:created>
  <dcterms:modified xsi:type="dcterms:W3CDTF">2025-04-19T10:02:37Z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6318138BCD6C4469ABFFDACCDC7B420A_12</vt:lpwstr>
  </property>
  <property fmtid="{D5CDD505-2E9C-101B-9397-08002B2CF9AE}" pid="3" name="KSOProductBuildVer">
    <vt:lpwstr>2052-12.8.2.19823</vt:lpwstr>
  </property>
</Properties>
</file>