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81" r:id="rId9"/>
    <p:sldId id="260" r:id="rId10"/>
    <p:sldId id="261" r:id="rId11"/>
    <p:sldId id="262" r:id="rId12"/>
    <p:sldId id="263" r:id="rId13"/>
    <p:sldId id="282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84" r:id="rId25"/>
    <p:sldId id="275" r:id="rId26"/>
    <p:sldId id="276" r:id="rId27"/>
    <p:sldId id="285" r:id="rId28"/>
    <p:sldId id="277" r:id="rId29"/>
    <p:sldId id="278" r:id="rId30"/>
    <p:sldId id="279" r:id="rId3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" Type="http://schemas.openxmlformats.org/officeDocument/2006/relationships/image" Target="../media/image4.png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8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tags" Target="../tags/tag10.xml"/><Relationship Id="rId25" Type="http://schemas.openxmlformats.org/officeDocument/2006/relationships/notesSlide" Target="../notesSlides/notesSlide6.xml"/><Relationship Id="rId24" Type="http://schemas.openxmlformats.org/officeDocument/2006/relationships/slideLayout" Target="../slideLayouts/slideLayout1.xml"/><Relationship Id="rId23" Type="http://schemas.openxmlformats.org/officeDocument/2006/relationships/tags" Target="../tags/tag30.xml"/><Relationship Id="rId22" Type="http://schemas.openxmlformats.org/officeDocument/2006/relationships/tags" Target="../tags/tag29.xml"/><Relationship Id="rId21" Type="http://schemas.openxmlformats.org/officeDocument/2006/relationships/tags" Target="../tags/tag28.xml"/><Relationship Id="rId20" Type="http://schemas.openxmlformats.org/officeDocument/2006/relationships/tags" Target="../tags/tag27.xml"/><Relationship Id="rId2" Type="http://schemas.openxmlformats.org/officeDocument/2006/relationships/tags" Target="../tags/tag9.xml"/><Relationship Id="rId19" Type="http://schemas.openxmlformats.org/officeDocument/2006/relationships/tags" Target="../tags/tag26.xml"/><Relationship Id="rId18" Type="http://schemas.openxmlformats.org/officeDocument/2006/relationships/tags" Target="../tags/tag25.xml"/><Relationship Id="rId17" Type="http://schemas.openxmlformats.org/officeDocument/2006/relationships/tags" Target="../tags/tag24.xml"/><Relationship Id="rId16" Type="http://schemas.openxmlformats.org/officeDocument/2006/relationships/tags" Target="../tags/tag23.xml"/><Relationship Id="rId15" Type="http://schemas.openxmlformats.org/officeDocument/2006/relationships/tags" Target="../tags/tag22.xml"/><Relationship Id="rId14" Type="http://schemas.openxmlformats.org/officeDocument/2006/relationships/tags" Target="../tags/tag21.xml"/><Relationship Id="rId13" Type="http://schemas.openxmlformats.org/officeDocument/2006/relationships/tags" Target="../tags/tag20.xml"/><Relationship Id="rId12" Type="http://schemas.openxmlformats.org/officeDocument/2006/relationships/tags" Target="../tags/tag19.xml"/><Relationship Id="rId11" Type="http://schemas.openxmlformats.org/officeDocument/2006/relationships/tags" Target="../tags/tag18.xml"/><Relationship Id="rId10" Type="http://schemas.openxmlformats.org/officeDocument/2006/relationships/tags" Target="../tags/tag1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36.xml"/><Relationship Id="rId8" Type="http://schemas.openxmlformats.org/officeDocument/2006/relationships/tags" Target="../tags/tag35.xml"/><Relationship Id="rId7" Type="http://schemas.openxmlformats.org/officeDocument/2006/relationships/image" Target="../media/image9.png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image" Target="../media/image8.png"/><Relationship Id="rId2" Type="http://schemas.openxmlformats.org/officeDocument/2006/relationships/tags" Target="../tags/tag31.xml"/><Relationship Id="rId19" Type="http://schemas.openxmlformats.org/officeDocument/2006/relationships/notesSlide" Target="../notesSlides/notesSlide8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42.xml"/><Relationship Id="rId16" Type="http://schemas.openxmlformats.org/officeDocument/2006/relationships/tags" Target="../tags/tag41.xml"/><Relationship Id="rId15" Type="http://schemas.openxmlformats.org/officeDocument/2006/relationships/image" Target="../media/image11.png"/><Relationship Id="rId14" Type="http://schemas.openxmlformats.org/officeDocument/2006/relationships/tags" Target="../tags/tag40.xml"/><Relationship Id="rId13" Type="http://schemas.openxmlformats.org/officeDocument/2006/relationships/tags" Target="../tags/tag39.xml"/><Relationship Id="rId12" Type="http://schemas.openxmlformats.org/officeDocument/2006/relationships/tags" Target="../tags/tag38.xml"/><Relationship Id="rId11" Type="http://schemas.openxmlformats.org/officeDocument/2006/relationships/image" Target="../media/image10.png"/><Relationship Id="rId10" Type="http://schemas.openxmlformats.org/officeDocument/2006/relationships/tags" Target="../tags/tag37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7.xml"/><Relationship Id="rId8" Type="http://schemas.openxmlformats.org/officeDocument/2006/relationships/image" Target="../media/image14.png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image" Target="../media/image13.png"/><Relationship Id="rId3" Type="http://schemas.openxmlformats.org/officeDocument/2006/relationships/tags" Target="../tags/tag43.xml"/><Relationship Id="rId2" Type="http://schemas.openxmlformats.org/officeDocument/2006/relationships/image" Target="../media/image12.jpeg"/><Relationship Id="rId17" Type="http://schemas.openxmlformats.org/officeDocument/2006/relationships/notesSlide" Target="../notesSlides/notesSlide9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52.xml"/><Relationship Id="rId14" Type="http://schemas.openxmlformats.org/officeDocument/2006/relationships/tags" Target="../tags/tag51.xml"/><Relationship Id="rId13" Type="http://schemas.openxmlformats.org/officeDocument/2006/relationships/tags" Target="../tags/tag50.xml"/><Relationship Id="rId12" Type="http://schemas.openxmlformats.org/officeDocument/2006/relationships/image" Target="../media/image15.png"/><Relationship Id="rId11" Type="http://schemas.openxmlformats.org/officeDocument/2006/relationships/tags" Target="../tags/tag49.xml"/><Relationship Id="rId10" Type="http://schemas.openxmlformats.org/officeDocument/2006/relationships/tags" Target="../tags/tag48.xml"/><Relationship Id="rId1" Type="http://schemas.openxmlformats.org/officeDocument/2006/relationships/image" Target="../media/image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58.xml"/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image" Target="../media/image7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image" Target="../media/image18.png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image" Target="../media/image17.png"/><Relationship Id="rId23" Type="http://schemas.openxmlformats.org/officeDocument/2006/relationships/notesSlide" Target="../notesSlides/notesSlide12.xml"/><Relationship Id="rId22" Type="http://schemas.openxmlformats.org/officeDocument/2006/relationships/slideLayout" Target="../slideLayouts/slideLayout1.xml"/><Relationship Id="rId21" Type="http://schemas.openxmlformats.org/officeDocument/2006/relationships/image" Target="../media/image22.png"/><Relationship Id="rId20" Type="http://schemas.openxmlformats.org/officeDocument/2006/relationships/tags" Target="../tags/tag72.xml"/><Relationship Id="rId2" Type="http://schemas.openxmlformats.org/officeDocument/2006/relationships/tags" Target="../tags/tag59.xml"/><Relationship Id="rId19" Type="http://schemas.openxmlformats.org/officeDocument/2006/relationships/tags" Target="../tags/tag71.xml"/><Relationship Id="rId18" Type="http://schemas.openxmlformats.org/officeDocument/2006/relationships/tags" Target="../tags/tag70.xml"/><Relationship Id="rId17" Type="http://schemas.openxmlformats.org/officeDocument/2006/relationships/image" Target="../media/image21.png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image" Target="../media/image20.png"/><Relationship Id="rId12" Type="http://schemas.openxmlformats.org/officeDocument/2006/relationships/tags" Target="../tags/tag66.xml"/><Relationship Id="rId11" Type="http://schemas.openxmlformats.org/officeDocument/2006/relationships/image" Target="../media/image19.png"/><Relationship Id="rId10" Type="http://schemas.openxmlformats.org/officeDocument/2006/relationships/tags" Target="../tags/tag65.xml"/><Relationship Id="rId1" Type="http://schemas.openxmlformats.org/officeDocument/2006/relationships/image" Target="../media/image3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78.xml"/><Relationship Id="rId8" Type="http://schemas.openxmlformats.org/officeDocument/2006/relationships/tags" Target="../tags/tag77.xml"/><Relationship Id="rId7" Type="http://schemas.openxmlformats.org/officeDocument/2006/relationships/image" Target="../media/image24.png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image" Target="../media/image23.png"/><Relationship Id="rId2" Type="http://schemas.openxmlformats.org/officeDocument/2006/relationships/tags" Target="../tags/tag73.xml"/><Relationship Id="rId15" Type="http://schemas.openxmlformats.org/officeDocument/2006/relationships/notesSlide" Target="../notesSlides/notesSlide13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81.xml"/><Relationship Id="rId12" Type="http://schemas.openxmlformats.org/officeDocument/2006/relationships/tags" Target="../tags/tag80.xml"/><Relationship Id="rId11" Type="http://schemas.openxmlformats.org/officeDocument/2006/relationships/image" Target="../media/image25.png"/><Relationship Id="rId10" Type="http://schemas.openxmlformats.org/officeDocument/2006/relationships/tags" Target="../tags/tag79.xml"/><Relationship Id="rId1" Type="http://schemas.openxmlformats.org/officeDocument/2006/relationships/image" Target="../media/image3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tags" Target="../tags/tag86.xml"/><Relationship Id="rId7" Type="http://schemas.openxmlformats.org/officeDocument/2006/relationships/image" Target="../media/image27.png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image" Target="../media/image26.png"/><Relationship Id="rId21" Type="http://schemas.openxmlformats.org/officeDocument/2006/relationships/notesSlide" Target="../notesSlides/notesSlide14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82.xml"/><Relationship Id="rId19" Type="http://schemas.openxmlformats.org/officeDocument/2006/relationships/image" Target="../media/image30.png"/><Relationship Id="rId18" Type="http://schemas.openxmlformats.org/officeDocument/2006/relationships/tags" Target="../tags/tag94.xml"/><Relationship Id="rId17" Type="http://schemas.openxmlformats.org/officeDocument/2006/relationships/tags" Target="../tags/tag93.xml"/><Relationship Id="rId16" Type="http://schemas.openxmlformats.org/officeDocument/2006/relationships/tags" Target="../tags/tag92.xml"/><Relationship Id="rId15" Type="http://schemas.openxmlformats.org/officeDocument/2006/relationships/image" Target="../media/image29.png"/><Relationship Id="rId14" Type="http://schemas.openxmlformats.org/officeDocument/2006/relationships/tags" Target="../tags/tag91.xml"/><Relationship Id="rId13" Type="http://schemas.openxmlformats.org/officeDocument/2006/relationships/tags" Target="../tags/tag90.xml"/><Relationship Id="rId12" Type="http://schemas.openxmlformats.org/officeDocument/2006/relationships/tags" Target="../tags/tag89.xml"/><Relationship Id="rId11" Type="http://schemas.openxmlformats.org/officeDocument/2006/relationships/image" Target="../media/image28.png"/><Relationship Id="rId10" Type="http://schemas.openxmlformats.org/officeDocument/2006/relationships/tags" Target="../tags/tag88.xml"/><Relationship Id="rId1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00.xml"/><Relationship Id="rId8" Type="http://schemas.openxmlformats.org/officeDocument/2006/relationships/tags" Target="../tags/tag99.xml"/><Relationship Id="rId7" Type="http://schemas.openxmlformats.org/officeDocument/2006/relationships/image" Target="../media/image32.png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" Type="http://schemas.openxmlformats.org/officeDocument/2006/relationships/image" Target="../media/image31.png"/><Relationship Id="rId27" Type="http://schemas.openxmlformats.org/officeDocument/2006/relationships/notesSlide" Target="../notesSlides/notesSlide16.xml"/><Relationship Id="rId26" Type="http://schemas.openxmlformats.org/officeDocument/2006/relationships/slideLayout" Target="../slideLayouts/slideLayout1.xml"/><Relationship Id="rId25" Type="http://schemas.openxmlformats.org/officeDocument/2006/relationships/image" Target="../media/image38.png"/><Relationship Id="rId24" Type="http://schemas.openxmlformats.org/officeDocument/2006/relationships/tags" Target="../tags/tag110.xml"/><Relationship Id="rId23" Type="http://schemas.openxmlformats.org/officeDocument/2006/relationships/tags" Target="../tags/tag109.xml"/><Relationship Id="rId22" Type="http://schemas.openxmlformats.org/officeDocument/2006/relationships/tags" Target="../tags/tag108.xml"/><Relationship Id="rId21" Type="http://schemas.openxmlformats.org/officeDocument/2006/relationships/image" Target="../media/image37.png"/><Relationship Id="rId20" Type="http://schemas.openxmlformats.org/officeDocument/2006/relationships/tags" Target="../tags/tag107.xml"/><Relationship Id="rId2" Type="http://schemas.openxmlformats.org/officeDocument/2006/relationships/tags" Target="../tags/tag95.xml"/><Relationship Id="rId19" Type="http://schemas.openxmlformats.org/officeDocument/2006/relationships/image" Target="../media/image36.png"/><Relationship Id="rId18" Type="http://schemas.openxmlformats.org/officeDocument/2006/relationships/tags" Target="../tags/tag106.xml"/><Relationship Id="rId17" Type="http://schemas.openxmlformats.org/officeDocument/2006/relationships/tags" Target="../tags/tag105.xml"/><Relationship Id="rId16" Type="http://schemas.openxmlformats.org/officeDocument/2006/relationships/tags" Target="../tags/tag104.xml"/><Relationship Id="rId15" Type="http://schemas.openxmlformats.org/officeDocument/2006/relationships/image" Target="../media/image35.png"/><Relationship Id="rId14" Type="http://schemas.openxmlformats.org/officeDocument/2006/relationships/tags" Target="../tags/tag103.xml"/><Relationship Id="rId13" Type="http://schemas.openxmlformats.org/officeDocument/2006/relationships/image" Target="../media/image34.png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image" Target="../media/image33.png"/><Relationship Id="rId1" Type="http://schemas.openxmlformats.org/officeDocument/2006/relationships/image" Target="../media/image7.jpe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image" Target="../media/image3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3.png"/><Relationship Id="rId1" Type="http://schemas.openxmlformats.org/officeDocument/2006/relationships/image" Target="../media/image7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117.xml"/><Relationship Id="rId8" Type="http://schemas.openxmlformats.org/officeDocument/2006/relationships/tags" Target="../tags/tag116.xml"/><Relationship Id="rId7" Type="http://schemas.openxmlformats.org/officeDocument/2006/relationships/tags" Target="../tags/tag115.xml"/><Relationship Id="rId6" Type="http://schemas.openxmlformats.org/officeDocument/2006/relationships/tags" Target="../tags/tag114.xml"/><Relationship Id="rId5" Type="http://schemas.openxmlformats.org/officeDocument/2006/relationships/tags" Target="../tags/tag113.xml"/><Relationship Id="rId4" Type="http://schemas.openxmlformats.org/officeDocument/2006/relationships/tags" Target="../tags/tag112.xml"/><Relationship Id="rId3" Type="http://schemas.openxmlformats.org/officeDocument/2006/relationships/image" Target="../media/image44.png"/><Relationship Id="rId2" Type="http://schemas.openxmlformats.org/officeDocument/2006/relationships/tags" Target="../tags/tag111.xml"/><Relationship Id="rId15" Type="http://schemas.openxmlformats.org/officeDocument/2006/relationships/notesSlide" Target="../notesSlides/notesSlide20.xml"/><Relationship Id="rId14" Type="http://schemas.openxmlformats.org/officeDocument/2006/relationships/slideLayout" Target="../slideLayouts/slideLayout1.xml"/><Relationship Id="rId13" Type="http://schemas.openxmlformats.org/officeDocument/2006/relationships/tags" Target="../tags/tag121.xml"/><Relationship Id="rId12" Type="http://schemas.openxmlformats.org/officeDocument/2006/relationships/tags" Target="../tags/tag120.xml"/><Relationship Id="rId11" Type="http://schemas.openxmlformats.org/officeDocument/2006/relationships/tags" Target="../tags/tag119.xml"/><Relationship Id="rId10" Type="http://schemas.openxmlformats.org/officeDocument/2006/relationships/tags" Target="../tags/tag118.xml"/><Relationship Id="rId1" Type="http://schemas.openxmlformats.org/officeDocument/2006/relationships/image" Target="../media/image7.jpeg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129.xml"/><Relationship Id="rId8" Type="http://schemas.openxmlformats.org/officeDocument/2006/relationships/tags" Target="../tags/tag128.xml"/><Relationship Id="rId7" Type="http://schemas.openxmlformats.org/officeDocument/2006/relationships/tags" Target="../tags/tag127.xml"/><Relationship Id="rId6" Type="http://schemas.openxmlformats.org/officeDocument/2006/relationships/tags" Target="../tags/tag126.xml"/><Relationship Id="rId5" Type="http://schemas.openxmlformats.org/officeDocument/2006/relationships/tags" Target="../tags/tag125.xml"/><Relationship Id="rId4" Type="http://schemas.openxmlformats.org/officeDocument/2006/relationships/tags" Target="../tags/tag124.xml"/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5" Type="http://schemas.openxmlformats.org/officeDocument/2006/relationships/notesSlide" Target="../notesSlides/notesSlide21.xml"/><Relationship Id="rId14" Type="http://schemas.openxmlformats.org/officeDocument/2006/relationships/slideLayout" Target="../slideLayouts/slideLayout2.xml"/><Relationship Id="rId13" Type="http://schemas.openxmlformats.org/officeDocument/2006/relationships/image" Target="../media/image45.png"/><Relationship Id="rId12" Type="http://schemas.openxmlformats.org/officeDocument/2006/relationships/tags" Target="../tags/tag132.xml"/><Relationship Id="rId11" Type="http://schemas.openxmlformats.org/officeDocument/2006/relationships/tags" Target="../tags/tag131.xml"/><Relationship Id="rId10" Type="http://schemas.openxmlformats.org/officeDocument/2006/relationships/tags" Target="../tags/tag130.xml"/><Relationship Id="rId1" Type="http://schemas.openxmlformats.org/officeDocument/2006/relationships/image" Target="../media/image7.jpe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140.xml"/><Relationship Id="rId8" Type="http://schemas.openxmlformats.org/officeDocument/2006/relationships/tags" Target="../tags/tag139.xml"/><Relationship Id="rId7" Type="http://schemas.openxmlformats.org/officeDocument/2006/relationships/tags" Target="../tags/tag138.xml"/><Relationship Id="rId6" Type="http://schemas.openxmlformats.org/officeDocument/2006/relationships/tags" Target="../tags/tag137.xml"/><Relationship Id="rId5" Type="http://schemas.openxmlformats.org/officeDocument/2006/relationships/tags" Target="../tags/tag136.xml"/><Relationship Id="rId4" Type="http://schemas.openxmlformats.org/officeDocument/2006/relationships/tags" Target="../tags/tag135.xml"/><Relationship Id="rId3" Type="http://schemas.openxmlformats.org/officeDocument/2006/relationships/tags" Target="../tags/tag134.xml"/><Relationship Id="rId2" Type="http://schemas.openxmlformats.org/officeDocument/2006/relationships/tags" Target="../tags/tag133.xml"/><Relationship Id="rId14" Type="http://schemas.openxmlformats.org/officeDocument/2006/relationships/notesSlide" Target="../notesSlides/notesSlide22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46.png"/><Relationship Id="rId11" Type="http://schemas.openxmlformats.org/officeDocument/2006/relationships/tags" Target="../tags/tag142.xml"/><Relationship Id="rId10" Type="http://schemas.openxmlformats.org/officeDocument/2006/relationships/tags" Target="../tags/tag141.xml"/><Relationship Id="rId1" Type="http://schemas.openxmlformats.org/officeDocument/2006/relationships/image" Target="../media/image3.jpe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148.xml"/><Relationship Id="rId8" Type="http://schemas.openxmlformats.org/officeDocument/2006/relationships/tags" Target="../tags/tag147.xml"/><Relationship Id="rId7" Type="http://schemas.openxmlformats.org/officeDocument/2006/relationships/tags" Target="../tags/tag146.xml"/><Relationship Id="rId6" Type="http://schemas.openxmlformats.org/officeDocument/2006/relationships/image" Target="../media/image48.png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3" Type="http://schemas.openxmlformats.org/officeDocument/2006/relationships/image" Target="../media/image47.png"/><Relationship Id="rId20" Type="http://schemas.openxmlformats.org/officeDocument/2006/relationships/notesSlide" Target="../notesSlides/notesSlide23.xml"/><Relationship Id="rId2" Type="http://schemas.openxmlformats.org/officeDocument/2006/relationships/tags" Target="../tags/tag143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55.xml"/><Relationship Id="rId17" Type="http://schemas.openxmlformats.org/officeDocument/2006/relationships/tags" Target="../tags/tag154.xml"/><Relationship Id="rId16" Type="http://schemas.openxmlformats.org/officeDocument/2006/relationships/tags" Target="../tags/tag153.xml"/><Relationship Id="rId15" Type="http://schemas.openxmlformats.org/officeDocument/2006/relationships/tags" Target="../tags/tag152.xml"/><Relationship Id="rId14" Type="http://schemas.openxmlformats.org/officeDocument/2006/relationships/image" Target="../media/image50.png"/><Relationship Id="rId13" Type="http://schemas.openxmlformats.org/officeDocument/2006/relationships/tags" Target="../tags/tag151.xml"/><Relationship Id="rId12" Type="http://schemas.openxmlformats.org/officeDocument/2006/relationships/tags" Target="../tags/tag150.xml"/><Relationship Id="rId11" Type="http://schemas.openxmlformats.org/officeDocument/2006/relationships/tags" Target="../tags/tag149.xml"/><Relationship Id="rId10" Type="http://schemas.openxmlformats.org/officeDocument/2006/relationships/image" Target="../media/image49.png"/><Relationship Id="rId1" Type="http://schemas.openxmlformats.org/officeDocument/2006/relationships/image" Target="../media/image7.jpe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image" Target="../media/image7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image" Target="../media/image7.jpe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7.png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500188"/>
            <a:ext cx="80010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支持向量机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571500" y="2243138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150"/>
              </a:lnSpc>
              <a:buNone/>
            </a:pP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4269581" y="2976563"/>
            <a:ext cx="604838" cy="114300"/>
          </a:xfrm>
          <a:prstGeom prst="rect">
            <a:avLst/>
          </a:prstGeom>
          <a:solidFill>
            <a:srgbClr val="000000"/>
          </a:solidFill>
        </p:spPr>
      </p:sp>
      <p:sp>
        <p:nvSpPr>
          <p:cNvPr id="6" name="Text 3"/>
          <p:cNvSpPr/>
          <p:nvPr/>
        </p:nvSpPr>
        <p:spPr>
          <a:xfrm>
            <a:off x="571500" y="3424238"/>
            <a:ext cx="8001000" cy="2190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725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李石峰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295275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3433763"/>
            <a:ext cx="18573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content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71500" y="4176713"/>
            <a:ext cx="180975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目录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3524250" y="988219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875" dirty="0"/>
          </a:p>
        </p:txBody>
      </p:sp>
      <p:sp>
        <p:nvSpPr>
          <p:cNvPr id="7" name="Text 4"/>
          <p:cNvSpPr/>
          <p:nvPr/>
        </p:nvSpPr>
        <p:spPr>
          <a:xfrm>
            <a:off x="3990975" y="105965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SVM概览与基本概念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3990975" y="130730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524250" y="1616869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875" dirty="0"/>
          </a:p>
        </p:txBody>
      </p:sp>
      <p:sp>
        <p:nvSpPr>
          <p:cNvPr id="10" name="Text 7"/>
          <p:cNvSpPr/>
          <p:nvPr/>
        </p:nvSpPr>
        <p:spPr>
          <a:xfrm>
            <a:off x="3990975" y="168830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SVM核心算法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3990975" y="193595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3524250" y="2245519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3990975" y="231695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SVM优化与求解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990975" y="256460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524250" y="2874169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875" dirty="0"/>
          </a:p>
        </p:txBody>
      </p:sp>
      <p:sp>
        <p:nvSpPr>
          <p:cNvPr id="16" name="Text 13"/>
          <p:cNvSpPr/>
          <p:nvPr/>
        </p:nvSpPr>
        <p:spPr>
          <a:xfrm>
            <a:off x="3990975" y="294560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实践应用与案例分析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3990975" y="319325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3524250" y="3502819"/>
            <a:ext cx="352425" cy="33337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040"/>
              </a:lnSpc>
              <a:buNone/>
            </a:pPr>
            <a:r>
              <a:rPr lang="en-US" sz="1875" b="1" dirty="0">
                <a:solidFill>
                  <a:srgbClr val="4784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875" dirty="0"/>
          </a:p>
        </p:txBody>
      </p:sp>
      <p:sp>
        <p:nvSpPr>
          <p:cNvPr id="19" name="Text 16"/>
          <p:cNvSpPr/>
          <p:nvPr/>
        </p:nvSpPr>
        <p:spPr>
          <a:xfrm>
            <a:off x="3990975" y="357425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细节补充与综合总结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3990975" y="3821906"/>
            <a:ext cx="4581525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SVM概览与基本概念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2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水果分类问题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428750"/>
            <a:ext cx="8382000" cy="3152775"/>
          </a:xfrm>
          <a:prstGeom prst="rect">
            <a:avLst/>
          </a:prstGeom>
        </p:spPr>
      </p:pic>
      <p:sp>
        <p:nvSpPr>
          <p:cNvPr id="7" name="Text 3"/>
          <p:cNvSpPr/>
          <p:nvPr>
            <p:custDataLst>
              <p:tags r:id="rId3"/>
            </p:custDataLst>
          </p:nvPr>
        </p:nvSpPr>
        <p:spPr>
          <a:xfrm>
            <a:off x="781050" y="1466850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比赛背景</a:t>
            </a:r>
            <a:endParaRPr lang="en-US" sz="2000" dirty="0"/>
          </a:p>
        </p:txBody>
      </p:sp>
      <p:sp>
        <p:nvSpPr>
          <p:cNvPr id="8" name="Text 4"/>
          <p:cNvSpPr/>
          <p:nvPr>
            <p:custDataLst>
              <p:tags r:id="rId4"/>
            </p:custDataLst>
          </p:nvPr>
        </p:nvSpPr>
        <p:spPr>
          <a:xfrm>
            <a:off x="781050" y="2147888"/>
            <a:ext cx="1557338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石榴同学参加数据科学比赛，任务是区分苹果和橙子。</a:t>
            </a:r>
            <a:endParaRPr lang="en-US" sz="1200" dirty="0"/>
          </a:p>
        </p:txBody>
      </p:sp>
      <p:sp>
        <p:nvSpPr>
          <p:cNvPr id="9" name="Text 5"/>
          <p:cNvSpPr/>
          <p:nvPr>
            <p:custDataLst>
              <p:tags r:id="rId5"/>
            </p:custDataLst>
          </p:nvPr>
        </p:nvSpPr>
        <p:spPr>
          <a:xfrm>
            <a:off x="2757488" y="1466850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特征选择</a:t>
            </a:r>
            <a:endParaRPr lang="en-US" sz="2000" dirty="0"/>
          </a:p>
        </p:txBody>
      </p:sp>
      <p:sp>
        <p:nvSpPr>
          <p:cNvPr id="10" name="Text 6"/>
          <p:cNvSpPr/>
          <p:nvPr>
            <p:custDataLst>
              <p:tags r:id="rId6"/>
            </p:custDataLst>
          </p:nvPr>
        </p:nvSpPr>
        <p:spPr>
          <a:xfrm>
            <a:off x="2757488" y="2147888"/>
            <a:ext cx="1557338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使用水果样本的重量和果皮红度值作为特征。</a:t>
            </a:r>
            <a:endParaRPr lang="en-US" sz="1200" dirty="0"/>
          </a:p>
        </p:txBody>
      </p:sp>
      <p:sp>
        <p:nvSpPr>
          <p:cNvPr id="11" name="Text 7"/>
          <p:cNvSpPr/>
          <p:nvPr>
            <p:custDataLst>
              <p:tags r:id="rId7"/>
            </p:custDataLst>
          </p:nvPr>
        </p:nvSpPr>
        <p:spPr>
          <a:xfrm>
            <a:off x="4733925" y="1466850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传统方法</a:t>
            </a:r>
            <a:endParaRPr lang="en-US" sz="2000" dirty="0"/>
          </a:p>
        </p:txBody>
      </p:sp>
      <p:sp>
        <p:nvSpPr>
          <p:cNvPr id="12" name="Text 8"/>
          <p:cNvSpPr/>
          <p:nvPr>
            <p:custDataLst>
              <p:tags r:id="rId8"/>
            </p:custDataLst>
          </p:nvPr>
        </p:nvSpPr>
        <p:spPr>
          <a:xfrm>
            <a:off x="4733925" y="2147888"/>
            <a:ext cx="1557338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传统逻辑回归方法因异常样本导致过拟合，分类准确性下降。</a:t>
            </a:r>
            <a:endParaRPr lang="en-US" sz="1200" dirty="0"/>
          </a:p>
        </p:txBody>
      </p:sp>
      <p:sp>
        <p:nvSpPr>
          <p:cNvPr id="13" name="Text 9"/>
          <p:cNvSpPr/>
          <p:nvPr>
            <p:custDataLst>
              <p:tags r:id="rId9"/>
            </p:custDataLst>
          </p:nvPr>
        </p:nvSpPr>
        <p:spPr>
          <a:xfrm>
            <a:off x="6710363" y="1466850"/>
            <a:ext cx="155733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SVM优势</a:t>
            </a:r>
            <a:endParaRPr lang="en-US" sz="2000" dirty="0"/>
          </a:p>
        </p:txBody>
      </p:sp>
      <p:sp>
        <p:nvSpPr>
          <p:cNvPr id="14" name="Text 10"/>
          <p:cNvSpPr/>
          <p:nvPr>
            <p:custDataLst>
              <p:tags r:id="rId10"/>
            </p:custDataLst>
          </p:nvPr>
        </p:nvSpPr>
        <p:spPr>
          <a:xfrm>
            <a:off x="6710363" y="2147888"/>
            <a:ext cx="1557338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支持向量机通过寻找最大间隔的决策边界，提高模型的泛化能力。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781050" y="3233737"/>
            <a:ext cx="3533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异常值处理</a:t>
            </a:r>
            <a:endParaRPr lang="en-US" sz="2000" dirty="0"/>
          </a:p>
        </p:txBody>
      </p:sp>
      <p:sp>
        <p:nvSpPr>
          <p:cNvPr id="16" name="Text 12"/>
          <p:cNvSpPr/>
          <p:nvPr/>
        </p:nvSpPr>
        <p:spPr>
          <a:xfrm>
            <a:off x="781050" y="3914775"/>
            <a:ext cx="3533775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SVM在存在异常值的情况下，仍能保持分类边界的稳定性。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733925" y="3233737"/>
            <a:ext cx="3533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模型效果</a:t>
            </a:r>
            <a:endParaRPr lang="en-US" sz="2000" dirty="0"/>
          </a:p>
        </p:txBody>
      </p:sp>
      <p:sp>
        <p:nvSpPr>
          <p:cNvPr id="18" name="Text 14"/>
          <p:cNvSpPr/>
          <p:nvPr/>
        </p:nvSpPr>
        <p:spPr>
          <a:xfrm>
            <a:off x="4733925" y="3914775"/>
            <a:ext cx="3533775" cy="247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SVM提高了模型的分类效果，解决了过拟合问题。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水果分类问题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rcRect l="1142" t="136" r="6297"/>
          <a:stretch>
            <a:fillRect/>
          </a:stretch>
        </p:blipFill>
        <p:spPr>
          <a:xfrm>
            <a:off x="100330" y="1346200"/>
            <a:ext cx="8851265" cy="2987675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293370" y="4210050"/>
            <a:ext cx="8664575" cy="5588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457200" algn="just" fontAlgn="auto">
              <a:extLst>
                <a:ext uri="{35155182-B16C-46BC-9424-99874614C6A1}">
                  <wpsdc:indentchars xmlns:wpsdc="http://www.wps.cn/officeDocument/2017/drawingmlCustomData" val="200" checksum="59296752"/>
                </a:ext>
              </a:extLst>
            </a:pPr>
            <a:r>
              <a:rPr lang="zh-CN" altLang="en-US"/>
              <a:t>上图中黑黄两个颜色的圆点展示两类样本的分布情况，其中黑色圆点代表苹果，黄色圆点代表橙子，各类样本数量均为</a:t>
            </a:r>
            <a:r>
              <a:rPr lang="en-US" altLang="zh-CN"/>
              <a:t>50</a:t>
            </a:r>
            <a:r>
              <a:rPr lang="zh-CN" altLang="en-US"/>
              <a:t>。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  <p:txBody>
          <a:bodyPr/>
          <a:p>
            <a:endParaRPr lang="zh-CN" altLang="en-US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1"/>
          <a:srcRect l="12500" r="12500"/>
          <a:stretch>
            <a:fillRect/>
          </a:stretch>
        </p:blipFill>
        <p:spPr>
          <a:xfrm>
            <a:off x="0" y="0"/>
            <a:ext cx="2037080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48840" y="133985"/>
            <a:ext cx="40386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SVM基本概念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4429125" y="742950"/>
            <a:ext cx="40386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grpSp>
        <p:nvGrpSpPr>
          <p:cNvPr id="25" name="组合 24"/>
          <p:cNvGrpSpPr/>
          <p:nvPr>
            <p:custDataLst>
              <p:tags r:id="rId2"/>
            </p:custDataLst>
          </p:nvPr>
        </p:nvGrpSpPr>
        <p:grpSpPr>
          <a:xfrm>
            <a:off x="4411345" y="1127125"/>
            <a:ext cx="1888490" cy="1630045"/>
            <a:chOff x="6947" y="1775"/>
            <a:chExt cx="2974" cy="2567"/>
          </a:xfrm>
        </p:grpSpPr>
        <p:sp>
          <p:nvSpPr>
            <p:cNvPr id="7" name="Text 3"/>
            <p:cNvSpPr/>
            <p:nvPr>
              <p:custDataLst>
                <p:tags r:id="rId3"/>
              </p:custDataLst>
            </p:nvPr>
          </p:nvSpPr>
          <p:spPr>
            <a:xfrm>
              <a:off x="6947" y="1775"/>
              <a:ext cx="2975" cy="33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l">
                <a:lnSpc>
                  <a:spcPts val="1650"/>
                </a:lnSpc>
                <a:buNone/>
              </a:pPr>
              <a:r>
                <a:rPr lang="en-US" sz="1200" b="1" dirty="0">
                  <a:solidFill>
                    <a:srgbClr val="4784C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03</a:t>
              </a:r>
              <a:endParaRPr lang="en-US" sz="1200" dirty="0"/>
            </a:p>
          </p:txBody>
        </p:sp>
        <p:sp>
          <p:nvSpPr>
            <p:cNvPr id="8" name="Text 4"/>
            <p:cNvSpPr/>
            <p:nvPr>
              <p:custDataLst>
                <p:tags r:id="rId4"/>
              </p:custDataLst>
            </p:nvPr>
          </p:nvSpPr>
          <p:spPr>
            <a:xfrm>
              <a:off x="6947" y="2295"/>
              <a:ext cx="2975" cy="33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l">
                <a:lnSpc>
                  <a:spcPts val="1650"/>
                </a:lnSpc>
                <a:buNone/>
              </a:pPr>
              <a:r>
                <a:rPr lang="zh-CN" altLang="en-US" sz="16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硬</a:t>
              </a:r>
              <a:r>
                <a:rPr lang="en-US" sz="16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间隔</a:t>
              </a:r>
              <a:endParaRPr lang="en-US" sz="1600" dirty="0"/>
            </a:p>
          </p:txBody>
        </p:sp>
        <p:sp>
          <p:nvSpPr>
            <p:cNvPr id="9" name="Text 5"/>
            <p:cNvSpPr/>
            <p:nvPr>
              <p:custDataLst>
                <p:tags r:id="rId5"/>
              </p:custDataLst>
            </p:nvPr>
          </p:nvSpPr>
          <p:spPr>
            <a:xfrm>
              <a:off x="6947" y="2686"/>
              <a:ext cx="2975" cy="1657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l">
                <a:lnSpc>
                  <a:spcPts val="1650"/>
                </a:lnSpc>
                <a:buNone/>
              </a:pPr>
              <a:endParaRPr lang="en-US" sz="1050" dirty="0"/>
            </a:p>
          </p:txBody>
        </p:sp>
      </p:grpSp>
      <p:sp>
        <p:nvSpPr>
          <p:cNvPr id="10" name="Text 6"/>
          <p:cNvSpPr/>
          <p:nvPr>
            <p:custDataLst>
              <p:tags r:id="rId6"/>
            </p:custDataLst>
          </p:nvPr>
        </p:nvSpPr>
        <p:spPr>
          <a:xfrm>
            <a:off x="6683127" y="1127125"/>
            <a:ext cx="1889373" cy="21524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4784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200" dirty="0"/>
          </a:p>
        </p:txBody>
      </p:sp>
      <p:sp>
        <p:nvSpPr>
          <p:cNvPr id="13" name="Text 9"/>
          <p:cNvSpPr/>
          <p:nvPr>
            <p:custDataLst>
              <p:tags r:id="rId7"/>
            </p:custDataLst>
          </p:nvPr>
        </p:nvSpPr>
        <p:spPr>
          <a:xfrm>
            <a:off x="4411095" y="2949534"/>
            <a:ext cx="1889373" cy="21524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4784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200" dirty="0"/>
          </a:p>
        </p:txBody>
      </p:sp>
      <p:sp>
        <p:nvSpPr>
          <p:cNvPr id="14" name="Text 10"/>
          <p:cNvSpPr/>
          <p:nvPr>
            <p:custDataLst>
              <p:tags r:id="rId8"/>
            </p:custDataLst>
          </p:nvPr>
        </p:nvSpPr>
        <p:spPr>
          <a:xfrm>
            <a:off x="6683125" y="3249096"/>
            <a:ext cx="1889373" cy="21046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对偶问题</a:t>
            </a:r>
            <a:endParaRPr lang="zh-CN" altLang="en-US" sz="1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5" name="Text 11"/>
          <p:cNvSpPr/>
          <p:nvPr>
            <p:custDataLst>
              <p:tags r:id="rId9"/>
            </p:custDataLst>
          </p:nvPr>
        </p:nvSpPr>
        <p:spPr>
          <a:xfrm>
            <a:off x="6599555" y="1706245"/>
            <a:ext cx="2403475" cy="10763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软间隔允许某些数据点位于决策边界错误的一侧，通过引入松弛变量来衡量这些“违规”数据点的程度，使得模型更加鲁棒，不会因为少数异常值而过度拟合。</a:t>
            </a:r>
            <a:endParaRPr lang="en-US" sz="1200" dirty="0">
              <a:solidFill>
                <a:schemeClr val="bg2">
                  <a:lumMod val="50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6" name="Text 12"/>
          <p:cNvSpPr/>
          <p:nvPr>
            <p:custDataLst>
              <p:tags r:id="rId10"/>
            </p:custDataLst>
          </p:nvPr>
        </p:nvSpPr>
        <p:spPr>
          <a:xfrm>
            <a:off x="6683127" y="2949534"/>
            <a:ext cx="1889373" cy="21524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4784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1200" dirty="0"/>
          </a:p>
        </p:txBody>
      </p:sp>
      <p:sp>
        <p:nvSpPr>
          <p:cNvPr id="17" name="Text 13"/>
          <p:cNvSpPr/>
          <p:nvPr>
            <p:custDataLst>
              <p:tags r:id="rId11"/>
            </p:custDataLst>
          </p:nvPr>
        </p:nvSpPr>
        <p:spPr>
          <a:xfrm>
            <a:off x="6683127" y="1456491"/>
            <a:ext cx="1889373" cy="21046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软间隔</a:t>
            </a:r>
            <a:endParaRPr lang="zh-CN" altLang="en-US" sz="1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8" name="Text 14"/>
          <p:cNvSpPr/>
          <p:nvPr>
            <p:custDataLst>
              <p:tags r:id="rId12"/>
            </p:custDataLst>
          </p:nvPr>
        </p:nvSpPr>
        <p:spPr>
          <a:xfrm>
            <a:off x="2139067" y="3605139"/>
            <a:ext cx="1889373" cy="1262771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核函数用于将数据从原始空间映射到一个更高维的空间，使得在高维空间中数据更容易线性可分，常见的核函数包括线性核、多项式核、高斯径向基核（RBF核）等。</a:t>
            </a:r>
            <a:endParaRPr lang="en-US" sz="1200" dirty="0">
              <a:solidFill>
                <a:schemeClr val="bg2">
                  <a:lumMod val="50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19" name="Text 3"/>
          <p:cNvSpPr/>
          <p:nvPr>
            <p:custDataLst>
              <p:tags r:id="rId13"/>
            </p:custDataLst>
          </p:nvPr>
        </p:nvSpPr>
        <p:spPr>
          <a:xfrm>
            <a:off x="2139065" y="1127125"/>
            <a:ext cx="1889373" cy="21524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4784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200" dirty="0"/>
          </a:p>
        </p:txBody>
      </p:sp>
      <p:sp>
        <p:nvSpPr>
          <p:cNvPr id="20" name="Text 3"/>
          <p:cNvSpPr/>
          <p:nvPr>
            <p:custDataLst>
              <p:tags r:id="rId14"/>
            </p:custDataLst>
          </p:nvPr>
        </p:nvSpPr>
        <p:spPr>
          <a:xfrm>
            <a:off x="2139065" y="2949575"/>
            <a:ext cx="1889373" cy="21524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4784C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200" dirty="0"/>
          </a:p>
        </p:txBody>
      </p:sp>
      <p:sp>
        <p:nvSpPr>
          <p:cNvPr id="21" name="Text 4"/>
          <p:cNvSpPr/>
          <p:nvPr>
            <p:custDataLst>
              <p:tags r:id="rId15"/>
            </p:custDataLst>
          </p:nvPr>
        </p:nvSpPr>
        <p:spPr>
          <a:xfrm>
            <a:off x="2139065" y="3279618"/>
            <a:ext cx="1889373" cy="21046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p>
            <a:pPr marL="0" indent="0" algn="l">
              <a:lnSpc>
                <a:spcPts val="1650"/>
              </a:lnSpc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核函数</a:t>
            </a:r>
            <a:endParaRPr lang="zh-CN" altLang="en-US" sz="1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22" name="Text 4"/>
          <p:cNvSpPr/>
          <p:nvPr>
            <p:custDataLst>
              <p:tags r:id="rId16"/>
            </p:custDataLst>
          </p:nvPr>
        </p:nvSpPr>
        <p:spPr>
          <a:xfrm>
            <a:off x="2139065" y="1457168"/>
            <a:ext cx="1889373" cy="21046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间隔</a:t>
            </a:r>
            <a:endParaRPr lang="en-US" sz="1600" dirty="0"/>
          </a:p>
        </p:txBody>
      </p:sp>
      <p:sp>
        <p:nvSpPr>
          <p:cNvPr id="24" name="Text 5"/>
          <p:cNvSpPr/>
          <p:nvPr>
            <p:custDataLst>
              <p:tags r:id="rId17"/>
            </p:custDataLst>
          </p:nvPr>
        </p:nvSpPr>
        <p:spPr>
          <a:xfrm>
            <a:off x="2139065" y="1705896"/>
            <a:ext cx="1889373" cy="1052309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grpSp>
        <p:nvGrpSpPr>
          <p:cNvPr id="26" name="组合 25"/>
          <p:cNvGrpSpPr/>
          <p:nvPr>
            <p:custDataLst>
              <p:tags r:id="rId18"/>
            </p:custDataLst>
          </p:nvPr>
        </p:nvGrpSpPr>
        <p:grpSpPr>
          <a:xfrm>
            <a:off x="4345659" y="133789"/>
            <a:ext cx="4226560" cy="1105638"/>
            <a:chOff x="6423" y="1461"/>
            <a:chExt cx="5726" cy="1736"/>
          </a:xfrm>
        </p:grpSpPr>
        <p:sp>
          <p:nvSpPr>
            <p:cNvPr id="27" name="Text 3"/>
            <p:cNvSpPr/>
            <p:nvPr>
              <p:custDataLst>
                <p:tags r:id="rId19"/>
              </p:custDataLst>
            </p:nvPr>
          </p:nvSpPr>
          <p:spPr>
            <a:xfrm>
              <a:off x="6423" y="1461"/>
              <a:ext cx="2975" cy="339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p>
              <a:pPr marL="0" indent="0" algn="l">
                <a:lnSpc>
                  <a:spcPts val="1650"/>
                </a:lnSpc>
                <a:buNone/>
              </a:pPr>
              <a:r>
                <a:rPr lang="en-US" sz="1200" b="1" dirty="0">
                  <a:solidFill>
                    <a:srgbClr val="4784C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01</a:t>
              </a:r>
              <a:endParaRPr lang="en-US" sz="1200" dirty="0"/>
            </a:p>
          </p:txBody>
        </p:sp>
        <p:sp>
          <p:nvSpPr>
            <p:cNvPr id="28" name="Text 4"/>
            <p:cNvSpPr/>
            <p:nvPr>
              <p:custDataLst>
                <p:tags r:id="rId20"/>
              </p:custDataLst>
            </p:nvPr>
          </p:nvSpPr>
          <p:spPr>
            <a:xfrm>
              <a:off x="6424" y="1910"/>
              <a:ext cx="2975" cy="331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p>
              <a:pPr marL="0" indent="0" algn="l">
                <a:lnSpc>
                  <a:spcPts val="1650"/>
                </a:lnSpc>
                <a:buNone/>
              </a:pPr>
              <a:r>
                <a:rPr lang="zh-CN" altLang="en-US" sz="16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目标</a:t>
              </a:r>
              <a:endParaRPr lang="zh-CN" alt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29" name="Text 5"/>
            <p:cNvSpPr/>
            <p:nvPr>
              <p:custDataLst>
                <p:tags r:id="rId21"/>
              </p:custDataLst>
            </p:nvPr>
          </p:nvSpPr>
          <p:spPr>
            <a:xfrm>
              <a:off x="6423" y="2290"/>
              <a:ext cx="5726" cy="907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p>
              <a:pPr marL="0" indent="0" algn="just">
                <a:lnSpc>
                  <a:spcPts val="1650"/>
                </a:lnSpc>
                <a:buNone/>
              </a:pPr>
              <a:r>
                <a:rPr lang="en-US" sz="1200" dirty="0">
                  <a:solidFill>
                    <a:schemeClr val="bg2">
                      <a:lumMod val="50000"/>
                    </a:schemeClr>
                  </a:solidFill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  <a:sym typeface="+mn-ea"/>
                </a:rPr>
                <a:t>SVM的目标是在两类数据之间找到一个最佳的分界线，使得这个分界线两侧的最近数据点之间的距离最大。</a:t>
              </a:r>
              <a:endParaRPr lang="en-US" sz="1200" dirty="0">
                <a:solidFill>
                  <a:schemeClr val="bg2">
                    <a:lumMod val="50000"/>
                  </a:schemeClr>
                </a:solidFill>
                <a:uFillTx/>
              </a:endParaRPr>
            </a:p>
            <a:p>
              <a:pPr marL="0" indent="0" algn="l">
                <a:lnSpc>
                  <a:spcPts val="1650"/>
                </a:lnSpc>
                <a:buNone/>
              </a:pPr>
              <a:endParaRPr lang="en-US" sz="1200" dirty="0">
                <a:solidFill>
                  <a:schemeClr val="bg2">
                    <a:lumMod val="50000"/>
                  </a:schemeClr>
                </a:solidFill>
                <a:uFillTx/>
              </a:endParaRPr>
            </a:p>
          </p:txBody>
        </p:sp>
      </p:grpSp>
      <p:sp>
        <p:nvSpPr>
          <p:cNvPr id="30" name="Text 8"/>
          <p:cNvSpPr/>
          <p:nvPr>
            <p:custDataLst>
              <p:tags r:id="rId22"/>
            </p:custDataLst>
          </p:nvPr>
        </p:nvSpPr>
        <p:spPr>
          <a:xfrm>
            <a:off x="4298067" y="1784001"/>
            <a:ext cx="1889373" cy="841848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p>
            <a:pPr marL="0" indent="0" algn="just">
              <a:lnSpc>
                <a:spcPts val="1650"/>
              </a:lnSpc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硬间隔是指在数据完全线性可分的情况下，找到一个超平面，使得所有数据点都严格位于超平面的正确一侧。</a:t>
            </a:r>
            <a:endParaRPr lang="en-US" sz="1200" dirty="0">
              <a:solidFill>
                <a:schemeClr val="bg2">
                  <a:lumMod val="50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3" name="Text 10"/>
          <p:cNvSpPr/>
          <p:nvPr>
            <p:custDataLst>
              <p:tags r:id="rId23"/>
            </p:custDataLst>
          </p:nvPr>
        </p:nvSpPr>
        <p:spPr>
          <a:xfrm>
            <a:off x="4346325" y="3276401"/>
            <a:ext cx="1889373" cy="210462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zh-CN" alt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支持向量</a:t>
            </a:r>
            <a:endParaRPr lang="zh-CN" altLang="en-US" sz="16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037080" y="1748790"/>
            <a:ext cx="1965325" cy="468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间隔是指在两类数据之间</a:t>
            </a:r>
            <a:endParaRPr lang="en-US" sz="1200" dirty="0">
              <a:solidFill>
                <a:schemeClr val="bg2">
                  <a:lumMod val="50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  <a:p>
            <a:pPr algn="just"/>
            <a:r>
              <a:rPr lang="en-US" sz="1200" dirty="0">
                <a:solidFill>
                  <a:schemeClr val="bg2">
                    <a:lumMod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找到的最大距离</a:t>
            </a:r>
            <a:r>
              <a:rPr lang="zh-CN" altLang="en-US" sz="1200" dirty="0">
                <a:solidFill>
                  <a:schemeClr val="bg2">
                    <a:lumMod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  <a:sym typeface="+mn-ea"/>
              </a:rPr>
              <a:t>。</a:t>
            </a:r>
            <a:endParaRPr lang="zh-CN" altLang="en-US" sz="1200" dirty="0">
              <a:solidFill>
                <a:schemeClr val="bg2">
                  <a:lumMod val="50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  <a:sym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4364355" y="3598545"/>
            <a:ext cx="1917700" cy="1275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r>
              <a:rPr lang="zh-CN" altLang="en-US" sz="1200">
                <a:solidFill>
                  <a:schemeClr val="bg2">
                    <a:lumMod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支持向量（</a:t>
            </a:r>
            <a:r>
              <a:rPr lang="en-US" altLang="zh-CN" sz="1200">
                <a:solidFill>
                  <a:schemeClr val="bg2">
                    <a:lumMod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SupportVectors</a:t>
            </a:r>
            <a:r>
              <a:rPr lang="zh-CN" altLang="en-US" sz="1200">
                <a:solidFill>
                  <a:schemeClr val="bg2">
                    <a:lumMod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）是那些对超平面位置和方向有直接影响的训练数据点。</a:t>
            </a:r>
            <a:endParaRPr lang="zh-CN" altLang="en-US" sz="1200">
              <a:solidFill>
                <a:schemeClr val="bg2">
                  <a:lumMod val="50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617970" y="3536315"/>
            <a:ext cx="2245995" cy="9620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just"/>
            <a:r>
              <a:rPr lang="zh-CN" altLang="en-US" sz="1200">
                <a:solidFill>
                  <a:schemeClr val="bg2">
                    <a:lumMod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对偶问题是</a:t>
            </a:r>
            <a:r>
              <a:rPr lang="en-US" altLang="zh-CN" sz="1200">
                <a:solidFill>
                  <a:schemeClr val="bg2">
                    <a:lumMod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SVM </a:t>
            </a:r>
            <a:r>
              <a:rPr lang="zh-CN" altLang="en-US" sz="1200">
                <a:solidFill>
                  <a:schemeClr val="bg2">
                    <a:lumMod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优化过程中的关键步骤。通过对偶问题，</a:t>
            </a:r>
            <a:r>
              <a:rPr lang="en-US" altLang="zh-CN" sz="1200">
                <a:solidFill>
                  <a:schemeClr val="bg2">
                    <a:lumMod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SVM</a:t>
            </a:r>
            <a:r>
              <a:rPr lang="zh-CN" altLang="en-US" sz="1200">
                <a:solidFill>
                  <a:schemeClr val="bg2">
                    <a:lumMod val="50000"/>
                  </a:schemeClr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可以找到最优的权重向量和偏置项，从而确定超平面的位置。</a:t>
            </a:r>
            <a:endParaRPr lang="zh-CN" altLang="en-US" sz="1200">
              <a:solidFill>
                <a:schemeClr val="bg2">
                  <a:lumMod val="50000"/>
                </a:schemeClr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SVM核心算法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22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硬间隔SVM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400050" y="1447800"/>
            <a:ext cx="2085975" cy="2547938"/>
          </a:xfrm>
          <a:prstGeom prst="rect">
            <a:avLst/>
          </a:prstGeom>
        </p:spPr>
      </p:pic>
      <p:sp>
        <p:nvSpPr>
          <p:cNvPr id="7" name="Text 3"/>
          <p:cNvSpPr/>
          <p:nvPr>
            <p:custDataLst>
              <p:tags r:id="rId4"/>
            </p:custDataLst>
          </p:nvPr>
        </p:nvSpPr>
        <p:spPr>
          <a:xfrm>
            <a:off x="752475" y="2228850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目标与约束</a:t>
            </a:r>
            <a:endParaRPr lang="en-US" sz="1200" dirty="0"/>
          </a:p>
        </p:txBody>
      </p:sp>
      <p:sp>
        <p:nvSpPr>
          <p:cNvPr id="8" name="Text 4"/>
          <p:cNvSpPr/>
          <p:nvPr>
            <p:custDataLst>
              <p:tags r:id="rId5"/>
            </p:custDataLst>
          </p:nvPr>
        </p:nvSpPr>
        <p:spPr>
          <a:xfrm>
            <a:off x="752475" y="2519363"/>
            <a:ext cx="1381125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硬间隔SVM旨在寻找一个超平面，最大化正负样本间的间隔，确保所有样本点严格位于超平面的正确一侧。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2486025" y="1447800"/>
            <a:ext cx="2085975" cy="2547938"/>
          </a:xfrm>
          <a:prstGeom prst="rect">
            <a:avLst/>
          </a:prstGeom>
        </p:spPr>
      </p:pic>
      <p:sp>
        <p:nvSpPr>
          <p:cNvPr id="10" name="Text 5"/>
          <p:cNvSpPr/>
          <p:nvPr>
            <p:custDataLst>
              <p:tags r:id="rId8"/>
            </p:custDataLst>
          </p:nvPr>
        </p:nvSpPr>
        <p:spPr>
          <a:xfrm>
            <a:off x="2838450" y="2228850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间隔最大化</a:t>
            </a:r>
            <a:endParaRPr lang="en-US" sz="1200" dirty="0"/>
          </a:p>
        </p:txBody>
      </p:sp>
      <p:sp>
        <p:nvSpPr>
          <p:cNvPr id="11" name="Text 6"/>
          <p:cNvSpPr/>
          <p:nvPr>
            <p:custDataLst>
              <p:tags r:id="rId9"/>
            </p:custDataLst>
          </p:nvPr>
        </p:nvSpPr>
        <p:spPr>
          <a:xfrm>
            <a:off x="2838450" y="2519363"/>
            <a:ext cx="1381125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通过优化目标函数，最小化权重向量的长度，同时满足样本点到超平面的距离至少为固定值。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/>
          <a:stretch>
            <a:fillRect/>
          </a:stretch>
        </p:blipFill>
        <p:spPr>
          <a:xfrm>
            <a:off x="4572000" y="1447800"/>
            <a:ext cx="2085975" cy="2547938"/>
          </a:xfrm>
          <a:prstGeom prst="rect">
            <a:avLst/>
          </a:prstGeom>
        </p:spPr>
      </p:pic>
      <p:sp>
        <p:nvSpPr>
          <p:cNvPr id="13" name="Text 7"/>
          <p:cNvSpPr/>
          <p:nvPr>
            <p:custDataLst>
              <p:tags r:id="rId12"/>
            </p:custDataLst>
          </p:nvPr>
        </p:nvSpPr>
        <p:spPr>
          <a:xfrm>
            <a:off x="4924425" y="2228850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硬间隔条件</a:t>
            </a:r>
            <a:endParaRPr lang="en-US" sz="1200" dirty="0"/>
          </a:p>
        </p:txBody>
      </p:sp>
      <p:sp>
        <p:nvSpPr>
          <p:cNvPr id="14" name="Text 8"/>
          <p:cNvSpPr/>
          <p:nvPr>
            <p:custDataLst>
              <p:tags r:id="rId13"/>
            </p:custDataLst>
          </p:nvPr>
        </p:nvSpPr>
        <p:spPr>
          <a:xfrm>
            <a:off x="4924425" y="2519363"/>
            <a:ext cx="138112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约束条件确保每个样本点满足特定条件，即到超平面的距离至少为一个固定的间隔值。</a:t>
            </a:r>
            <a:endParaRPr lang="en-US" sz="1050" dirty="0"/>
          </a:p>
        </p:txBody>
      </p:sp>
      <p:pic>
        <p:nvPicPr>
          <p:cNvPr id="15" name="Image 4" descr="preencoded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rcRect/>
          <a:stretch>
            <a:fillRect/>
          </a:stretch>
        </p:blipFill>
        <p:spPr>
          <a:xfrm>
            <a:off x="6657975" y="1447800"/>
            <a:ext cx="2085975" cy="2547938"/>
          </a:xfrm>
          <a:prstGeom prst="rect">
            <a:avLst/>
          </a:prstGeom>
        </p:spPr>
      </p:pic>
      <p:sp>
        <p:nvSpPr>
          <p:cNvPr id="16" name="Text 9"/>
          <p:cNvSpPr/>
          <p:nvPr>
            <p:custDataLst>
              <p:tags r:id="rId16"/>
            </p:custDataLst>
          </p:nvPr>
        </p:nvSpPr>
        <p:spPr>
          <a:xfrm>
            <a:off x="7010400" y="2228850"/>
            <a:ext cx="138112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优化问题</a:t>
            </a:r>
            <a:endParaRPr lang="en-US" sz="1200" dirty="0"/>
          </a:p>
        </p:txBody>
      </p:sp>
      <p:sp>
        <p:nvSpPr>
          <p:cNvPr id="17" name="Text 10"/>
          <p:cNvSpPr/>
          <p:nvPr>
            <p:custDataLst>
              <p:tags r:id="rId17"/>
            </p:custDataLst>
          </p:nvPr>
        </p:nvSpPr>
        <p:spPr>
          <a:xfrm>
            <a:off x="7010400" y="2519363"/>
            <a:ext cx="1381125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硬间隔SVM的优化问题是一个凸优化问题，可通过梯度下降法、牛顿法或内点法求解。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0104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13315" r="13315"/>
          <a:stretch>
            <a:fillRect/>
          </a:stretch>
        </p:blipFill>
        <p:spPr>
          <a:xfrm>
            <a:off x="0" y="0"/>
            <a:ext cx="9144000" cy="70104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l="22486" t="11441" r="21547"/>
          <a:stretch>
            <a:fillRect/>
          </a:stretch>
        </p:blipFill>
        <p:spPr>
          <a:xfrm>
            <a:off x="0" y="0"/>
            <a:ext cx="3634105" cy="57505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29125" y="285750"/>
            <a:ext cx="40386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凸优化直接求解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4429125" y="742950"/>
            <a:ext cx="40386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7" name="Image 2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4265295" y="1162050"/>
            <a:ext cx="4097655" cy="1407083"/>
          </a:xfrm>
          <a:prstGeom prst="rect">
            <a:avLst/>
          </a:prstGeom>
        </p:spPr>
      </p:pic>
      <p:sp>
        <p:nvSpPr>
          <p:cNvPr id="8" name="Text 3"/>
          <p:cNvSpPr/>
          <p:nvPr>
            <p:custDataLst>
              <p:tags r:id="rId5"/>
            </p:custDataLst>
          </p:nvPr>
        </p:nvSpPr>
        <p:spPr>
          <a:xfrm>
            <a:off x="5662871" y="1368834"/>
            <a:ext cx="2500425" cy="251944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梯度下降法</a:t>
            </a:r>
            <a:endParaRPr lang="en-US" sz="1600" dirty="0"/>
          </a:p>
        </p:txBody>
      </p:sp>
      <p:sp>
        <p:nvSpPr>
          <p:cNvPr id="9" name="Text 4"/>
          <p:cNvSpPr/>
          <p:nvPr>
            <p:custDataLst>
              <p:tags r:id="rId6"/>
            </p:custDataLst>
          </p:nvPr>
        </p:nvSpPr>
        <p:spPr>
          <a:xfrm>
            <a:off x="5662930" y="1658620"/>
            <a:ext cx="2802890" cy="66484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通过迭代更新参数，最小化目标函数。检查并调整参数以满足约束条件，直至收敛。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rcRect/>
          <a:stretch>
            <a:fillRect/>
          </a:stretch>
        </p:blipFill>
        <p:spPr>
          <a:xfrm>
            <a:off x="4265295" y="2569133"/>
            <a:ext cx="4097655" cy="1407083"/>
          </a:xfrm>
          <a:prstGeom prst="rect">
            <a:avLst/>
          </a:prstGeom>
        </p:spPr>
      </p:pic>
      <p:sp>
        <p:nvSpPr>
          <p:cNvPr id="11" name="Text 5"/>
          <p:cNvSpPr/>
          <p:nvPr>
            <p:custDataLst>
              <p:tags r:id="rId9"/>
            </p:custDataLst>
          </p:nvPr>
        </p:nvSpPr>
        <p:spPr>
          <a:xfrm>
            <a:off x="5662871" y="2775918"/>
            <a:ext cx="2500425" cy="251944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牛顿法</a:t>
            </a:r>
            <a:endParaRPr lang="en-US" sz="1600" dirty="0"/>
          </a:p>
        </p:txBody>
      </p:sp>
      <p:sp>
        <p:nvSpPr>
          <p:cNvPr id="12" name="Text 6"/>
          <p:cNvSpPr/>
          <p:nvPr>
            <p:custDataLst>
              <p:tags r:id="rId10"/>
            </p:custDataLst>
          </p:nvPr>
        </p:nvSpPr>
        <p:spPr>
          <a:xfrm>
            <a:off x="5662930" y="3065780"/>
            <a:ext cx="2805430" cy="66548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利用目标函数的二阶导数加速收敛，计算Hessian矩阵及其逆矩阵，更新参数，直至满足约束条件。</a:t>
            </a:r>
            <a:endParaRPr lang="en-US" sz="1200" dirty="0"/>
          </a:p>
        </p:txBody>
      </p:sp>
      <p:pic>
        <p:nvPicPr>
          <p:cNvPr id="13" name="Image 4" descr="preencoded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rcRect/>
          <a:stretch>
            <a:fillRect/>
          </a:stretch>
        </p:blipFill>
        <p:spPr>
          <a:xfrm>
            <a:off x="4265295" y="3976217"/>
            <a:ext cx="4097655" cy="1407083"/>
          </a:xfrm>
          <a:prstGeom prst="rect">
            <a:avLst/>
          </a:prstGeom>
        </p:spPr>
      </p:pic>
      <p:sp>
        <p:nvSpPr>
          <p:cNvPr id="14" name="Text 7"/>
          <p:cNvSpPr/>
          <p:nvPr>
            <p:custDataLst>
              <p:tags r:id="rId13"/>
            </p:custDataLst>
          </p:nvPr>
        </p:nvSpPr>
        <p:spPr>
          <a:xfrm>
            <a:off x="5662871" y="4183001"/>
            <a:ext cx="2500425" cy="251944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内点法</a:t>
            </a:r>
            <a:endParaRPr lang="en-US" sz="1600" dirty="0"/>
          </a:p>
        </p:txBody>
      </p:sp>
      <p:sp>
        <p:nvSpPr>
          <p:cNvPr id="15" name="Text 8"/>
          <p:cNvSpPr/>
          <p:nvPr>
            <p:custDataLst>
              <p:tags r:id="rId14"/>
            </p:custDataLst>
          </p:nvPr>
        </p:nvSpPr>
        <p:spPr>
          <a:xfrm>
            <a:off x="5662930" y="4472940"/>
            <a:ext cx="2818765" cy="67373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引入障碍函数处理约束条件，逐步减小障碍参数，逼近原问题解，适用于大规模带约束优化问题。</a:t>
            </a:r>
            <a:endParaRPr lang="en-US" sz="1200" dirty="0"/>
          </a:p>
        </p:txBody>
      </p:sp>
      <p:sp>
        <p:nvSpPr>
          <p:cNvPr id="18" name="Text 10"/>
          <p:cNvSpPr/>
          <p:nvPr>
            <p:custDataLst>
              <p:tags r:id="rId15"/>
            </p:custDataLst>
          </p:nvPr>
        </p:nvSpPr>
        <p:spPr>
          <a:xfrm>
            <a:off x="5657850" y="5888831"/>
            <a:ext cx="25050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843588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对偶问题</a:t>
            </a:r>
            <a:endParaRPr lang="en-US" sz="225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" y="978535"/>
            <a:ext cx="9008745" cy="3622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SMO算法求解对偶问题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>
            <p:custDataLst>
              <p:tags r:id="rId2"/>
            </p:custDataLst>
          </p:nvPr>
        </p:nvSpPr>
        <p:spPr>
          <a:xfrm>
            <a:off x="365760" y="105537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SMO算法简介</a:t>
            </a:r>
            <a:endParaRPr lang="en-US" sz="1200" dirty="0"/>
          </a:p>
        </p:txBody>
      </p:sp>
      <p:sp>
        <p:nvSpPr>
          <p:cNvPr id="7" name="Text 4"/>
          <p:cNvSpPr/>
          <p:nvPr>
            <p:custDataLst>
              <p:tags r:id="rId3"/>
            </p:custDataLst>
          </p:nvPr>
        </p:nvSpPr>
        <p:spPr>
          <a:xfrm>
            <a:off x="266700" y="1337310"/>
            <a:ext cx="2527935" cy="11430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SMO（Sequential Minimal Optimization）算法专为SVM设计，通过分解主问题为一系列易于解决的子问题，有效求解对偶问题。</a:t>
            </a:r>
            <a:endParaRPr lang="en-US" sz="1050" dirty="0"/>
          </a:p>
        </p:txBody>
      </p:sp>
      <p:sp>
        <p:nvSpPr>
          <p:cNvPr id="8" name="Text 5"/>
          <p:cNvSpPr/>
          <p:nvPr>
            <p:custDataLst>
              <p:tags r:id="rId4"/>
            </p:custDataLst>
          </p:nvPr>
        </p:nvSpPr>
        <p:spPr>
          <a:xfrm>
            <a:off x="3518535" y="105537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SMO算法流程</a:t>
            </a:r>
            <a:r>
              <a:rPr lang="zh-CN" alt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：</a:t>
            </a:r>
            <a:endParaRPr lang="zh-CN" altLang="en-US" sz="12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9" name="Text 6"/>
          <p:cNvSpPr/>
          <p:nvPr>
            <p:custDataLst>
              <p:tags r:id="rId5"/>
            </p:custDataLst>
          </p:nvPr>
        </p:nvSpPr>
        <p:spPr>
          <a:xfrm>
            <a:off x="3373755" y="1406525"/>
            <a:ext cx="2051050" cy="104648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每次迭代选择两个变量进行优化，固定其余变量，简化计算，确保每步接近全局最优解。</a:t>
            </a:r>
            <a:endParaRPr lang="en-US" sz="1050" dirty="0"/>
          </a:p>
        </p:txBody>
      </p:sp>
      <p:sp>
        <p:nvSpPr>
          <p:cNvPr id="10" name="Text 7"/>
          <p:cNvSpPr/>
          <p:nvPr>
            <p:custDataLst>
              <p:tags r:id="rId6"/>
            </p:custDataLst>
          </p:nvPr>
        </p:nvSpPr>
        <p:spPr>
          <a:xfrm>
            <a:off x="6671310" y="971550"/>
            <a:ext cx="2413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SMO算法优势</a:t>
            </a:r>
            <a:endParaRPr lang="en-US" sz="1200" dirty="0"/>
          </a:p>
        </p:txBody>
      </p:sp>
      <p:sp>
        <p:nvSpPr>
          <p:cNvPr id="11" name="Text 8"/>
          <p:cNvSpPr/>
          <p:nvPr>
            <p:custDataLst>
              <p:tags r:id="rId7"/>
            </p:custDataLst>
          </p:nvPr>
        </p:nvSpPr>
        <p:spPr>
          <a:xfrm>
            <a:off x="6301740" y="1406525"/>
            <a:ext cx="2032635" cy="75057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SMO算法简化计算复杂度，提高求解速度，尤其适用于大规模数据集，成为SVM求解的首选方法。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软间隔SVM</a:t>
            </a:r>
            <a:endParaRPr lang="en-US" sz="2250" dirty="0"/>
          </a:p>
        </p:txBody>
      </p:sp>
      <p:pic>
        <p:nvPicPr>
          <p:cNvPr id="6" name="Image 1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400050" y="1447800"/>
            <a:ext cx="4171950" cy="1624013"/>
          </a:xfrm>
          <a:prstGeom prst="rect">
            <a:avLst/>
          </a:prstGeom>
        </p:spPr>
      </p:pic>
      <p:sp>
        <p:nvSpPr>
          <p:cNvPr id="7" name="Text 3"/>
          <p:cNvSpPr/>
          <p:nvPr>
            <p:custDataLst>
              <p:tags r:id="rId4"/>
            </p:custDataLst>
          </p:nvPr>
        </p:nvSpPr>
        <p:spPr>
          <a:xfrm>
            <a:off x="600075" y="1552575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软间隔概念</a:t>
            </a:r>
            <a:endParaRPr lang="en-US" sz="1200" dirty="0"/>
          </a:p>
        </p:txBody>
      </p:sp>
      <p:sp>
        <p:nvSpPr>
          <p:cNvPr id="8" name="Text 4"/>
          <p:cNvSpPr/>
          <p:nvPr>
            <p:custDataLst>
              <p:tags r:id="rId5"/>
            </p:custDataLst>
          </p:nvPr>
        </p:nvSpPr>
        <p:spPr>
          <a:xfrm>
            <a:off x="600075" y="1843088"/>
            <a:ext cx="2571750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在现实世界中，数据往往不是完全线性可分的，存在噪声或异常值。软间隔SVM允许一些样本点位于决策边界错误的一侧，通过引入松弛变量来衡量这些“违规”数据点的程度，提高模型的鲁棒性。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4572000" y="1447800"/>
            <a:ext cx="4171950" cy="1624013"/>
          </a:xfrm>
          <a:prstGeom prst="rect">
            <a:avLst/>
          </a:prstGeom>
        </p:spPr>
      </p:pic>
      <p:sp>
        <p:nvSpPr>
          <p:cNvPr id="10" name="Text 5"/>
          <p:cNvSpPr/>
          <p:nvPr>
            <p:custDataLst>
              <p:tags r:id="rId8"/>
            </p:custDataLst>
          </p:nvPr>
        </p:nvSpPr>
        <p:spPr>
          <a:xfrm>
            <a:off x="5972175" y="1552575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松弛变量</a:t>
            </a:r>
            <a:endParaRPr 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6"/>
              <p:cNvSpPr/>
              <p:nvPr>
                <p:custDataLst>
                  <p:tags r:id="rId9"/>
                </p:custDataLst>
              </p:nvPr>
            </p:nvSpPr>
            <p:spPr>
              <a:xfrm>
                <a:off x="5972175" y="1843405"/>
                <a:ext cx="2770505" cy="876300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 anchor="ctr"/>
              <a:lstStyle/>
              <a:p>
                <a:pPr marL="0" indent="0" algn="just">
                  <a:lnSpc>
                    <a:spcPts val="1650"/>
                  </a:lnSpc>
                  <a:buNone/>
                </a:pPr>
                <a:r>
                  <a:rPr lang="en-US" sz="12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引入松弛变量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rgbClr val="666666"/>
                            </a:solidFill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rgbClr val="666666"/>
                            </a:solidFill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𝜖</m:t>
                        </m:r>
                      </m:e>
                      <m:sub>
                        <m:r>
                          <a:rPr lang="en-US" sz="1200" i="1" dirty="0">
                            <a:solidFill>
                              <a:srgbClr val="666666"/>
                            </a:solidFill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，用于衡量第i个样本点的容许错误程度，通过平衡间隔大小与分类错误之间的权衡，使得模型更加鲁棒，不会因为少数异常值而过度拟合。</a:t>
                </a:r>
                <a:endParaRPr lang="en-US" sz="1200" dirty="0"/>
              </a:p>
            </p:txBody>
          </p:sp>
        </mc:Choice>
        <mc:Fallback>
          <p:sp>
            <p:nvSpPr>
              <p:cNvPr id="11" name="Text 6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0"/>
                </p:custDataLst>
              </p:nvPr>
            </p:nvSpPr>
            <p:spPr>
              <a:xfrm>
                <a:off x="5972175" y="1843405"/>
                <a:ext cx="2770505" cy="876300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Image 3" descr="preencoded.png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rcRect/>
          <a:stretch>
            <a:fillRect/>
          </a:stretch>
        </p:blipFill>
        <p:spPr>
          <a:xfrm>
            <a:off x="400050" y="3071813"/>
            <a:ext cx="4171950" cy="1414463"/>
          </a:xfrm>
          <a:prstGeom prst="rect">
            <a:avLst/>
          </a:prstGeom>
        </p:spPr>
      </p:pic>
      <p:sp>
        <p:nvSpPr>
          <p:cNvPr id="13" name="Text 7"/>
          <p:cNvSpPr/>
          <p:nvPr>
            <p:custDataLst>
              <p:tags r:id="rId14"/>
            </p:custDataLst>
          </p:nvPr>
        </p:nvSpPr>
        <p:spPr>
          <a:xfrm>
            <a:off x="600075" y="3176588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正则化参数C</a:t>
            </a:r>
            <a:endParaRPr lang="en-US" sz="1200" dirty="0"/>
          </a:p>
        </p:txBody>
      </p:sp>
      <p:sp>
        <p:nvSpPr>
          <p:cNvPr id="14" name="Text 8"/>
          <p:cNvSpPr/>
          <p:nvPr>
            <p:custDataLst>
              <p:tags r:id="rId15"/>
            </p:custDataLst>
          </p:nvPr>
        </p:nvSpPr>
        <p:spPr>
          <a:xfrm>
            <a:off x="600075" y="3467100"/>
            <a:ext cx="2571750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参数C控制间隔大小与分类错误之间的权衡，较大的C值意味着对分类错误的惩罚更重，较小的C值则更注重间隔的大小，允许更多的分类错误。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rcRect/>
          <a:stretch>
            <a:fillRect/>
          </a:stretch>
        </p:blipFill>
        <p:spPr>
          <a:xfrm>
            <a:off x="4572000" y="3071813"/>
            <a:ext cx="4171950" cy="1414463"/>
          </a:xfrm>
          <a:prstGeom prst="rect">
            <a:avLst/>
          </a:prstGeom>
        </p:spPr>
      </p:pic>
      <p:sp>
        <p:nvSpPr>
          <p:cNvPr id="16" name="Text 9"/>
          <p:cNvSpPr/>
          <p:nvPr>
            <p:custDataLst>
              <p:tags r:id="rId18"/>
            </p:custDataLst>
          </p:nvPr>
        </p:nvSpPr>
        <p:spPr>
          <a:xfrm>
            <a:off x="5972175" y="3278981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优化目标</a:t>
            </a:r>
            <a:endParaRPr 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 10"/>
              <p:cNvSpPr/>
              <p:nvPr>
                <p:custDataLst>
                  <p:tags r:id="rId19"/>
                </p:custDataLst>
              </p:nvPr>
            </p:nvSpPr>
            <p:spPr>
              <a:xfrm>
                <a:off x="5972175" y="3569335"/>
                <a:ext cx="2777490" cy="800100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 anchor="ctr"/>
              <a:lstStyle/>
              <a:p>
                <a:pPr marL="0" indent="0" algn="just">
                  <a:lnSpc>
                    <a:spcPts val="1650"/>
                  </a:lnSpc>
                  <a:buNone/>
                </a:pPr>
                <a:r>
                  <a:rPr lang="en-US" sz="12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软间隔SVM的优化目标是在最大化间隔的同时，最小化分类错误，通过调整C值和松弛变量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rgbClr val="666666"/>
                            </a:solidFill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rgbClr val="666666"/>
                            </a:solidFill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𝜖</m:t>
                        </m:r>
                      </m:e>
                      <m:sub>
                        <m:r>
                          <a:rPr lang="en-US" sz="1200" i="1" dirty="0">
                            <a:solidFill>
                              <a:srgbClr val="666666"/>
                            </a:solidFill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，找到一个较为合理的解决方案。</a:t>
                </a:r>
                <a:endParaRPr lang="en-US" sz="1200" dirty="0"/>
              </a:p>
            </p:txBody>
          </p:sp>
        </mc:Choice>
        <mc:Fallback>
          <p:sp>
            <p:nvSpPr>
              <p:cNvPr id="17" name="Text 10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0"/>
                </p:custDataLst>
              </p:nvPr>
            </p:nvSpPr>
            <p:spPr>
              <a:xfrm>
                <a:off x="5972175" y="3569335"/>
                <a:ext cx="2777490" cy="800100"/>
              </a:xfrm>
              <a:prstGeom prst="rect">
                <a:avLst/>
              </a:prstGeom>
              <a:blipFill rotWithShape="1">
                <a:blip r:embed="rId21"/>
                <a:stretch>
                  <a:fillRect t="-2302" b="-246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SVM直观理解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400050" y="1447800"/>
            <a:ext cx="2781151" cy="2547938"/>
          </a:xfrm>
          <a:prstGeom prst="rect">
            <a:avLst/>
          </a:prstGeom>
        </p:spPr>
      </p:pic>
      <p:sp>
        <p:nvSpPr>
          <p:cNvPr id="7" name="Text 3"/>
          <p:cNvSpPr/>
          <p:nvPr>
            <p:custDataLst>
              <p:tags r:id="rId4"/>
            </p:custDataLst>
          </p:nvPr>
        </p:nvSpPr>
        <p:spPr>
          <a:xfrm>
            <a:off x="752475" y="2228850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点到超平面距离</a:t>
            </a:r>
            <a:endParaRPr lang="en-US" sz="1200" dirty="0"/>
          </a:p>
        </p:txBody>
      </p:sp>
      <p:sp>
        <p:nvSpPr>
          <p:cNvPr id="8" name="Text 4"/>
          <p:cNvSpPr/>
          <p:nvPr>
            <p:custDataLst>
              <p:tags r:id="rId5"/>
            </p:custDataLst>
          </p:nvPr>
        </p:nvSpPr>
        <p:spPr>
          <a:xfrm>
            <a:off x="752475" y="2519363"/>
            <a:ext cx="2076301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理解点到超平面的垂直距离是SVM间隔最大化目标的基础，通过计算公式揭示了分类边界与样本点间的关系。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3181201" y="1447800"/>
            <a:ext cx="2781151" cy="2547938"/>
          </a:xfrm>
          <a:prstGeom prst="rect">
            <a:avLst/>
          </a:prstGeom>
        </p:spPr>
      </p:pic>
      <p:sp>
        <p:nvSpPr>
          <p:cNvPr id="10" name="Text 5"/>
          <p:cNvSpPr/>
          <p:nvPr>
            <p:custDataLst>
              <p:tags r:id="rId8"/>
            </p:custDataLst>
          </p:nvPr>
        </p:nvSpPr>
        <p:spPr>
          <a:xfrm>
            <a:off x="3533626" y="2228850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平行超平面距离</a:t>
            </a:r>
            <a:endParaRPr lang="en-US" sz="1200" dirty="0"/>
          </a:p>
        </p:txBody>
      </p:sp>
      <p:sp>
        <p:nvSpPr>
          <p:cNvPr id="11" name="Text 6"/>
          <p:cNvSpPr/>
          <p:nvPr>
            <p:custDataLst>
              <p:tags r:id="rId9"/>
            </p:custDataLst>
          </p:nvPr>
        </p:nvSpPr>
        <p:spPr>
          <a:xfrm>
            <a:off x="3533626" y="2519363"/>
            <a:ext cx="2076301" cy="8763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平行超平面间的距离定义了SVM的间隔，最大化此距离是SVM算法的核心目标，确保分类器具有良好的泛化能力。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/>
          <a:stretch>
            <a:fillRect/>
          </a:stretch>
        </p:blipFill>
        <p:spPr>
          <a:xfrm>
            <a:off x="5962352" y="1447800"/>
            <a:ext cx="2781151" cy="2547938"/>
          </a:xfrm>
          <a:prstGeom prst="rect">
            <a:avLst/>
          </a:prstGeom>
        </p:spPr>
      </p:pic>
      <p:sp>
        <p:nvSpPr>
          <p:cNvPr id="13" name="Text 7"/>
          <p:cNvSpPr/>
          <p:nvPr>
            <p:custDataLst>
              <p:tags r:id="rId12"/>
            </p:custDataLst>
          </p:nvPr>
        </p:nvSpPr>
        <p:spPr>
          <a:xfrm>
            <a:off x="6314777" y="2228850"/>
            <a:ext cx="2076301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点沿某维度到超平面距离</a:t>
            </a:r>
            <a:endParaRPr lang="en-US" sz="1200" dirty="0"/>
          </a:p>
        </p:txBody>
      </p:sp>
      <p:sp>
        <p:nvSpPr>
          <p:cNvPr id="14" name="Text 8"/>
          <p:cNvSpPr/>
          <p:nvPr>
            <p:custDataLst>
              <p:tags r:id="rId13"/>
            </p:custDataLst>
          </p:nvPr>
        </p:nvSpPr>
        <p:spPr>
          <a:xfrm>
            <a:off x="6314777" y="2519363"/>
            <a:ext cx="2076301" cy="10858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在SVM中，点沿某一维度到超平面的距离反映了样本点的分类错误程度，通过引入松弛变量，SVM允许一定程度的分类错误，实现软间隔分类。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软间隔SVM求解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1190625" y="2000250"/>
            <a:ext cx="476250" cy="476250"/>
          </a:xfrm>
          <a:prstGeom prst="rect">
            <a:avLst/>
          </a:prstGeom>
        </p:spPr>
      </p:pic>
      <p:sp>
        <p:nvSpPr>
          <p:cNvPr id="7" name="Text 3"/>
          <p:cNvSpPr/>
          <p:nvPr>
            <p:custDataLst>
              <p:tags r:id="rId4"/>
            </p:custDataLst>
          </p:nvPr>
        </p:nvSpPr>
        <p:spPr>
          <a:xfrm>
            <a:off x="571500" y="25908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引入松弛变量</a:t>
            </a:r>
            <a:endParaRPr lang="en-US" sz="1200" dirty="0"/>
          </a:p>
        </p:txBody>
      </p:sp>
      <p:sp>
        <p:nvSpPr>
          <p:cNvPr id="8" name="Text 4"/>
          <p:cNvSpPr/>
          <p:nvPr>
            <p:custDataLst>
              <p:tags r:id="rId5"/>
            </p:custDataLst>
          </p:nvPr>
        </p:nvSpPr>
        <p:spPr>
          <a:xfrm>
            <a:off x="426720" y="2838450"/>
            <a:ext cx="2019300" cy="12033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在软间隔SVM中，引入松弛变量ξ</a:t>
            </a:r>
            <a:r>
              <a:rPr lang="en-US" sz="1200" baseline="-250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i</a:t>
            </a: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来衡量样本点的容许错误程度，允许部分样本点位于决策边界错误的一侧，以处理非线性可分数据。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3286125" y="2000250"/>
            <a:ext cx="476250" cy="476250"/>
          </a:xfrm>
          <a:prstGeom prst="rect">
            <a:avLst/>
          </a:prstGeom>
        </p:spPr>
      </p:pic>
      <p:sp>
        <p:nvSpPr>
          <p:cNvPr id="10" name="Text 5"/>
          <p:cNvSpPr/>
          <p:nvPr>
            <p:custDataLst>
              <p:tags r:id="rId8"/>
            </p:custDataLst>
          </p:nvPr>
        </p:nvSpPr>
        <p:spPr>
          <a:xfrm>
            <a:off x="2667000" y="25908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优化问题</a:t>
            </a:r>
            <a:endParaRPr lang="en-US" sz="1200" dirty="0"/>
          </a:p>
        </p:txBody>
      </p:sp>
      <p:sp>
        <p:nvSpPr>
          <p:cNvPr id="11" name="Text 6"/>
          <p:cNvSpPr/>
          <p:nvPr>
            <p:custDataLst>
              <p:tags r:id="rId9"/>
            </p:custDataLst>
          </p:nvPr>
        </p:nvSpPr>
        <p:spPr>
          <a:xfrm>
            <a:off x="2651760" y="2838450"/>
            <a:ext cx="1897380" cy="121793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优化目标为最小化权重向量的平方和与松弛变量的乘积，同时满足分类约束条件，通过调整正则化参数C来平衡间隔大小与分类错误。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/>
          <a:stretch>
            <a:fillRect/>
          </a:stretch>
        </p:blipFill>
        <p:spPr>
          <a:xfrm>
            <a:off x="5381625" y="2000250"/>
            <a:ext cx="476250" cy="476250"/>
          </a:xfrm>
          <a:prstGeom prst="rect">
            <a:avLst/>
          </a:prstGeom>
        </p:spPr>
      </p:pic>
      <p:sp>
        <p:nvSpPr>
          <p:cNvPr id="13" name="Text 7"/>
          <p:cNvSpPr/>
          <p:nvPr>
            <p:custDataLst>
              <p:tags r:id="rId12"/>
            </p:custDataLst>
          </p:nvPr>
        </p:nvSpPr>
        <p:spPr>
          <a:xfrm>
            <a:off x="4762500" y="25908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对偶问题转化</a:t>
            </a:r>
            <a:endParaRPr lang="en-US" sz="1200" dirty="0"/>
          </a:p>
        </p:txBody>
      </p:sp>
      <p:sp>
        <p:nvSpPr>
          <p:cNvPr id="14" name="Text 8"/>
          <p:cNvSpPr/>
          <p:nvPr>
            <p:custDataLst>
              <p:tags r:id="rId13"/>
            </p:custDataLst>
          </p:nvPr>
        </p:nvSpPr>
        <p:spPr>
          <a:xfrm>
            <a:off x="4754880" y="2838450"/>
            <a:ext cx="2014220" cy="121793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通过引入拉格朗日乘数，将原始问题转化为对偶问题，对偶问题的目标函数为最大化拉格朗日函数，同时满足约束条件，便于求解。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rcRect/>
          <a:stretch>
            <a:fillRect/>
          </a:stretch>
        </p:blipFill>
        <p:spPr>
          <a:xfrm>
            <a:off x="7477125" y="2000250"/>
            <a:ext cx="476250" cy="476250"/>
          </a:xfrm>
          <a:prstGeom prst="rect">
            <a:avLst/>
          </a:prstGeom>
        </p:spPr>
      </p:pic>
      <p:sp>
        <p:nvSpPr>
          <p:cNvPr id="16" name="Text 9"/>
          <p:cNvSpPr/>
          <p:nvPr>
            <p:custDataLst>
              <p:tags r:id="rId16"/>
            </p:custDataLst>
          </p:nvPr>
        </p:nvSpPr>
        <p:spPr>
          <a:xfrm>
            <a:off x="6858000" y="25908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求解过程</a:t>
            </a:r>
            <a:endParaRPr 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 10"/>
              <p:cNvSpPr/>
              <p:nvPr>
                <p:custDataLst>
                  <p:tags r:id="rId17"/>
                </p:custDataLst>
              </p:nvPr>
            </p:nvSpPr>
            <p:spPr>
              <a:xfrm>
                <a:off x="6974840" y="2834640"/>
                <a:ext cx="1866900" cy="1207135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 anchor="ctr"/>
              <a:lstStyle/>
              <a:p>
                <a:pPr marL="0" indent="0" algn="just">
                  <a:lnSpc>
                    <a:spcPts val="1650"/>
                  </a:lnSpc>
                  <a:buNone/>
                </a:pPr>
                <a:r>
                  <a:rPr lang="en-US" sz="12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求解对偶问题得到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rgbClr val="666666"/>
                            </a:solidFill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rgbClr val="666666"/>
                            </a:solidFill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𝛼</m:t>
                        </m:r>
                      </m:e>
                      <m:sub>
                        <m:r>
                          <a:rPr lang="en-US" sz="1200" i="1" dirty="0">
                            <a:solidFill>
                              <a:srgbClr val="666666"/>
                            </a:solidFill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值，进而计算权重向量w和偏置项b，选择满足0&lt;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rgbClr val="666666"/>
                            </a:solidFill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rgbClr val="666666"/>
                            </a:solidFill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𝛼</m:t>
                        </m:r>
                      </m:e>
                      <m:sub>
                        <m:r>
                          <a:rPr lang="en-US" sz="1200" i="1" dirty="0">
                            <a:solidFill>
                              <a:srgbClr val="666666"/>
                            </a:solidFill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&lt;C的样本点来计算b，实现软间隔SVM的求解。</a:t>
                </a:r>
                <a:endParaRPr lang="en-US" sz="1200" dirty="0"/>
              </a:p>
            </p:txBody>
          </p:sp>
        </mc:Choice>
        <mc:Fallback>
          <p:sp>
            <p:nvSpPr>
              <p:cNvPr id="17" name="Text 10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8"/>
                </p:custDataLst>
              </p:nvPr>
            </p:nvSpPr>
            <p:spPr>
              <a:xfrm>
                <a:off x="6974840" y="2834640"/>
                <a:ext cx="1866900" cy="1207135"/>
              </a:xfrm>
              <a:prstGeom prst="rect">
                <a:avLst/>
              </a:prstGeom>
              <a:blipFill rotWithShape="1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SVM优化与求解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22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支持向量回归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1190625" y="2000250"/>
            <a:ext cx="476250" cy="476250"/>
          </a:xfrm>
          <a:prstGeom prst="rect">
            <a:avLst/>
          </a:prstGeom>
        </p:spPr>
      </p:pic>
      <p:sp>
        <p:nvSpPr>
          <p:cNvPr id="7" name="Text 3"/>
          <p:cNvSpPr/>
          <p:nvPr>
            <p:custDataLst>
              <p:tags r:id="rId4"/>
            </p:custDataLst>
          </p:nvPr>
        </p:nvSpPr>
        <p:spPr>
          <a:xfrm>
            <a:off x="571500" y="25908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SVR原始问题</a:t>
            </a:r>
            <a:endParaRPr lang="en-US" sz="1200" dirty="0"/>
          </a:p>
        </p:txBody>
      </p:sp>
      <p:sp>
        <p:nvSpPr>
          <p:cNvPr id="8" name="Text 4"/>
          <p:cNvSpPr/>
          <p:nvPr>
            <p:custDataLst>
              <p:tags r:id="rId5"/>
            </p:custDataLst>
          </p:nvPr>
        </p:nvSpPr>
        <p:spPr>
          <a:xfrm>
            <a:off x="457200" y="2838450"/>
            <a:ext cx="1828800" cy="63182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2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SVR通过构造间隔带，对落在间隔带内的预测误差不惩罚，提高模型泛化能力。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rcRect/>
          <a:stretch>
            <a:fillRect/>
          </a:stretch>
        </p:blipFill>
        <p:spPr>
          <a:xfrm>
            <a:off x="3286125" y="2000250"/>
            <a:ext cx="476250" cy="47625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5"/>
              <p:cNvSpPr/>
              <p:nvPr>
                <p:custDataLst>
                  <p:tags r:id="rId8"/>
                </p:custDataLst>
              </p:nvPr>
            </p:nvSpPr>
            <p:spPr>
              <a:xfrm>
                <a:off x="2667000" y="2590800"/>
                <a:ext cx="1714500" cy="209550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 anchor="ctr"/>
              <a:lstStyle/>
              <a:p>
                <a:pPr marL="0" indent="0" algn="ctr">
                  <a:lnSpc>
                    <a:spcPts val="1650"/>
                  </a:lnSpc>
                  <a:buNone/>
                </a:pP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0000"/>
                        </a:solidFill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</a:rPr>
                      <m:t>𝝐</m:t>
                    </m:r>
                  </m:oMath>
                </a14:m>
                <a:r>
                  <a:rPr lang="en-US" sz="1200" b="1" dirty="0">
                    <a:solidFill>
                      <a:srgbClr val="0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-不敏感损失函数</a:t>
                </a:r>
                <a:endParaRPr lang="en-US" sz="1200" dirty="0"/>
              </a:p>
            </p:txBody>
          </p:sp>
        </mc:Choice>
        <mc:Fallback>
          <p:sp>
            <p:nvSpPr>
              <p:cNvPr id="10" name="Text 5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9"/>
                </p:custDataLst>
              </p:nvPr>
            </p:nvSpPr>
            <p:spPr>
              <a:xfrm>
                <a:off x="2667000" y="2590800"/>
                <a:ext cx="1714500" cy="209550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6"/>
              <p:cNvSpPr/>
              <p:nvPr>
                <p:custDataLst>
                  <p:tags r:id="rId11"/>
                </p:custDataLst>
              </p:nvPr>
            </p:nvSpPr>
            <p:spPr>
              <a:xfrm>
                <a:off x="2667000" y="2914650"/>
                <a:ext cx="1714500" cy="628650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 anchor="ctr"/>
              <a:lstStyle/>
              <a:p>
                <a:pPr marL="0" indent="0" algn="ctr">
                  <a:lnSpc>
                    <a:spcPts val="1650"/>
                  </a:lnSpc>
                  <a:buNone/>
                </a:pPr>
                <a:r>
                  <a:rPr lang="en-US" sz="12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定义了宽度为2</a:t>
                </a:r>
                <a14:m>
                  <m:oMath xmlns:m="http://schemas.openxmlformats.org/officeDocument/2006/math">
                    <m:r>
                      <a:rPr lang="en-US" sz="1200" b="1" i="1" dirty="0">
                        <a:solidFill>
                          <a:srgbClr val="000000"/>
                        </a:solidFill>
                        <a:latin typeface="Cambria Math" panose="02040503050406030204" charset="0"/>
                        <a:ea typeface="微软雅黑" panose="020B0503020204020204" pitchFamily="34" charset="-122"/>
                        <a:cs typeface="Cambria Math" panose="02040503050406030204" charset="0"/>
                      </a:rPr>
                      <m:t>𝝐</m:t>
                    </m:r>
                  </m:oMath>
                </a14:m>
                <a:endParaRPr lang="en-US" sz="1200" dirty="0"/>
              </a:p>
              <a:p>
                <a:pPr marL="0" indent="0" algn="just">
                  <a:lnSpc>
                    <a:spcPts val="1650"/>
                  </a:lnSpc>
                  <a:buNone/>
                </a:pPr>
                <a:r>
                  <a:rPr lang="en-US" sz="12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的间隔带，间隔带内的预测误差被视为零，不受惩罚。</a:t>
                </a:r>
                <a:endParaRPr lang="en-US" sz="1200" dirty="0"/>
              </a:p>
            </p:txBody>
          </p:sp>
        </mc:Choice>
        <mc:Fallback>
          <p:sp>
            <p:nvSpPr>
              <p:cNvPr id="11" name="Text 6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2"/>
                </p:custDataLst>
              </p:nvPr>
            </p:nvSpPr>
            <p:spPr>
              <a:xfrm>
                <a:off x="2667000" y="2914650"/>
                <a:ext cx="1714500" cy="628650"/>
              </a:xfrm>
              <a:prstGeom prst="rect">
                <a:avLst/>
              </a:prstGeom>
              <a:blipFill rotWithShape="1">
                <a:blip r:embed="rId13"/>
                <a:stretch>
                  <a:fillRect t="-16566" b="-1676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Image 3" descr="preencoded.png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rcRect/>
          <a:stretch>
            <a:fillRect/>
          </a:stretch>
        </p:blipFill>
        <p:spPr>
          <a:xfrm>
            <a:off x="5381625" y="2000250"/>
            <a:ext cx="476250" cy="476250"/>
          </a:xfrm>
          <a:prstGeom prst="rect">
            <a:avLst/>
          </a:prstGeom>
        </p:spPr>
      </p:pic>
      <p:sp>
        <p:nvSpPr>
          <p:cNvPr id="13" name="Text 7"/>
          <p:cNvSpPr/>
          <p:nvPr>
            <p:custDataLst>
              <p:tags r:id="rId16"/>
            </p:custDataLst>
          </p:nvPr>
        </p:nvSpPr>
        <p:spPr>
          <a:xfrm>
            <a:off x="4762500" y="25908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引入松弛变量</a:t>
            </a:r>
            <a:endParaRPr 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 8"/>
              <p:cNvSpPr/>
              <p:nvPr>
                <p:custDataLst>
                  <p:tags r:id="rId17"/>
                </p:custDataLst>
              </p:nvPr>
            </p:nvSpPr>
            <p:spPr>
              <a:xfrm>
                <a:off x="4762500" y="2838450"/>
                <a:ext cx="1714500" cy="838200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 anchor="ctr"/>
              <a:lstStyle/>
              <a:p>
                <a:pPr marL="0" indent="0" algn="just">
                  <a:lnSpc>
                    <a:spcPts val="1650"/>
                  </a:lnSpc>
                  <a:buNone/>
                </a:pPr>
                <a:r>
                  <a:rPr lang="en-US" sz="12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引入正向误差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rgbClr val="666666"/>
                            </a:solidFill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rgbClr val="666666"/>
                            </a:solidFill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𝜖</m:t>
                        </m:r>
                      </m:e>
                      <m:sub>
                        <m:r>
                          <a:rPr lang="en-US" sz="1200" i="1" dirty="0">
                            <a:solidFill>
                              <a:srgbClr val="666666"/>
                            </a:solidFill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和负向误差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200" i="1" dirty="0">
                            <a:solidFill>
                              <a:srgbClr val="666666"/>
                            </a:solidFill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sz="1200" i="1" dirty="0">
                            <a:solidFill>
                              <a:srgbClr val="666666"/>
                            </a:solidFill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𝜖</m:t>
                        </m:r>
                      </m:e>
                      <m:sub>
                        <m:r>
                          <a:rPr lang="en-US" sz="1200" i="1" dirty="0">
                            <a:solidFill>
                              <a:srgbClr val="666666"/>
                            </a:solidFill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𝑖</m:t>
                        </m:r>
                      </m:sub>
                      <m:sup>
                        <m:r>
                          <a:rPr lang="en-US" sz="1200" i="1" dirty="0">
                            <a:solidFill>
                              <a:srgbClr val="666666"/>
                            </a:solidFill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12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，确保预测值与真实值之间的差异在间隔带外才计算。</a:t>
                </a:r>
                <a:endParaRPr lang="en-US" sz="1200" dirty="0"/>
              </a:p>
            </p:txBody>
          </p:sp>
        </mc:Choice>
        <mc:Fallback>
          <p:sp>
            <p:nvSpPr>
              <p:cNvPr id="14" name="Text 8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8"/>
                </p:custDataLst>
              </p:nvPr>
            </p:nvSpPr>
            <p:spPr>
              <a:xfrm>
                <a:off x="4762500" y="2838450"/>
                <a:ext cx="1714500" cy="838200"/>
              </a:xfrm>
              <a:prstGeom prst="rect">
                <a:avLst/>
              </a:prstGeom>
              <a:blipFill rotWithShape="1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Image 4" descr="preencoded.png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/>
          <a:srcRect/>
          <a:stretch>
            <a:fillRect/>
          </a:stretch>
        </p:blipFill>
        <p:spPr>
          <a:xfrm>
            <a:off x="7477125" y="2000250"/>
            <a:ext cx="476250" cy="476250"/>
          </a:xfrm>
          <a:prstGeom prst="rect">
            <a:avLst/>
          </a:prstGeom>
        </p:spPr>
      </p:pic>
      <p:sp>
        <p:nvSpPr>
          <p:cNvPr id="16" name="Text 9"/>
          <p:cNvSpPr/>
          <p:nvPr>
            <p:custDataLst>
              <p:tags r:id="rId22"/>
            </p:custDataLst>
          </p:nvPr>
        </p:nvSpPr>
        <p:spPr>
          <a:xfrm>
            <a:off x="6858000" y="2590800"/>
            <a:ext cx="1714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优化问题</a:t>
            </a:r>
            <a:endParaRPr lang="en-US" sz="1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 10"/>
              <p:cNvSpPr/>
              <p:nvPr>
                <p:custDataLst>
                  <p:tags r:id="rId23"/>
                </p:custDataLst>
              </p:nvPr>
            </p:nvSpPr>
            <p:spPr>
              <a:xfrm>
                <a:off x="6858000" y="2838450"/>
                <a:ext cx="1714500" cy="838200"/>
              </a:xfrm>
              <a:prstGeom prst="rect">
                <a:avLst/>
              </a:prstGeom>
              <a:noFill/>
            </p:spPr>
            <p:txBody>
              <a:bodyPr vert="horz" wrap="square" lIns="0" tIns="0" rIns="0" bIns="0" rtlCol="0" anchor="ctr"/>
              <a:lstStyle/>
              <a:p>
                <a:pPr marL="0" indent="0" algn="just">
                  <a:lnSpc>
                    <a:spcPts val="1650"/>
                  </a:lnSpc>
                  <a:buNone/>
                </a:pPr>
                <a:r>
                  <a:rPr lang="en-US" sz="12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SVR的优化问题包含权重向量w、偏置项b和松弛变量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200" i="1" dirty="0">
                            <a:solidFill>
                              <a:srgbClr val="666666"/>
                            </a:solidFill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sz="1200" i="1" dirty="0">
                            <a:solidFill>
                              <a:srgbClr val="666666"/>
                            </a:solidFill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𝜖</m:t>
                        </m:r>
                      </m:e>
                      <m:sub>
                        <m:r>
                          <a:rPr lang="en-US" sz="1200" i="1" dirty="0">
                            <a:solidFill>
                              <a:srgbClr val="666666"/>
                            </a:solidFill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2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、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1200" i="1" dirty="0">
                            <a:solidFill>
                              <a:srgbClr val="666666"/>
                            </a:solidFill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sz="1200" i="1" dirty="0">
                            <a:solidFill>
                              <a:srgbClr val="666666"/>
                            </a:solidFill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𝜖</m:t>
                        </m:r>
                      </m:e>
                      <m:sub>
                        <m:r>
                          <a:rPr lang="en-US" sz="1200" i="1" dirty="0">
                            <a:solidFill>
                              <a:srgbClr val="666666"/>
                            </a:solidFill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𝑖</m:t>
                        </m:r>
                      </m:sub>
                      <m:sup>
                        <m:r>
                          <a:rPr lang="en-US" sz="1200" i="1" dirty="0">
                            <a:solidFill>
                              <a:srgbClr val="666666"/>
                            </a:solidFill>
                            <a:latin typeface="Cambria Math" panose="02040503050406030204" charset="0"/>
                            <a:ea typeface="微软雅黑" panose="020B0503020204020204" pitchFamily="34" charset="-122"/>
                            <a:cs typeface="Cambria Math" panose="02040503050406030204" charset="0"/>
                          </a:rPr>
                          <m:t>∗</m:t>
                        </m:r>
                      </m:sup>
                    </m:sSubSup>
                  </m:oMath>
                </a14:m>
                <a:r>
                  <a:rPr lang="en-US" sz="1200" dirty="0">
                    <a:solidFill>
                      <a:srgbClr val="666666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0"/>
                  </a:rPr>
                  <a:t>，平衡模型复杂度与训练误差。</a:t>
                </a:r>
                <a:endParaRPr lang="en-US" sz="1200" dirty="0"/>
              </a:p>
            </p:txBody>
          </p:sp>
        </mc:Choice>
        <mc:Fallback>
          <p:sp>
            <p:nvSpPr>
              <p:cNvPr id="17" name="Text 10"/>
              <p:cNvSpPr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4"/>
                </p:custDataLst>
              </p:nvPr>
            </p:nvSpPr>
            <p:spPr>
              <a:xfrm>
                <a:off x="6858000" y="2838450"/>
                <a:ext cx="1714500" cy="838200"/>
              </a:xfrm>
              <a:prstGeom prst="rect">
                <a:avLst/>
              </a:prstGeom>
              <a:blipFill rotWithShape="1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核函数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00050" y="1447800"/>
            <a:ext cx="4171950" cy="14097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0075" y="1654969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核函数定义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00075" y="1945481"/>
            <a:ext cx="257175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核函数(Kernel Function)是SVM中用于映射数据到高维空间的关键技术，通过内积计算实现非线性分类。</a:t>
            </a:r>
            <a:endParaRPr lang="en-US" sz="10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568825" y="1517015"/>
            <a:ext cx="1882140" cy="127127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32095" y="1759744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常用核函数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5271135" y="2123440"/>
            <a:ext cx="3314700" cy="49784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包括线性核、多项式核、高斯径向基核(RBF)和Sigmoid核，各有适用场景和参数。</a:t>
            </a:r>
            <a:endParaRPr lang="en-US" sz="10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00050" y="2857500"/>
            <a:ext cx="4171950" cy="14097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00075" y="3169444"/>
            <a:ext cx="257175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核函数选择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00075" y="3459956"/>
            <a:ext cx="257175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依据数据特性和计算效率，通过交叉验证评估性能，选择最佳核函数。</a:t>
            </a:r>
            <a:endParaRPr lang="en-US" sz="1050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767965"/>
            <a:ext cx="4354830" cy="14020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l="12500" r="12500"/>
          <a:stretch>
            <a:fillRect/>
          </a:stretch>
        </p:blipFill>
        <p:spPr>
          <a:xfrm>
            <a:off x="0" y="0"/>
            <a:ext cx="3857625" cy="5143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429125" y="285750"/>
            <a:ext cx="40386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核技巧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4429125" y="742950"/>
            <a:ext cx="40386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429125" y="1333500"/>
            <a:ext cx="1881187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核技巧简介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429125" y="1581150"/>
            <a:ext cx="1881187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核技巧是SVM处理非线性问题的关键，通过核函数间接计算高维空间内积，避免显式映射，提高计算效率。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691313" y="1333500"/>
            <a:ext cx="1881187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核函数作用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6691313" y="1581150"/>
            <a:ext cx="1881187" cy="838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核函数如高斯RBF、多项式核等，将数据映射至高维空间，使非线性可分问题转化为线性可分，增强模型表达能力。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4429125" y="2609850"/>
            <a:ext cx="1881187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核技巧优势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429125" y="2857500"/>
            <a:ext cx="1881187" cy="6286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核技巧简化计算，避免维度灾难，使SVM能高效处理复杂非线性数据，提升模型泛化能力。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实践应用与案例分析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22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支持向量可视化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381000" y="1428750"/>
            <a:ext cx="8382000" cy="2547938"/>
          </a:xfrm>
          <a:prstGeom prst="rect">
            <a:avLst/>
          </a:prstGeom>
        </p:spPr>
      </p:pic>
      <p:sp>
        <p:nvSpPr>
          <p:cNvPr id="7" name="Text 3"/>
          <p:cNvSpPr/>
          <p:nvPr>
            <p:custDataLst>
              <p:tags r:id="rId4"/>
            </p:custDataLst>
          </p:nvPr>
        </p:nvSpPr>
        <p:spPr>
          <a:xfrm>
            <a:off x="595313" y="3190875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可视化决策边界</a:t>
            </a:r>
            <a:endParaRPr lang="en-US" sz="1200" dirty="0"/>
          </a:p>
        </p:txBody>
      </p:sp>
      <p:sp>
        <p:nvSpPr>
          <p:cNvPr id="8" name="Text 4"/>
          <p:cNvSpPr/>
          <p:nvPr>
            <p:custDataLst>
              <p:tags r:id="rId5"/>
            </p:custDataLst>
          </p:nvPr>
        </p:nvSpPr>
        <p:spPr>
          <a:xfrm>
            <a:off x="595313" y="3481388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通过图形化方式展示SVM的决策边界，帮助理解模型如何划分不同类别。</a:t>
            </a:r>
            <a:endParaRPr lang="en-US" sz="1050" dirty="0"/>
          </a:p>
        </p:txBody>
      </p:sp>
      <p:sp>
        <p:nvSpPr>
          <p:cNvPr id="9" name="Text 5"/>
          <p:cNvSpPr/>
          <p:nvPr>
            <p:custDataLst>
              <p:tags r:id="rId6"/>
            </p:custDataLst>
          </p:nvPr>
        </p:nvSpPr>
        <p:spPr>
          <a:xfrm>
            <a:off x="595313" y="2328863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突出支持向量</a:t>
            </a:r>
            <a:endParaRPr lang="en-US" sz="1200" dirty="0"/>
          </a:p>
        </p:txBody>
      </p:sp>
      <p:sp>
        <p:nvSpPr>
          <p:cNvPr id="10" name="Text 6"/>
          <p:cNvSpPr/>
          <p:nvPr>
            <p:custDataLst>
              <p:tags r:id="rId7"/>
            </p:custDataLst>
          </p:nvPr>
        </p:nvSpPr>
        <p:spPr>
          <a:xfrm>
            <a:off x="595313" y="2619375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在图中特别标注出支持向量，强调它们对构建决策边界的重要性。</a:t>
            </a:r>
            <a:endParaRPr lang="en-US" sz="1050" dirty="0"/>
          </a:p>
        </p:txBody>
      </p:sp>
      <p:sp>
        <p:nvSpPr>
          <p:cNvPr id="11" name="Text 7"/>
          <p:cNvSpPr/>
          <p:nvPr>
            <p:custDataLst>
              <p:tags r:id="rId8"/>
            </p:custDataLst>
          </p:nvPr>
        </p:nvSpPr>
        <p:spPr>
          <a:xfrm>
            <a:off x="595313" y="146685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展示数据点分布</a:t>
            </a:r>
            <a:endParaRPr lang="en-US" sz="1200" dirty="0"/>
          </a:p>
        </p:txBody>
      </p:sp>
      <p:sp>
        <p:nvSpPr>
          <p:cNvPr id="12" name="Text 8"/>
          <p:cNvSpPr/>
          <p:nvPr>
            <p:custDataLst>
              <p:tags r:id="rId9"/>
            </p:custDataLst>
          </p:nvPr>
        </p:nvSpPr>
        <p:spPr>
          <a:xfrm>
            <a:off x="595313" y="1757362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清晰地展示训练集中的数据点分布情况，便于观察数据特征。</a:t>
            </a:r>
            <a:endParaRPr lang="en-US" sz="1050" dirty="0"/>
          </a:p>
        </p:txBody>
      </p:sp>
      <p:sp>
        <p:nvSpPr>
          <p:cNvPr id="13" name="Text 9"/>
          <p:cNvSpPr/>
          <p:nvPr>
            <p:custDataLst>
              <p:tags r:id="rId10"/>
            </p:custDataLst>
          </p:nvPr>
        </p:nvSpPr>
        <p:spPr>
          <a:xfrm>
            <a:off x="6186488" y="1897856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区分不同类别</a:t>
            </a:r>
            <a:endParaRPr lang="en-US" sz="1200" dirty="0"/>
          </a:p>
        </p:txBody>
      </p:sp>
      <p:sp>
        <p:nvSpPr>
          <p:cNvPr id="14" name="Text 10"/>
          <p:cNvSpPr/>
          <p:nvPr>
            <p:custDataLst>
              <p:tags r:id="rId11"/>
            </p:custDataLst>
          </p:nvPr>
        </p:nvSpPr>
        <p:spPr>
          <a:xfrm>
            <a:off x="6186488" y="2188369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利用SVM算法有效地区分复杂数据集中的各类别，提高分类准确性。</a:t>
            </a:r>
            <a:endParaRPr lang="en-US" sz="1050" dirty="0"/>
          </a:p>
        </p:txBody>
      </p:sp>
      <p:sp>
        <p:nvSpPr>
          <p:cNvPr id="15" name="Text 11"/>
          <p:cNvSpPr/>
          <p:nvPr>
            <p:custDataLst>
              <p:tags r:id="rId12"/>
            </p:custDataLst>
          </p:nvPr>
        </p:nvSpPr>
        <p:spPr>
          <a:xfrm>
            <a:off x="6186488" y="2759869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找到最优分类面</a:t>
            </a:r>
            <a:endParaRPr lang="en-US" sz="1200" dirty="0"/>
          </a:p>
        </p:txBody>
      </p:sp>
      <p:sp>
        <p:nvSpPr>
          <p:cNvPr id="16" name="Text 12"/>
          <p:cNvSpPr/>
          <p:nvPr>
            <p:custDataLst>
              <p:tags r:id="rId13"/>
            </p:custDataLst>
          </p:nvPr>
        </p:nvSpPr>
        <p:spPr>
          <a:xfrm>
            <a:off x="6186488" y="3050381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SVM通过最大化间隔来寻找最优分类超平面，实现最佳分类效果。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支持向量可视化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7" name="Text 3"/>
          <p:cNvSpPr/>
          <p:nvPr>
            <p:custDataLst>
              <p:tags r:id="rId2"/>
            </p:custDataLst>
          </p:nvPr>
        </p:nvSpPr>
        <p:spPr>
          <a:xfrm>
            <a:off x="595313" y="3190875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可视化决策边界</a:t>
            </a:r>
            <a:endParaRPr lang="en-US" sz="1200" dirty="0"/>
          </a:p>
        </p:txBody>
      </p:sp>
      <p:sp>
        <p:nvSpPr>
          <p:cNvPr id="8" name="Text 4"/>
          <p:cNvSpPr/>
          <p:nvPr>
            <p:custDataLst>
              <p:tags r:id="rId3"/>
            </p:custDataLst>
          </p:nvPr>
        </p:nvSpPr>
        <p:spPr>
          <a:xfrm>
            <a:off x="595313" y="3481388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通过图形化方式展示SVM的决策边界，帮助理解模型如何划分不同类别。</a:t>
            </a:r>
            <a:endParaRPr lang="en-US" sz="1050" dirty="0"/>
          </a:p>
        </p:txBody>
      </p:sp>
      <p:sp>
        <p:nvSpPr>
          <p:cNvPr id="9" name="Text 5"/>
          <p:cNvSpPr/>
          <p:nvPr>
            <p:custDataLst>
              <p:tags r:id="rId4"/>
            </p:custDataLst>
          </p:nvPr>
        </p:nvSpPr>
        <p:spPr>
          <a:xfrm>
            <a:off x="595313" y="2328863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突出支持向量</a:t>
            </a:r>
            <a:endParaRPr lang="en-US" sz="1200" dirty="0"/>
          </a:p>
        </p:txBody>
      </p:sp>
      <p:sp>
        <p:nvSpPr>
          <p:cNvPr id="10" name="Text 6"/>
          <p:cNvSpPr/>
          <p:nvPr>
            <p:custDataLst>
              <p:tags r:id="rId5"/>
            </p:custDataLst>
          </p:nvPr>
        </p:nvSpPr>
        <p:spPr>
          <a:xfrm>
            <a:off x="595313" y="2619375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在图中特别标注出支持向量，强调它们对构建决策边界的重要性。</a:t>
            </a:r>
            <a:endParaRPr lang="en-US" sz="1050" dirty="0"/>
          </a:p>
        </p:txBody>
      </p:sp>
      <p:sp>
        <p:nvSpPr>
          <p:cNvPr id="11" name="Text 7"/>
          <p:cNvSpPr/>
          <p:nvPr>
            <p:custDataLst>
              <p:tags r:id="rId6"/>
            </p:custDataLst>
          </p:nvPr>
        </p:nvSpPr>
        <p:spPr>
          <a:xfrm>
            <a:off x="595313" y="1466850"/>
            <a:ext cx="2362200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展示数据点分布</a:t>
            </a:r>
            <a:endParaRPr lang="en-US" sz="1200" dirty="0"/>
          </a:p>
        </p:txBody>
      </p:sp>
      <p:sp>
        <p:nvSpPr>
          <p:cNvPr id="12" name="Text 8"/>
          <p:cNvSpPr/>
          <p:nvPr>
            <p:custDataLst>
              <p:tags r:id="rId7"/>
            </p:custDataLst>
          </p:nvPr>
        </p:nvSpPr>
        <p:spPr>
          <a:xfrm>
            <a:off x="595313" y="1757362"/>
            <a:ext cx="23622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清晰地展示训练集中的数据点分布情况，便于观察数据特征。</a:t>
            </a:r>
            <a:endParaRPr lang="en-US" sz="1050" dirty="0"/>
          </a:p>
        </p:txBody>
      </p:sp>
      <p:grpSp>
        <p:nvGrpSpPr>
          <p:cNvPr id="18" name="组合 17"/>
          <p:cNvGrpSpPr/>
          <p:nvPr>
            <p:custDataLst>
              <p:tags r:id="rId8"/>
            </p:custDataLst>
          </p:nvPr>
        </p:nvGrpSpPr>
        <p:grpSpPr>
          <a:xfrm>
            <a:off x="6697345" y="1898015"/>
            <a:ext cx="2362200" cy="1609725"/>
            <a:chOff x="9743" y="2989"/>
            <a:chExt cx="3720" cy="2535"/>
          </a:xfrm>
        </p:grpSpPr>
        <p:sp>
          <p:nvSpPr>
            <p:cNvPr id="13" name="Text 9"/>
            <p:cNvSpPr/>
            <p:nvPr>
              <p:custDataLst>
                <p:tags r:id="rId9"/>
              </p:custDataLst>
            </p:nvPr>
          </p:nvSpPr>
          <p:spPr>
            <a:xfrm>
              <a:off x="9743" y="2989"/>
              <a:ext cx="3720" cy="39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l">
                <a:lnSpc>
                  <a:spcPts val="1690"/>
                </a:lnSpc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区分不同类别</a:t>
              </a:r>
              <a:endParaRPr lang="en-US" sz="1200" dirty="0"/>
            </a:p>
          </p:txBody>
        </p:sp>
        <p:sp>
          <p:nvSpPr>
            <p:cNvPr id="14" name="Text 10"/>
            <p:cNvSpPr/>
            <p:nvPr>
              <p:custDataLst>
                <p:tags r:id="rId10"/>
              </p:custDataLst>
            </p:nvPr>
          </p:nvSpPr>
          <p:spPr>
            <a:xfrm>
              <a:off x="9743" y="3446"/>
              <a:ext cx="3720" cy="72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just">
                <a:lnSpc>
                  <a:spcPts val="1650"/>
                </a:lnSpc>
                <a:buNone/>
              </a:pPr>
              <a:r>
                <a:rPr lang="en-US" sz="105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利用SVM算法有效地区分复杂数据集中的各类别，提高分类准确性。</a:t>
              </a:r>
              <a:endParaRPr lang="en-US" sz="1050" dirty="0"/>
            </a:p>
          </p:txBody>
        </p:sp>
        <p:sp>
          <p:nvSpPr>
            <p:cNvPr id="15" name="Text 11"/>
            <p:cNvSpPr/>
            <p:nvPr>
              <p:custDataLst>
                <p:tags r:id="rId11"/>
              </p:custDataLst>
            </p:nvPr>
          </p:nvSpPr>
          <p:spPr>
            <a:xfrm>
              <a:off x="9743" y="4346"/>
              <a:ext cx="3720" cy="39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l">
                <a:lnSpc>
                  <a:spcPts val="1690"/>
                </a:lnSpc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找到最优分类面</a:t>
              </a:r>
              <a:endParaRPr lang="en-US" sz="1200" dirty="0"/>
            </a:p>
          </p:txBody>
        </p:sp>
        <p:sp>
          <p:nvSpPr>
            <p:cNvPr id="16" name="Text 12"/>
            <p:cNvSpPr/>
            <p:nvPr>
              <p:custDataLst>
                <p:tags r:id="rId12"/>
              </p:custDataLst>
            </p:nvPr>
          </p:nvSpPr>
          <p:spPr>
            <a:xfrm>
              <a:off x="9743" y="4804"/>
              <a:ext cx="3720" cy="72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just">
                <a:lnSpc>
                  <a:spcPts val="1650"/>
                </a:lnSpc>
                <a:buNone/>
              </a:pPr>
              <a:r>
                <a:rPr lang="en-US" sz="105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SVM通过最大化间隔来寻找最优分类超平面，实现最佳分类效果。</a:t>
              </a:r>
              <a:endParaRPr lang="en-US" sz="1050" dirty="0"/>
            </a:p>
          </p:txBody>
        </p:sp>
      </p:grpSp>
      <p:pic>
        <p:nvPicPr>
          <p:cNvPr id="17" name="图片 16"/>
          <p:cNvPicPr>
            <a:picLocks noChangeAspect="1"/>
          </p:cNvPicPr>
          <p:nvPr/>
        </p:nvPicPr>
        <p:blipFill>
          <a:blip r:embed="rId13"/>
          <a:srcRect l="2067" t="1018" r="8600"/>
          <a:stretch>
            <a:fillRect/>
          </a:stretch>
        </p:blipFill>
        <p:spPr>
          <a:xfrm>
            <a:off x="2957830" y="1541145"/>
            <a:ext cx="3636010" cy="23304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t="3571" b="3571"/>
          <a:stretch>
            <a:fillRect/>
          </a:stretch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不同γ值高斯核函数可视化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grpSp>
        <p:nvGrpSpPr>
          <p:cNvPr id="15" name="组合 14"/>
          <p:cNvGrpSpPr/>
          <p:nvPr>
            <p:custDataLst>
              <p:tags r:id="rId2"/>
            </p:custDataLst>
          </p:nvPr>
        </p:nvGrpSpPr>
        <p:grpSpPr>
          <a:xfrm>
            <a:off x="434340" y="1295400"/>
            <a:ext cx="8001000" cy="995680"/>
            <a:chOff x="900" y="3150"/>
            <a:chExt cx="12600" cy="1568"/>
          </a:xfrm>
        </p:grpSpPr>
        <p:sp>
          <p:nvSpPr>
            <p:cNvPr id="6" name="Text 3"/>
            <p:cNvSpPr/>
            <p:nvPr>
              <p:custDataLst>
                <p:tags r:id="rId3"/>
              </p:custDataLst>
            </p:nvPr>
          </p:nvSpPr>
          <p:spPr>
            <a:xfrm>
              <a:off x="900" y="3150"/>
              <a:ext cx="3800" cy="337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l">
                <a:lnSpc>
                  <a:spcPts val="1650"/>
                </a:lnSpc>
                <a:buNone/>
              </a:pPr>
              <a:r>
                <a:rPr lang="en-US" sz="1200" b="1" dirty="0">
                  <a:solidFill>
                    <a:srgbClr val="4784C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01</a:t>
              </a:r>
              <a:endParaRPr lang="en-US" sz="1200" dirty="0"/>
            </a:p>
          </p:txBody>
        </p:sp>
        <p:sp>
          <p:nvSpPr>
            <p:cNvPr id="7" name="Text 4"/>
            <p:cNvSpPr/>
            <p:nvPr>
              <p:custDataLst>
                <p:tags r:id="rId4"/>
              </p:custDataLst>
            </p:nvPr>
          </p:nvSpPr>
          <p:spPr>
            <a:xfrm>
              <a:off x="900" y="3668"/>
              <a:ext cx="3800" cy="33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l">
                <a:lnSpc>
                  <a:spcPts val="1650"/>
                </a:lnSpc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γ参数影响</a:t>
              </a:r>
              <a:endParaRPr lang="en-US" sz="1200" dirty="0"/>
            </a:p>
          </p:txBody>
        </p:sp>
        <p:sp>
          <p:nvSpPr>
            <p:cNvPr id="8" name="Text 5"/>
            <p:cNvSpPr/>
            <p:nvPr>
              <p:custDataLst>
                <p:tags r:id="rId5"/>
              </p:custDataLst>
            </p:nvPr>
          </p:nvSpPr>
          <p:spPr>
            <a:xfrm>
              <a:off x="900" y="4058"/>
              <a:ext cx="3800" cy="66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just">
                <a:lnSpc>
                  <a:spcPts val="1650"/>
                </a:lnSpc>
                <a:buNone/>
              </a:pPr>
              <a:r>
                <a:rPr lang="en-US" sz="105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γ参数控制高斯径向基函数的宽度，影响模型复杂度与泛化能力。</a:t>
              </a:r>
              <a:endParaRPr lang="en-US" sz="1050" dirty="0"/>
            </a:p>
          </p:txBody>
        </p:sp>
        <p:sp>
          <p:nvSpPr>
            <p:cNvPr id="9" name="Text 6"/>
            <p:cNvSpPr/>
            <p:nvPr>
              <p:custDataLst>
                <p:tags r:id="rId6"/>
              </p:custDataLst>
            </p:nvPr>
          </p:nvSpPr>
          <p:spPr>
            <a:xfrm>
              <a:off x="5300" y="3150"/>
              <a:ext cx="3800" cy="337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l">
                <a:lnSpc>
                  <a:spcPts val="1650"/>
                </a:lnSpc>
                <a:buNone/>
              </a:pPr>
              <a:r>
                <a:rPr lang="en-US" sz="1200" b="1" dirty="0">
                  <a:solidFill>
                    <a:srgbClr val="4784C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02</a:t>
              </a:r>
              <a:endParaRPr lang="en-US" sz="1200" dirty="0"/>
            </a:p>
          </p:txBody>
        </p:sp>
        <p:sp>
          <p:nvSpPr>
            <p:cNvPr id="10" name="Text 7"/>
            <p:cNvSpPr/>
            <p:nvPr>
              <p:custDataLst>
                <p:tags r:id="rId7"/>
              </p:custDataLst>
            </p:nvPr>
          </p:nvSpPr>
          <p:spPr>
            <a:xfrm>
              <a:off x="5300" y="3668"/>
              <a:ext cx="3800" cy="33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l">
                <a:lnSpc>
                  <a:spcPts val="1650"/>
                </a:lnSpc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案例演示</a:t>
              </a:r>
              <a:endParaRPr lang="en-US" sz="1200" dirty="0"/>
            </a:p>
          </p:txBody>
        </p:sp>
        <p:sp>
          <p:nvSpPr>
            <p:cNvPr id="11" name="Text 8"/>
            <p:cNvSpPr/>
            <p:nvPr>
              <p:custDataLst>
                <p:tags r:id="rId8"/>
              </p:custDataLst>
            </p:nvPr>
          </p:nvSpPr>
          <p:spPr>
            <a:xfrm>
              <a:off x="5300" y="4058"/>
              <a:ext cx="3800" cy="66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just">
                <a:lnSpc>
                  <a:spcPts val="1650"/>
                </a:lnSpc>
                <a:buNone/>
              </a:pPr>
              <a:r>
                <a:rPr lang="en-US" sz="105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通过改变γ值，观察决策边界的变化，理解γ对模型的影响</a:t>
              </a:r>
              <a:r>
                <a:rPr lang="zh-CN" altLang="en-US" sz="105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，如下图</a:t>
              </a:r>
              <a:r>
                <a:rPr lang="zh-CN" altLang="en-US" sz="105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所示。</a:t>
              </a:r>
              <a:endParaRPr lang="zh-CN" alt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endParaRPr>
            </a:p>
          </p:txBody>
        </p:sp>
        <p:sp>
          <p:nvSpPr>
            <p:cNvPr id="12" name="Text 9"/>
            <p:cNvSpPr/>
            <p:nvPr>
              <p:custDataLst>
                <p:tags r:id="rId9"/>
              </p:custDataLst>
            </p:nvPr>
          </p:nvSpPr>
          <p:spPr>
            <a:xfrm>
              <a:off x="9700" y="3150"/>
              <a:ext cx="3800" cy="337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l">
                <a:lnSpc>
                  <a:spcPts val="1650"/>
                </a:lnSpc>
                <a:buNone/>
              </a:pPr>
              <a:r>
                <a:rPr lang="en-US" sz="1200" b="1" dirty="0">
                  <a:solidFill>
                    <a:srgbClr val="4784CB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03</a:t>
              </a:r>
              <a:endParaRPr lang="en-US" sz="1200" dirty="0"/>
            </a:p>
          </p:txBody>
        </p:sp>
        <p:sp>
          <p:nvSpPr>
            <p:cNvPr id="13" name="Text 10"/>
            <p:cNvSpPr/>
            <p:nvPr>
              <p:custDataLst>
                <p:tags r:id="rId10"/>
              </p:custDataLst>
            </p:nvPr>
          </p:nvSpPr>
          <p:spPr>
            <a:xfrm>
              <a:off x="9700" y="3668"/>
              <a:ext cx="3800" cy="33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l">
                <a:lnSpc>
                  <a:spcPts val="1650"/>
                </a:lnSpc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结果分析</a:t>
              </a:r>
              <a:endParaRPr lang="en-US" sz="1200" dirty="0"/>
            </a:p>
          </p:txBody>
        </p:sp>
        <p:sp>
          <p:nvSpPr>
            <p:cNvPr id="14" name="Text 11"/>
            <p:cNvSpPr/>
            <p:nvPr>
              <p:custDataLst>
                <p:tags r:id="rId11"/>
              </p:custDataLst>
            </p:nvPr>
          </p:nvSpPr>
          <p:spPr>
            <a:xfrm>
              <a:off x="9700" y="4058"/>
              <a:ext cx="3800" cy="66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just">
                <a:lnSpc>
                  <a:spcPts val="1650"/>
                </a:lnSpc>
                <a:buNone/>
              </a:pPr>
              <a:r>
                <a:rPr lang="en-US" sz="105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较小γ值产生更平滑边界，较大γ值导致复杂边界，可能过拟合。</a:t>
              </a:r>
              <a:endParaRPr lang="en-US" sz="1050" dirty="0"/>
            </a:p>
          </p:txBody>
        </p:sp>
      </p:grpSp>
      <p:pic>
        <p:nvPicPr>
          <p:cNvPr id="16" name="图片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53415" y="2405380"/>
            <a:ext cx="7334250" cy="243141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手写数字识别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6657975" y="1052195"/>
            <a:ext cx="1964690" cy="2400300"/>
          </a:xfrm>
          <a:prstGeom prst="rect">
            <a:avLst/>
          </a:prstGeom>
        </p:spPr>
      </p:pic>
      <p:grpSp>
        <p:nvGrpSpPr>
          <p:cNvPr id="22" name="组合 21"/>
          <p:cNvGrpSpPr/>
          <p:nvPr>
            <p:custDataLst>
              <p:tags r:id="rId4"/>
            </p:custDataLst>
          </p:nvPr>
        </p:nvGrpSpPr>
        <p:grpSpPr>
          <a:xfrm>
            <a:off x="400050" y="1052195"/>
            <a:ext cx="7991475" cy="2390775"/>
            <a:chOff x="630" y="2280"/>
            <a:chExt cx="12585" cy="3765"/>
          </a:xfrm>
        </p:grpSpPr>
        <p:pic>
          <p:nvPicPr>
            <p:cNvPr id="6" name="Image 1" descr="preencoded.png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rcRect/>
            <a:stretch>
              <a:fillRect/>
            </a:stretch>
          </p:blipFill>
          <p:spPr>
            <a:xfrm>
              <a:off x="630" y="2280"/>
              <a:ext cx="3082" cy="3765"/>
            </a:xfrm>
            <a:prstGeom prst="rect">
              <a:avLst/>
            </a:prstGeom>
          </p:spPr>
        </p:pic>
        <p:sp>
          <p:nvSpPr>
            <p:cNvPr id="7" name="Text 3"/>
            <p:cNvSpPr/>
            <p:nvPr>
              <p:custDataLst>
                <p:tags r:id="rId7"/>
              </p:custDataLst>
            </p:nvPr>
          </p:nvSpPr>
          <p:spPr>
            <a:xfrm>
              <a:off x="1185" y="3510"/>
              <a:ext cx="2175" cy="39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l">
                <a:lnSpc>
                  <a:spcPts val="1690"/>
                </a:lnSpc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数据预处理</a:t>
              </a:r>
              <a:endParaRPr lang="en-US" sz="1200" dirty="0"/>
            </a:p>
          </p:txBody>
        </p:sp>
        <p:sp>
          <p:nvSpPr>
            <p:cNvPr id="8" name="Text 4"/>
            <p:cNvSpPr/>
            <p:nvPr>
              <p:custDataLst>
                <p:tags r:id="rId8"/>
              </p:custDataLst>
            </p:nvPr>
          </p:nvSpPr>
          <p:spPr>
            <a:xfrm>
              <a:off x="1185" y="3968"/>
              <a:ext cx="2175" cy="171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just">
                <a:lnSpc>
                  <a:spcPts val="1650"/>
                </a:lnSpc>
                <a:buNone/>
              </a:pPr>
              <a:r>
                <a:rPr lang="en-US" sz="105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将手写数字图像转换为784维向量，对特征进行归一化处理，确保每个特征值域位于[0,1]之间。</a:t>
              </a:r>
              <a:endParaRPr lang="en-US" sz="1050" dirty="0"/>
            </a:p>
          </p:txBody>
        </p:sp>
        <p:pic>
          <p:nvPicPr>
            <p:cNvPr id="9" name="Image 2" descr="preencoded.png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rcRect/>
            <a:stretch>
              <a:fillRect/>
            </a:stretch>
          </p:blipFill>
          <p:spPr>
            <a:xfrm>
              <a:off x="3915" y="2280"/>
              <a:ext cx="3082" cy="3765"/>
            </a:xfrm>
            <a:prstGeom prst="rect">
              <a:avLst/>
            </a:prstGeom>
          </p:spPr>
        </p:pic>
        <p:sp>
          <p:nvSpPr>
            <p:cNvPr id="10" name="Text 5"/>
            <p:cNvSpPr/>
            <p:nvPr>
              <p:custDataLst>
                <p:tags r:id="rId11"/>
              </p:custDataLst>
            </p:nvPr>
          </p:nvSpPr>
          <p:spPr>
            <a:xfrm>
              <a:off x="4470" y="3510"/>
              <a:ext cx="2175" cy="39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l">
                <a:lnSpc>
                  <a:spcPts val="1690"/>
                </a:lnSpc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模型构建</a:t>
              </a:r>
              <a:endParaRPr lang="en-US" sz="1200" dirty="0"/>
            </a:p>
          </p:txBody>
        </p:sp>
        <p:sp>
          <p:nvSpPr>
            <p:cNvPr id="11" name="Text 6"/>
            <p:cNvSpPr/>
            <p:nvPr>
              <p:custDataLst>
                <p:tags r:id="rId12"/>
              </p:custDataLst>
            </p:nvPr>
          </p:nvSpPr>
          <p:spPr>
            <a:xfrm>
              <a:off x="4470" y="3968"/>
              <a:ext cx="2175" cy="138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just">
                <a:lnSpc>
                  <a:spcPts val="1650"/>
                </a:lnSpc>
                <a:buNone/>
              </a:pPr>
              <a:r>
                <a:rPr lang="en-US" sz="105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采用RBF核函数，通过网格搜索法调整C和γ参数，找到最佳模型配置。</a:t>
              </a:r>
              <a:endParaRPr lang="en-US" sz="1050" dirty="0"/>
            </a:p>
          </p:txBody>
        </p:sp>
        <p:pic>
          <p:nvPicPr>
            <p:cNvPr id="12" name="Image 3" descr="preencoded.png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"/>
            <a:srcRect/>
            <a:stretch>
              <a:fillRect/>
            </a:stretch>
          </p:blipFill>
          <p:spPr>
            <a:xfrm>
              <a:off x="7200" y="2280"/>
              <a:ext cx="3082" cy="3765"/>
            </a:xfrm>
            <a:prstGeom prst="rect">
              <a:avLst/>
            </a:prstGeom>
          </p:spPr>
        </p:pic>
        <p:sp>
          <p:nvSpPr>
            <p:cNvPr id="13" name="Text 7"/>
            <p:cNvSpPr/>
            <p:nvPr>
              <p:custDataLst>
                <p:tags r:id="rId15"/>
              </p:custDataLst>
            </p:nvPr>
          </p:nvSpPr>
          <p:spPr>
            <a:xfrm>
              <a:off x="7755" y="3510"/>
              <a:ext cx="2175" cy="39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l">
                <a:lnSpc>
                  <a:spcPts val="1690"/>
                </a:lnSpc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训练与测试</a:t>
              </a:r>
              <a:endParaRPr lang="en-US" sz="1200" dirty="0"/>
            </a:p>
          </p:txBody>
        </p:sp>
        <p:sp>
          <p:nvSpPr>
            <p:cNvPr id="14" name="Text 8"/>
            <p:cNvSpPr/>
            <p:nvPr>
              <p:custDataLst>
                <p:tags r:id="rId16"/>
              </p:custDataLst>
            </p:nvPr>
          </p:nvSpPr>
          <p:spPr>
            <a:xfrm>
              <a:off x="7755" y="3968"/>
              <a:ext cx="2175" cy="138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just">
                <a:lnSpc>
                  <a:spcPts val="1650"/>
                </a:lnSpc>
                <a:buNone/>
              </a:pPr>
              <a:r>
                <a:rPr lang="en-US" sz="105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使用最佳参数配置训练SVM分类器，避免过拟合，评估模型在测试集上的性能。</a:t>
              </a:r>
              <a:endParaRPr lang="en-US" sz="1050" dirty="0"/>
            </a:p>
          </p:txBody>
        </p:sp>
        <p:sp>
          <p:nvSpPr>
            <p:cNvPr id="16" name="Text 9"/>
            <p:cNvSpPr/>
            <p:nvPr>
              <p:custDataLst>
                <p:tags r:id="rId17"/>
              </p:custDataLst>
            </p:nvPr>
          </p:nvSpPr>
          <p:spPr>
            <a:xfrm>
              <a:off x="11040" y="3510"/>
              <a:ext cx="2175" cy="398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l">
                <a:lnSpc>
                  <a:spcPts val="1690"/>
                </a:lnSpc>
                <a:buNone/>
              </a:pPr>
              <a:r>
                <a:rPr lang="en-US" sz="12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结果分析</a:t>
              </a:r>
              <a:endParaRPr lang="en-US" sz="1200" dirty="0"/>
            </a:p>
          </p:txBody>
        </p:sp>
        <p:sp>
          <p:nvSpPr>
            <p:cNvPr id="17" name="Text 10"/>
            <p:cNvSpPr/>
            <p:nvPr>
              <p:custDataLst>
                <p:tags r:id="rId18"/>
              </p:custDataLst>
            </p:nvPr>
          </p:nvSpPr>
          <p:spPr>
            <a:xfrm>
              <a:off x="11040" y="3968"/>
              <a:ext cx="2175" cy="1380"/>
            </a:xfrm>
            <a:prstGeom prst="rect">
              <a:avLst/>
            </a:prstGeom>
            <a:noFill/>
          </p:spPr>
          <p:txBody>
            <a:bodyPr vert="horz" wrap="square" lIns="0" tIns="0" rIns="0" bIns="0" rtlCol="0" anchor="ctr"/>
            <a:lstStyle/>
            <a:p>
              <a:pPr marL="0" indent="0" algn="just">
                <a:lnSpc>
                  <a:spcPts val="1650"/>
                </a:lnSpc>
                <a:buNone/>
              </a:pPr>
              <a:r>
                <a:rPr lang="en-US" sz="1050" dirty="0">
                  <a:solidFill>
                    <a:srgbClr val="666666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0"/>
                </a:rPr>
                <a:t>通过混淆矩阵展示分类结果，评估模型对手写数字识别的准确性和实用性。</a:t>
              </a:r>
              <a:endParaRPr lang="en-US" sz="1050" dirty="0"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手写数字识别</a:t>
            </a:r>
            <a:r>
              <a:rPr lang="zh-CN" alt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结果</a:t>
            </a:r>
            <a:r>
              <a:rPr lang="zh-CN" alt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展示</a:t>
            </a:r>
            <a:endParaRPr lang="zh-CN" altLang="en-US" sz="225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50" y="952500"/>
            <a:ext cx="4088130" cy="248348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 r="-1493" b="12653"/>
          <a:stretch>
            <a:fillRect/>
          </a:stretch>
        </p:blipFill>
        <p:spPr>
          <a:xfrm>
            <a:off x="4896485" y="685800"/>
            <a:ext cx="3367405" cy="3028950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5284470" y="366966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手写数字识别混淆矩阵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099820" y="3647440"/>
            <a:ext cx="2004060" cy="3905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手写数字可视化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3314700"/>
            <a:ext cx="4762500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细节补充与综合总结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000000">
              <a:alpha val="30000"/>
            </a:srgbClr>
          </a:solidFill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4784CB">
                    <a:alpha val="3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22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096125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 l="13758" r="13758"/>
          <a:stretch>
            <a:fillRect/>
          </a:stretch>
        </p:blipFill>
        <p:spPr>
          <a:xfrm>
            <a:off x="0" y="0"/>
            <a:ext cx="9144000" cy="709612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rcRect l="22819" r="22819"/>
          <a:stretch>
            <a:fillRect/>
          </a:stretch>
        </p:blipFill>
        <p:spPr>
          <a:xfrm>
            <a:off x="5286375" y="0"/>
            <a:ext cx="3857625" cy="70961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71500" y="285750"/>
            <a:ext cx="40386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补充材料</a:t>
            </a:r>
            <a:endParaRPr lang="en-US" sz="22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00050" y="1162050"/>
            <a:ext cx="2052637" cy="296703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52475" y="1943100"/>
            <a:ext cx="134778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向量求导基础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752475" y="2233613"/>
            <a:ext cx="1347788" cy="15049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向量求导是优化算法中的关键，如标量对向量的导数用于计算梯度，向量对向量的导数形成雅可比矩阵，二次形式的导数用于处理二次函数。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2452688" y="1162050"/>
            <a:ext cx="2052637" cy="296703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805113" y="1943100"/>
            <a:ext cx="134778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向量范式知识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2805430" y="2233930"/>
            <a:ext cx="1348105" cy="1649095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zh-CN" alt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向量的范式是一种衡量向量大小的方法。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L1范式用于稀疏表示</a:t>
            </a:r>
            <a:r>
              <a:rPr lang="zh-CN" alt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和特征选择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，L2范式用于正则化防止过拟合，L-infinity范式关注最大元素，LO范式</a:t>
            </a:r>
            <a:r>
              <a:rPr lang="zh-CN" alt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表示向量中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非零元素</a:t>
            </a:r>
            <a:r>
              <a:rPr lang="zh-CN" alt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的个数</a:t>
            </a: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。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400050" y="4129088"/>
            <a:ext cx="2052637" cy="275748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52475" y="4910138"/>
            <a:ext cx="1347788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拉格朗日方法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752475" y="5200650"/>
            <a:ext cx="1347788" cy="12954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拉格朗日乘数法将约束条件融入目标函数，通过求解拉格朗日函数的梯度和满足约束条件，找到优化问题的解。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总结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81000" y="1428750"/>
            <a:ext cx="8382000" cy="27717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66888" y="151447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1085850" y="190500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最大化分类间隔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85850" y="2195513"/>
            <a:ext cx="1628775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SVM通过最大化分类间隔来提升模型的泛化能力。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3548062" y="151447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2867025" y="190500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利用核技巧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867025" y="2195513"/>
            <a:ext cx="1628775" cy="66675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使用核技巧在高维空间中寻找最优分类面，解决非线性问题。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5329238" y="151447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48200" y="190500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从原始到对偶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648200" y="2195513"/>
            <a:ext cx="1628775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将原始问题转化为对偶问题，便于求解。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7110413" y="1514475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04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429375" y="1905000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结合SMO算法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429375" y="2195513"/>
            <a:ext cx="1628775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利用SMO算法高效求解对偶问题。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7110413" y="2986088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05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6429375" y="3376612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实现软间隔处理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429375" y="3667125"/>
            <a:ext cx="1628775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通过软间隔处理增强模型的鲁棒性。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329238" y="2986088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06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4648200" y="3376612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选择合适核函数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648200" y="3667125"/>
            <a:ext cx="1628775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选择合适的核函数对模型性能至关重要。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3548062" y="2986088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615CE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07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2867025" y="3376612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调整参数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2867025" y="3667125"/>
            <a:ext cx="1628775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调整参数γ和C以优化模型性能。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1766888" y="2986088"/>
            <a:ext cx="2667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5BB1E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08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1085850" y="3376612"/>
            <a:ext cx="1628775" cy="252413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展示强大功能</a:t>
            </a:r>
            <a:endParaRPr lang="en-US" sz="1200" dirty="0"/>
          </a:p>
        </p:txBody>
      </p:sp>
      <p:sp>
        <p:nvSpPr>
          <p:cNvPr id="30" name="Text 26"/>
          <p:cNvSpPr/>
          <p:nvPr/>
        </p:nvSpPr>
        <p:spPr>
          <a:xfrm>
            <a:off x="1085850" y="3667125"/>
            <a:ext cx="1628775" cy="457200"/>
          </a:xfrm>
          <a:prstGeom prst="rect">
            <a:avLst/>
          </a:prstGeom>
          <a:noFill/>
        </p:spPr>
        <p:txBody>
          <a:bodyPr vert="horz" wrap="square" lIns="0" tIns="0" rIns="0" bIns="0" rtlCol="0" anchor="ctr"/>
          <a:lstStyle/>
          <a:p>
            <a:pPr marL="0" indent="0" algn="just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手写数字识别等案例展示了SVM的强大功能。</a:t>
            </a:r>
            <a:endParaRPr lang="en-US" sz="105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06.12503937007872,&quot;left&quot;:61.5,&quot;top&quot;:115.5,&quot;width&quot;:589.5000787401575}"/>
</p:tagLst>
</file>

<file path=ppt/tags/tag2.xml><?xml version="1.0" encoding="utf-8"?>
<p:tagLst xmlns:p="http://schemas.openxmlformats.org/presentationml/2006/main">
  <p:tag name="KSO_WM_DIAGRAM_VIRTUALLY_FRAME" val="{&quot;height&quot;:106.12503937007872,&quot;left&quot;:61.5,&quot;top&quot;:115.5,&quot;width&quot;:589.5000787401575}"/>
</p:tagLst>
</file>

<file path=ppt/tags/tag3.xml><?xml version="1.0" encoding="utf-8"?>
<p:tagLst xmlns:p="http://schemas.openxmlformats.org/presentationml/2006/main">
  <p:tag name="KSO_WM_DIAGRAM_VIRTUALLY_FRAME" val="{&quot;height&quot;:106.12503937007872,&quot;left&quot;:61.5,&quot;top&quot;:115.5,&quot;width&quot;:589.5000787401575}"/>
</p:tagLst>
</file>

<file path=ppt/tags/tag4.xml><?xml version="1.0" encoding="utf-8"?>
<p:tagLst xmlns:p="http://schemas.openxmlformats.org/presentationml/2006/main">
  <p:tag name="KSO_WM_DIAGRAM_VIRTUALLY_FRAME" val="{&quot;height&quot;:106.12503937007872,&quot;left&quot;:61.5,&quot;top&quot;:115.5,&quot;width&quot;:589.5000787401575}"/>
</p:tagLst>
</file>

<file path=ppt/tags/tag5.xml><?xml version="1.0" encoding="utf-8"?>
<p:tagLst xmlns:p="http://schemas.openxmlformats.org/presentationml/2006/main">
  <p:tag name="KSO_WM_DIAGRAM_VIRTUALLY_FRAME" val="{&quot;height&quot;:106.12503937007872,&quot;left&quot;:61.5,&quot;top&quot;:115.5,&quot;width&quot;:589.5000787401575}"/>
</p:tagLst>
</file>

<file path=ppt/tags/tag6.xml><?xml version="1.0" encoding="utf-8"?>
<p:tagLst xmlns:p="http://schemas.openxmlformats.org/presentationml/2006/main">
  <p:tag name="KSO_WM_DIAGRAM_VIRTUALLY_FRAME" val="{&quot;height&quot;:106.12503937007872,&quot;left&quot;:61.5,&quot;top&quot;:115.5,&quot;width&quot;:589.5000787401575}"/>
</p:tagLst>
</file>

<file path=ppt/tags/tag7.xml><?xml version="1.0" encoding="utf-8"?>
<p:tagLst xmlns:p="http://schemas.openxmlformats.org/presentationml/2006/main">
  <p:tag name="KSO_WM_DIAGRAM_VIRTUALLY_FRAME" val="{&quot;height&quot;:106.12503937007872,&quot;left&quot;:61.5,&quot;top&quot;:115.5,&quot;width&quot;:589.5000787401575}"/>
</p:tagLst>
</file>

<file path=ppt/tags/tag8.xml><?xml version="1.0" encoding="utf-8"?>
<p:tagLst xmlns:p="http://schemas.openxmlformats.org/presentationml/2006/main">
  <p:tag name="KSO_WM_DIAGRAM_VIRTUALLY_FRAME" val="{&quot;height&quot;:106.12503937007872,&quot;left&quot;:61.5,&quot;top&quot;:115.5,&quot;width&quot;:589.5000787401575}"/>
</p:tagLst>
</file>

<file path=ppt/tags/tag9.xml><?xml version="1.0" encoding="utf-8"?>
<p:tagLst xmlns:p="http://schemas.openxmlformats.org/presentationml/2006/main">
  <p:tag name="KSO_WM_DIAGRAM_VIRTUALLY_FRAME" val="{&quot;height&quot;:288.5000000000001,&quot;left&quot;:172.55,&quot;top&quot;:88.75,&quot;width&quot;:502.45}"/>
</p:tagLst>
</file>

<file path=ppt/tags/tag10.xml><?xml version="1.0" encoding="utf-8"?>
<p:tagLst xmlns:p="http://schemas.openxmlformats.org/presentationml/2006/main">
  <p:tag name="KSO_WM_DIAGRAM_VIRTUALLY_FRAME" val="{&quot;height&quot;:288.5000000000001,&quot;left&quot;:172.55,&quot;top&quot;:88.75,&quot;width&quot;:502.45}"/>
</p:tagLst>
</file>

<file path=ppt/tags/tag11.xml><?xml version="1.0" encoding="utf-8"?>
<p:tagLst xmlns:p="http://schemas.openxmlformats.org/presentationml/2006/main">
  <p:tag name="KSO_WM_DIAGRAM_VIRTUALLY_FRAME" val="{&quot;height&quot;:288.5000000000001,&quot;left&quot;:172.55,&quot;top&quot;:88.75,&quot;width&quot;:502.45}"/>
</p:tagLst>
</file>

<file path=ppt/tags/tag12.xml><?xml version="1.0" encoding="utf-8"?>
<p:tagLst xmlns:p="http://schemas.openxmlformats.org/presentationml/2006/main">
  <p:tag name="KSO_WM_DIAGRAM_VIRTUALLY_FRAME" val="{&quot;height&quot;:288.5000000000001,&quot;left&quot;:172.55,&quot;top&quot;:88.75,&quot;width&quot;:502.45}"/>
</p:tagLst>
</file>

<file path=ppt/tags/tag13.xml><?xml version="1.0" encoding="utf-8"?>
<p:tagLst xmlns:p="http://schemas.openxmlformats.org/presentationml/2006/main">
  <p:tag name="KSO_WM_DIAGRAM_VIRTUALLY_FRAME" val="{&quot;height&quot;:288.5000000000001,&quot;left&quot;:172.55,&quot;top&quot;:88.75,&quot;width&quot;:502.45}"/>
</p:tagLst>
</file>

<file path=ppt/tags/tag14.xml><?xml version="1.0" encoding="utf-8"?>
<p:tagLst xmlns:p="http://schemas.openxmlformats.org/presentationml/2006/main">
  <p:tag name="KSO_WM_DIAGRAM_VIRTUALLY_FRAME" val="{&quot;height&quot;:288.5000000000001,&quot;left&quot;:172.55,&quot;top&quot;:88.75,&quot;width&quot;:502.45}"/>
</p:tagLst>
</file>

<file path=ppt/tags/tag15.xml><?xml version="1.0" encoding="utf-8"?>
<p:tagLst xmlns:p="http://schemas.openxmlformats.org/presentationml/2006/main">
  <p:tag name="KSO_WM_DIAGRAM_VIRTUALLY_FRAME" val="{&quot;height&quot;:288.5000000000001,&quot;left&quot;:172.55,&quot;top&quot;:88.75,&quot;width&quot;:502.45}"/>
</p:tagLst>
</file>

<file path=ppt/tags/tag16.xml><?xml version="1.0" encoding="utf-8"?>
<p:tagLst xmlns:p="http://schemas.openxmlformats.org/presentationml/2006/main">
  <p:tag name="KSO_WM_DIAGRAM_VIRTUALLY_FRAME" val="{&quot;height&quot;:288.5000000000001,&quot;left&quot;:172.55,&quot;top&quot;:88.75,&quot;width&quot;:502.45}"/>
</p:tagLst>
</file>

<file path=ppt/tags/tag17.xml><?xml version="1.0" encoding="utf-8"?>
<p:tagLst xmlns:p="http://schemas.openxmlformats.org/presentationml/2006/main">
  <p:tag name="KSO_WM_DIAGRAM_VIRTUALLY_FRAME" val="{&quot;height&quot;:288.5000000000001,&quot;left&quot;:172.55,&quot;top&quot;:88.75,&quot;width&quot;:502.45}"/>
</p:tagLst>
</file>

<file path=ppt/tags/tag18.xml><?xml version="1.0" encoding="utf-8"?>
<p:tagLst xmlns:p="http://schemas.openxmlformats.org/presentationml/2006/main">
  <p:tag name="KSO_WM_DIAGRAM_VIRTUALLY_FRAME" val="{&quot;height&quot;:288.5000000000001,&quot;left&quot;:172.55,&quot;top&quot;:88.75,&quot;width&quot;:502.45}"/>
</p:tagLst>
</file>

<file path=ppt/tags/tag19.xml><?xml version="1.0" encoding="utf-8"?>
<p:tagLst xmlns:p="http://schemas.openxmlformats.org/presentationml/2006/main">
  <p:tag name="KSO_WM_DIAGRAM_VIRTUALLY_FRAME" val="{&quot;height&quot;:288.5000000000001,&quot;left&quot;:172.55,&quot;top&quot;:88.75,&quot;width&quot;:502.45}"/>
</p:tagLst>
</file>

<file path=ppt/tags/tag20.xml><?xml version="1.0" encoding="utf-8"?>
<p:tagLst xmlns:p="http://schemas.openxmlformats.org/presentationml/2006/main">
  <p:tag name="KSO_WM_DIAGRAM_VIRTUALLY_FRAME" val="{&quot;height&quot;:288.5000000000001,&quot;left&quot;:172.55,&quot;top&quot;:88.75,&quot;width&quot;:502.45}"/>
</p:tagLst>
</file>

<file path=ppt/tags/tag21.xml><?xml version="1.0" encoding="utf-8"?>
<p:tagLst xmlns:p="http://schemas.openxmlformats.org/presentationml/2006/main">
  <p:tag name="KSO_WM_DIAGRAM_VIRTUALLY_FRAME" val="{&quot;height&quot;:288.5000000000001,&quot;left&quot;:172.55,&quot;top&quot;:88.75,&quot;width&quot;:502.45}"/>
</p:tagLst>
</file>

<file path=ppt/tags/tag22.xml><?xml version="1.0" encoding="utf-8"?>
<p:tagLst xmlns:p="http://schemas.openxmlformats.org/presentationml/2006/main">
  <p:tag name="KSO_WM_DIAGRAM_VIRTUALLY_FRAME" val="{&quot;height&quot;:288.5000000000001,&quot;left&quot;:172.55,&quot;top&quot;:88.75,&quot;width&quot;:502.45}"/>
</p:tagLst>
</file>

<file path=ppt/tags/tag23.xml><?xml version="1.0" encoding="utf-8"?>
<p:tagLst xmlns:p="http://schemas.openxmlformats.org/presentationml/2006/main">
  <p:tag name="KSO_WM_DIAGRAM_VIRTUALLY_FRAME" val="{&quot;height&quot;:288.5000000000001,&quot;left&quot;:172.55,&quot;top&quot;:88.75,&quot;width&quot;:502.45}"/>
</p:tagLst>
</file>

<file path=ppt/tags/tag24.xml><?xml version="1.0" encoding="utf-8"?>
<p:tagLst xmlns:p="http://schemas.openxmlformats.org/presentationml/2006/main">
  <p:tag name="KSO_WM_DIAGRAM_VIRTUALLY_FRAME" val="{&quot;height&quot;:288.5000000000001,&quot;left&quot;:172.55,&quot;top&quot;:88.75,&quot;width&quot;:502.45}"/>
</p:tagLst>
</file>

<file path=ppt/tags/tag25.xml><?xml version="1.0" encoding="utf-8"?>
<p:tagLst xmlns:p="http://schemas.openxmlformats.org/presentationml/2006/main">
  <p:tag name="KSO_WM_DIAGRAM_VIRTUALLY_FRAME" val="{&quot;height&quot;:288.5000000000001,&quot;left&quot;:172.55,&quot;top&quot;:88.75,&quot;width&quot;:502.45}"/>
</p:tagLst>
</file>

<file path=ppt/tags/tag26.xml><?xml version="1.0" encoding="utf-8"?>
<p:tagLst xmlns:p="http://schemas.openxmlformats.org/presentationml/2006/main">
  <p:tag name="KSO_WM_DIAGRAM_VIRTUALLY_FRAME" val="{&quot;height&quot;:288.5000000000001,&quot;left&quot;:172.55,&quot;top&quot;:88.75,&quot;width&quot;:502.45}"/>
</p:tagLst>
</file>

<file path=ppt/tags/tag27.xml><?xml version="1.0" encoding="utf-8"?>
<p:tagLst xmlns:p="http://schemas.openxmlformats.org/presentationml/2006/main">
  <p:tag name="KSO_WM_DIAGRAM_VIRTUALLY_FRAME" val="{&quot;height&quot;:288.5000000000001,&quot;left&quot;:172.55,&quot;top&quot;:88.75,&quot;width&quot;:502.45}"/>
</p:tagLst>
</file>

<file path=ppt/tags/tag28.xml><?xml version="1.0" encoding="utf-8"?>
<p:tagLst xmlns:p="http://schemas.openxmlformats.org/presentationml/2006/main">
  <p:tag name="KSO_WM_DIAGRAM_VIRTUALLY_FRAME" val="{&quot;height&quot;:288.5000000000001,&quot;left&quot;:172.55,&quot;top&quot;:88.75,&quot;width&quot;:502.45}"/>
</p:tagLst>
</file>

<file path=ppt/tags/tag29.xml><?xml version="1.0" encoding="utf-8"?>
<p:tagLst xmlns:p="http://schemas.openxmlformats.org/presentationml/2006/main">
  <p:tag name="KSO_WM_DIAGRAM_VIRTUALLY_FRAME" val="{&quot;height&quot;:288.5000000000001,&quot;left&quot;:172.55,&quot;top&quot;:88.75,&quot;width&quot;:502.45}"/>
</p:tagLst>
</file>

<file path=ppt/tags/tag30.xml><?xml version="1.0" encoding="utf-8"?>
<p:tagLst xmlns:p="http://schemas.openxmlformats.org/presentationml/2006/main">
  <p:tag name="KSO_WM_DIAGRAM_VIRTUALLY_FRAME" val="{&quot;height&quot;:288.5000000000001,&quot;left&quot;:172.55,&quot;top&quot;:88.75,&quot;width&quot;:502.45}"/>
</p:tagLst>
</file>

<file path=ppt/tags/tag31.xml><?xml version="1.0" encoding="utf-8"?>
<p:tagLst xmlns:p="http://schemas.openxmlformats.org/presentationml/2006/main">
  <p:tag name="KSO_WM_DIAGRAM_VIRTUALLY_FRAME" val="{&quot;height&quot;:200.62503937007872,&quot;left&quot;:31.5,&quot;top&quot;:114,&quot;width&quot;:657}"/>
</p:tagLst>
</file>

<file path=ppt/tags/tag32.xml><?xml version="1.0" encoding="utf-8"?>
<p:tagLst xmlns:p="http://schemas.openxmlformats.org/presentationml/2006/main">
  <p:tag name="KSO_WM_DIAGRAM_VIRTUALLY_FRAME" val="{&quot;height&quot;:200.62503937007872,&quot;left&quot;:31.5,&quot;top&quot;:114,&quot;width&quot;:657}"/>
</p:tagLst>
</file>

<file path=ppt/tags/tag33.xml><?xml version="1.0" encoding="utf-8"?>
<p:tagLst xmlns:p="http://schemas.openxmlformats.org/presentationml/2006/main">
  <p:tag name="KSO_WM_DIAGRAM_VIRTUALLY_FRAME" val="{&quot;height&quot;:200.62503937007872,&quot;left&quot;:31.5,&quot;top&quot;:114,&quot;width&quot;:657}"/>
</p:tagLst>
</file>

<file path=ppt/tags/tag34.xml><?xml version="1.0" encoding="utf-8"?>
<p:tagLst xmlns:p="http://schemas.openxmlformats.org/presentationml/2006/main">
  <p:tag name="KSO_WM_DIAGRAM_VIRTUALLY_FRAME" val="{&quot;height&quot;:200.62503937007872,&quot;left&quot;:31.5,&quot;top&quot;:114,&quot;width&quot;:657}"/>
</p:tagLst>
</file>

<file path=ppt/tags/tag35.xml><?xml version="1.0" encoding="utf-8"?>
<p:tagLst xmlns:p="http://schemas.openxmlformats.org/presentationml/2006/main">
  <p:tag name="KSO_WM_DIAGRAM_VIRTUALLY_FRAME" val="{&quot;height&quot;:200.62503937007872,&quot;left&quot;:31.5,&quot;top&quot;:114,&quot;width&quot;:657}"/>
</p:tagLst>
</file>

<file path=ppt/tags/tag36.xml><?xml version="1.0" encoding="utf-8"?>
<p:tagLst xmlns:p="http://schemas.openxmlformats.org/presentationml/2006/main">
  <p:tag name="KSO_WM_DIAGRAM_VIRTUALLY_FRAME" val="{&quot;height&quot;:200.62503937007872,&quot;left&quot;:31.5,&quot;top&quot;:114,&quot;width&quot;:657}"/>
</p:tagLst>
</file>

<file path=ppt/tags/tag37.xml><?xml version="1.0" encoding="utf-8"?>
<p:tagLst xmlns:p="http://schemas.openxmlformats.org/presentationml/2006/main">
  <p:tag name="KSO_WM_DIAGRAM_VIRTUALLY_FRAME" val="{&quot;height&quot;:200.62503937007872,&quot;left&quot;:31.5,&quot;top&quot;:114,&quot;width&quot;:657}"/>
</p:tagLst>
</file>

<file path=ppt/tags/tag38.xml><?xml version="1.0" encoding="utf-8"?>
<p:tagLst xmlns:p="http://schemas.openxmlformats.org/presentationml/2006/main">
  <p:tag name="KSO_WM_DIAGRAM_VIRTUALLY_FRAME" val="{&quot;height&quot;:200.62503937007872,&quot;left&quot;:31.5,&quot;top&quot;:114,&quot;width&quot;:657}"/>
</p:tagLst>
</file>

<file path=ppt/tags/tag39.xml><?xml version="1.0" encoding="utf-8"?>
<p:tagLst xmlns:p="http://schemas.openxmlformats.org/presentationml/2006/main">
  <p:tag name="KSO_WM_DIAGRAM_VIRTUALLY_FRAME" val="{&quot;height&quot;:200.62503937007872,&quot;left&quot;:31.5,&quot;top&quot;:114,&quot;width&quot;:657}"/>
</p:tagLst>
</file>

<file path=ppt/tags/tag40.xml><?xml version="1.0" encoding="utf-8"?>
<p:tagLst xmlns:p="http://schemas.openxmlformats.org/presentationml/2006/main">
  <p:tag name="KSO_WM_DIAGRAM_VIRTUALLY_FRAME" val="{&quot;height&quot;:200.62503937007872,&quot;left&quot;:31.5,&quot;top&quot;:114,&quot;width&quot;:657}"/>
</p:tagLst>
</file>

<file path=ppt/tags/tag41.xml><?xml version="1.0" encoding="utf-8"?>
<p:tagLst xmlns:p="http://schemas.openxmlformats.org/presentationml/2006/main">
  <p:tag name="KSO_WM_DIAGRAM_VIRTUALLY_FRAME" val="{&quot;height&quot;:200.62503937007872,&quot;left&quot;:31.5,&quot;top&quot;:114,&quot;width&quot;:657}"/>
</p:tagLst>
</file>

<file path=ppt/tags/tag42.xml><?xml version="1.0" encoding="utf-8"?>
<p:tagLst xmlns:p="http://schemas.openxmlformats.org/presentationml/2006/main">
  <p:tag name="KSO_WM_DIAGRAM_VIRTUALLY_FRAME" val="{&quot;height&quot;:200.62503937007872,&quot;left&quot;:31.5,&quot;top&quot;:114,&quot;width&quot;:657}"/>
</p:tagLst>
</file>

<file path=ppt/tags/tag43.xml><?xml version="1.0" encoding="utf-8"?>
<p:tagLst xmlns:p="http://schemas.openxmlformats.org/presentationml/2006/main">
  <p:tag name="KSO_WM_DIAGRAM_VIRTUALLY_FRAME" val="{&quot;height&quot;:350.45,&quot;left&quot;:335.85,&quot;top&quot;:91.5,&quot;width&quot;:332}"/>
</p:tagLst>
</file>

<file path=ppt/tags/tag44.xml><?xml version="1.0" encoding="utf-8"?>
<p:tagLst xmlns:p="http://schemas.openxmlformats.org/presentationml/2006/main">
  <p:tag name="KSO_WM_DIAGRAM_VIRTUALLY_FRAME" val="{&quot;height&quot;:350.45,&quot;left&quot;:335.85,&quot;top&quot;:91.5,&quot;width&quot;:332}"/>
</p:tagLst>
</file>

<file path=ppt/tags/tag45.xml><?xml version="1.0" encoding="utf-8"?>
<p:tagLst xmlns:p="http://schemas.openxmlformats.org/presentationml/2006/main">
  <p:tag name="KSO_WM_DIAGRAM_VIRTUALLY_FRAME" val="{&quot;height&quot;:350.45,&quot;left&quot;:335.85,&quot;top&quot;:91.5,&quot;width&quot;:332}"/>
</p:tagLst>
</file>

<file path=ppt/tags/tag46.xml><?xml version="1.0" encoding="utf-8"?>
<p:tagLst xmlns:p="http://schemas.openxmlformats.org/presentationml/2006/main">
  <p:tag name="KSO_WM_DIAGRAM_VIRTUALLY_FRAME" val="{&quot;height&quot;:350.45,&quot;left&quot;:335.85,&quot;top&quot;:91.5,&quot;width&quot;:332}"/>
</p:tagLst>
</file>

<file path=ppt/tags/tag47.xml><?xml version="1.0" encoding="utf-8"?>
<p:tagLst xmlns:p="http://schemas.openxmlformats.org/presentationml/2006/main">
  <p:tag name="KSO_WM_DIAGRAM_VIRTUALLY_FRAME" val="{&quot;height&quot;:350.45,&quot;left&quot;:335.85,&quot;top&quot;:91.5,&quot;width&quot;:332}"/>
</p:tagLst>
</file>

<file path=ppt/tags/tag48.xml><?xml version="1.0" encoding="utf-8"?>
<p:tagLst xmlns:p="http://schemas.openxmlformats.org/presentationml/2006/main">
  <p:tag name="KSO_WM_DIAGRAM_VIRTUALLY_FRAME" val="{&quot;height&quot;:350.45,&quot;left&quot;:335.85,&quot;top&quot;:91.5,&quot;width&quot;:332}"/>
</p:tagLst>
</file>

<file path=ppt/tags/tag49.xml><?xml version="1.0" encoding="utf-8"?>
<p:tagLst xmlns:p="http://schemas.openxmlformats.org/presentationml/2006/main">
  <p:tag name="KSO_WM_DIAGRAM_VIRTUALLY_FRAME" val="{&quot;height&quot;:350.45,&quot;left&quot;:335.85,&quot;top&quot;:91.5,&quot;width&quot;:332}"/>
</p:tagLst>
</file>

<file path=ppt/tags/tag50.xml><?xml version="1.0" encoding="utf-8"?>
<p:tagLst xmlns:p="http://schemas.openxmlformats.org/presentationml/2006/main">
  <p:tag name="KSO_WM_DIAGRAM_VIRTUALLY_FRAME" val="{&quot;height&quot;:350.45,&quot;left&quot;:335.85,&quot;top&quot;:91.5,&quot;width&quot;:332}"/>
</p:tagLst>
</file>

<file path=ppt/tags/tag51.xml><?xml version="1.0" encoding="utf-8"?>
<p:tagLst xmlns:p="http://schemas.openxmlformats.org/presentationml/2006/main">
  <p:tag name="KSO_WM_DIAGRAM_VIRTUALLY_FRAME" val="{&quot;height&quot;:350.45,&quot;left&quot;:335.85,&quot;top&quot;:91.5,&quot;width&quot;:332}"/>
</p:tagLst>
</file>

<file path=ppt/tags/tag52.xml><?xml version="1.0" encoding="utf-8"?>
<p:tagLst xmlns:p="http://schemas.openxmlformats.org/presentationml/2006/main">
  <p:tag name="KSO_WM_DIAGRAM_VIRTUALLY_FRAME" val="{&quot;height&quot;:444,&quot;left&quot;:335.25,&quot;top&quot;:91.5,&quot;width&quot;:323.25}"/>
</p:tagLst>
</file>

<file path=ppt/tags/tag53.xml><?xml version="1.0" encoding="utf-8"?>
<p:tagLst xmlns:p="http://schemas.openxmlformats.org/presentationml/2006/main">
  <p:tag name="KSO_WM_DIAGRAM_VIRTUALLY_FRAME" val="{&quot;height&quot;:159.9,&quot;left&quot;:21,&quot;top&quot;:83.1,&quot;width&quot;:654}"/>
</p:tagLst>
</file>

<file path=ppt/tags/tag54.xml><?xml version="1.0" encoding="utf-8"?>
<p:tagLst xmlns:p="http://schemas.openxmlformats.org/presentationml/2006/main">
  <p:tag name="KSO_WM_DIAGRAM_VIRTUALLY_FRAME" val="{&quot;height&quot;:159.9,&quot;left&quot;:21,&quot;top&quot;:83.1,&quot;width&quot;:654}"/>
</p:tagLst>
</file>

<file path=ppt/tags/tag55.xml><?xml version="1.0" encoding="utf-8"?>
<p:tagLst xmlns:p="http://schemas.openxmlformats.org/presentationml/2006/main">
  <p:tag name="KSO_WM_DIAGRAM_VIRTUALLY_FRAME" val="{&quot;height&quot;:159.9,&quot;left&quot;:21,&quot;top&quot;:83.1,&quot;width&quot;:654}"/>
</p:tagLst>
</file>

<file path=ppt/tags/tag56.xml><?xml version="1.0" encoding="utf-8"?>
<p:tagLst xmlns:p="http://schemas.openxmlformats.org/presentationml/2006/main">
  <p:tag name="KSO_WM_DIAGRAM_VIRTUALLY_FRAME" val="{&quot;height&quot;:159.9,&quot;left&quot;:21,&quot;top&quot;:83.1,&quot;width&quot;:654}"/>
</p:tagLst>
</file>

<file path=ppt/tags/tag57.xml><?xml version="1.0" encoding="utf-8"?>
<p:tagLst xmlns:p="http://schemas.openxmlformats.org/presentationml/2006/main">
  <p:tag name="KSO_WM_DIAGRAM_VIRTUALLY_FRAME" val="{&quot;height&quot;:159.9,&quot;left&quot;:21,&quot;top&quot;:83.1,&quot;width&quot;:654}"/>
</p:tagLst>
</file>

<file path=ppt/tags/tag58.xml><?xml version="1.0" encoding="utf-8"?>
<p:tagLst xmlns:p="http://schemas.openxmlformats.org/presentationml/2006/main">
  <p:tag name="KSO_WM_DIAGRAM_VIRTUALLY_FRAME" val="{&quot;height&quot;:159.9,&quot;left&quot;:21,&quot;top&quot;:83.1,&quot;width&quot;:654}"/>
</p:tagLst>
</file>

<file path=ppt/tags/tag59.xml><?xml version="1.0" encoding="utf-8"?>
<p:tagLst xmlns:p="http://schemas.openxmlformats.org/presentationml/2006/main">
  <p:tag name="KSO_WM_DIAGRAM_VIRTUALLY_FRAME" val="{&quot;height&quot;:239.25007874015745,&quot;left&quot;:31.5,&quot;top&quot;:114,&quot;width&quot;:657.45}"/>
</p:tagLst>
</file>

<file path=ppt/tags/tag60.xml><?xml version="1.0" encoding="utf-8"?>
<p:tagLst xmlns:p="http://schemas.openxmlformats.org/presentationml/2006/main">
  <p:tag name="KSO_WM_DIAGRAM_VIRTUALLY_FRAME" val="{&quot;height&quot;:239.25007874015745,&quot;left&quot;:31.5,&quot;top&quot;:114,&quot;width&quot;:657.45}"/>
</p:tagLst>
</file>

<file path=ppt/tags/tag61.xml><?xml version="1.0" encoding="utf-8"?>
<p:tagLst xmlns:p="http://schemas.openxmlformats.org/presentationml/2006/main">
  <p:tag name="KSO_WM_DIAGRAM_VIRTUALLY_FRAME" val="{&quot;height&quot;:239.25007874015745,&quot;left&quot;:31.5,&quot;top&quot;:114,&quot;width&quot;:657.45}"/>
</p:tagLst>
</file>

<file path=ppt/tags/tag62.xml><?xml version="1.0" encoding="utf-8"?>
<p:tagLst xmlns:p="http://schemas.openxmlformats.org/presentationml/2006/main">
  <p:tag name="KSO_WM_DIAGRAM_VIRTUALLY_FRAME" val="{&quot;height&quot;:239.25007874015745,&quot;left&quot;:31.5,&quot;top&quot;:114,&quot;width&quot;:657.45}"/>
</p:tagLst>
</file>

<file path=ppt/tags/tag63.xml><?xml version="1.0" encoding="utf-8"?>
<p:tagLst xmlns:p="http://schemas.openxmlformats.org/presentationml/2006/main">
  <p:tag name="KSO_WM_DIAGRAM_VIRTUALLY_FRAME" val="{&quot;height&quot;:239.25007874015745,&quot;left&quot;:31.5,&quot;top&quot;:114,&quot;width&quot;:657.45}"/>
</p:tagLst>
</file>

<file path=ppt/tags/tag64.xml><?xml version="1.0" encoding="utf-8"?>
<p:tagLst xmlns:p="http://schemas.openxmlformats.org/presentationml/2006/main">
  <p:tag name="KSO_WM_DIAGRAM_VIRTUALLY_FRAME" val="{&quot;height&quot;:239.25007874015745,&quot;left&quot;:31.5,&quot;top&quot;:114,&quot;width&quot;:657.45}"/>
</p:tagLst>
</file>

<file path=ppt/tags/tag65.xml><?xml version="1.0" encoding="utf-8"?>
<p:tagLst xmlns:p="http://schemas.openxmlformats.org/presentationml/2006/main">
  <p:tag name="KSO_WM_DIAGRAM_VIRTUALLY_FRAME" val="{&quot;height&quot;:239.25007874015745,&quot;left&quot;:31.5,&quot;top&quot;:114,&quot;width&quot;:657.45}"/>
</p:tagLst>
</file>

<file path=ppt/tags/tag66.xml><?xml version="1.0" encoding="utf-8"?>
<p:tagLst xmlns:p="http://schemas.openxmlformats.org/presentationml/2006/main">
  <p:tag name="KSO_WM_DIAGRAM_VIRTUALLY_FRAME" val="{&quot;height&quot;:239.25007874015745,&quot;left&quot;:31.5,&quot;top&quot;:114,&quot;width&quot;:657.45}"/>
</p:tagLst>
</file>

<file path=ppt/tags/tag67.xml><?xml version="1.0" encoding="utf-8"?>
<p:tagLst xmlns:p="http://schemas.openxmlformats.org/presentationml/2006/main">
  <p:tag name="KSO_WM_DIAGRAM_VIRTUALLY_FRAME" val="{&quot;height&quot;:239.25007874015745,&quot;left&quot;:31.5,&quot;top&quot;:114,&quot;width&quot;:657.45}"/>
</p:tagLst>
</file>

<file path=ppt/tags/tag68.xml><?xml version="1.0" encoding="utf-8"?>
<p:tagLst xmlns:p="http://schemas.openxmlformats.org/presentationml/2006/main">
  <p:tag name="KSO_WM_DIAGRAM_VIRTUALLY_FRAME" val="{&quot;height&quot;:239.25007874015745,&quot;left&quot;:31.5,&quot;top&quot;:114,&quot;width&quot;:657.45}"/>
</p:tagLst>
</file>

<file path=ppt/tags/tag69.xml><?xml version="1.0" encoding="utf-8"?>
<p:tagLst xmlns:p="http://schemas.openxmlformats.org/presentationml/2006/main">
  <p:tag name="KSO_WM_DIAGRAM_VIRTUALLY_FRAME" val="{&quot;height&quot;:239.25007874015745,&quot;left&quot;:31.5,&quot;top&quot;:114,&quot;width&quot;:657.45}"/>
</p:tagLst>
</file>

<file path=ppt/tags/tag70.xml><?xml version="1.0" encoding="utf-8"?>
<p:tagLst xmlns:p="http://schemas.openxmlformats.org/presentationml/2006/main">
  <p:tag name="KSO_WM_DIAGRAM_VIRTUALLY_FRAME" val="{&quot;height&quot;:239.25007874015745,&quot;left&quot;:31.5,&quot;top&quot;:114,&quot;width&quot;:657.45}"/>
</p:tagLst>
</file>

<file path=ppt/tags/tag71.xml><?xml version="1.0" encoding="utf-8"?>
<p:tagLst xmlns:p="http://schemas.openxmlformats.org/presentationml/2006/main">
  <p:tag name="KSO_WM_DIAGRAM_VIRTUALLY_FRAME" val="{&quot;height&quot;:239.25007874015745,&quot;left&quot;:31.5,&quot;top&quot;:114,&quot;width&quot;:657.45}"/>
</p:tagLst>
</file>

<file path=ppt/tags/tag72.xml><?xml version="1.0" encoding="utf-8"?>
<p:tagLst xmlns:p="http://schemas.openxmlformats.org/presentationml/2006/main">
  <p:tag name="KSO_WM_DIAGRAM_VIRTUALLY_FRAME" val="{&quot;height&quot;:239.25007874015745,&quot;left&quot;:31.5,&quot;top&quot;:114,&quot;width&quot;:657.45}"/>
</p:tagLst>
</file>

<file path=ppt/tags/tag73.xml><?xml version="1.0" encoding="utf-8"?>
<p:tagLst xmlns:p="http://schemas.openxmlformats.org/presentationml/2006/main">
  <p:tag name="KSO_WM_DIAGRAM_VIRTUALLY_FRAME" val="{&quot;height&quot;:200.62503937007872,&quot;left&quot;:31.5,&quot;top&quot;:114,&quot;width&quot;:656.9648031496063}"/>
</p:tagLst>
</file>

<file path=ppt/tags/tag74.xml><?xml version="1.0" encoding="utf-8"?>
<p:tagLst xmlns:p="http://schemas.openxmlformats.org/presentationml/2006/main">
  <p:tag name="KSO_WM_DIAGRAM_VIRTUALLY_FRAME" val="{&quot;height&quot;:200.62503937007872,&quot;left&quot;:31.5,&quot;top&quot;:114,&quot;width&quot;:656.9648031496063}"/>
</p:tagLst>
</file>

<file path=ppt/tags/tag75.xml><?xml version="1.0" encoding="utf-8"?>
<p:tagLst xmlns:p="http://schemas.openxmlformats.org/presentationml/2006/main">
  <p:tag name="KSO_WM_DIAGRAM_VIRTUALLY_FRAME" val="{&quot;height&quot;:200.62503937007872,&quot;left&quot;:31.5,&quot;top&quot;:114,&quot;width&quot;:656.9648031496063}"/>
</p:tagLst>
</file>

<file path=ppt/tags/tag76.xml><?xml version="1.0" encoding="utf-8"?>
<p:tagLst xmlns:p="http://schemas.openxmlformats.org/presentationml/2006/main">
  <p:tag name="KSO_WM_DIAGRAM_VIRTUALLY_FRAME" val="{&quot;height&quot;:200.62503937007872,&quot;left&quot;:31.5,&quot;top&quot;:114,&quot;width&quot;:656.9648031496063}"/>
</p:tagLst>
</file>

<file path=ppt/tags/tag77.xml><?xml version="1.0" encoding="utf-8"?>
<p:tagLst xmlns:p="http://schemas.openxmlformats.org/presentationml/2006/main">
  <p:tag name="KSO_WM_DIAGRAM_VIRTUALLY_FRAME" val="{&quot;height&quot;:200.62503937007872,&quot;left&quot;:31.5,&quot;top&quot;:114,&quot;width&quot;:656.9648031496063}"/>
</p:tagLst>
</file>

<file path=ppt/tags/tag78.xml><?xml version="1.0" encoding="utf-8"?>
<p:tagLst xmlns:p="http://schemas.openxmlformats.org/presentationml/2006/main">
  <p:tag name="KSO_WM_DIAGRAM_VIRTUALLY_FRAME" val="{&quot;height&quot;:200.62503937007872,&quot;left&quot;:31.5,&quot;top&quot;:114,&quot;width&quot;:656.9648031496063}"/>
</p:tagLst>
</file>

<file path=ppt/tags/tag79.xml><?xml version="1.0" encoding="utf-8"?>
<p:tagLst xmlns:p="http://schemas.openxmlformats.org/presentationml/2006/main">
  <p:tag name="KSO_WM_DIAGRAM_VIRTUALLY_FRAME" val="{&quot;height&quot;:200.62503937007872,&quot;left&quot;:31.5,&quot;top&quot;:114,&quot;width&quot;:656.9648031496063}"/>
</p:tagLst>
</file>

<file path=ppt/tags/tag80.xml><?xml version="1.0" encoding="utf-8"?>
<p:tagLst xmlns:p="http://schemas.openxmlformats.org/presentationml/2006/main">
  <p:tag name="KSO_WM_DIAGRAM_VIRTUALLY_FRAME" val="{&quot;height&quot;:200.62503937007872,&quot;left&quot;:31.5,&quot;top&quot;:114,&quot;width&quot;:656.9648031496063}"/>
</p:tagLst>
</file>

<file path=ppt/tags/tag81.xml><?xml version="1.0" encoding="utf-8"?>
<p:tagLst xmlns:p="http://schemas.openxmlformats.org/presentationml/2006/main">
  <p:tag name="KSO_WM_DIAGRAM_VIRTUALLY_FRAME" val="{&quot;height&quot;:200.62503937007872,&quot;left&quot;:31.5,&quot;top&quot;:114,&quot;width&quot;:656.9648031496063}"/>
</p:tagLst>
</file>

<file path=ppt/tags/tag82.xml><?xml version="1.0" encoding="utf-8"?>
<p:tagLst xmlns:p="http://schemas.openxmlformats.org/presentationml/2006/main">
  <p:tag name="KSO_WM_DIAGRAM_VIRTUALLY_FRAME" val="{&quot;height&quot;:161.9,&quot;left&quot;:33.6,&quot;top&quot;:157.5,&quot;width&quot;:662.6}"/>
</p:tagLst>
</file>

<file path=ppt/tags/tag83.xml><?xml version="1.0" encoding="utf-8"?>
<p:tagLst xmlns:p="http://schemas.openxmlformats.org/presentationml/2006/main">
  <p:tag name="KSO_WM_DIAGRAM_VIRTUALLY_FRAME" val="{&quot;height&quot;:161.9,&quot;left&quot;:33.6,&quot;top&quot;:157.5,&quot;width&quot;:662.6}"/>
</p:tagLst>
</file>

<file path=ppt/tags/tag84.xml><?xml version="1.0" encoding="utf-8"?>
<p:tagLst xmlns:p="http://schemas.openxmlformats.org/presentationml/2006/main">
  <p:tag name="KSO_WM_DIAGRAM_VIRTUALLY_FRAME" val="{&quot;height&quot;:161.9,&quot;left&quot;:33.6,&quot;top&quot;:157.5,&quot;width&quot;:662.6}"/>
</p:tagLst>
</file>

<file path=ppt/tags/tag85.xml><?xml version="1.0" encoding="utf-8"?>
<p:tagLst xmlns:p="http://schemas.openxmlformats.org/presentationml/2006/main">
  <p:tag name="KSO_WM_DIAGRAM_VIRTUALLY_FRAME" val="{&quot;height&quot;:161.9,&quot;left&quot;:33.6,&quot;top&quot;:157.5,&quot;width&quot;:662.6}"/>
</p:tagLst>
</file>

<file path=ppt/tags/tag86.xml><?xml version="1.0" encoding="utf-8"?>
<p:tagLst xmlns:p="http://schemas.openxmlformats.org/presentationml/2006/main">
  <p:tag name="KSO_WM_DIAGRAM_VIRTUALLY_FRAME" val="{&quot;height&quot;:161.9,&quot;left&quot;:33.6,&quot;top&quot;:157.5,&quot;width&quot;:662.6}"/>
</p:tagLst>
</file>

<file path=ppt/tags/tag87.xml><?xml version="1.0" encoding="utf-8"?>
<p:tagLst xmlns:p="http://schemas.openxmlformats.org/presentationml/2006/main">
  <p:tag name="KSO_WM_DIAGRAM_VIRTUALLY_FRAME" val="{&quot;height&quot;:161.9,&quot;left&quot;:33.6,&quot;top&quot;:157.5,&quot;width&quot;:662.6}"/>
</p:tagLst>
</file>

<file path=ppt/tags/tag88.xml><?xml version="1.0" encoding="utf-8"?>
<p:tagLst xmlns:p="http://schemas.openxmlformats.org/presentationml/2006/main">
  <p:tag name="KSO_WM_DIAGRAM_VIRTUALLY_FRAME" val="{&quot;height&quot;:161.9,&quot;left&quot;:33.6,&quot;top&quot;:157.5,&quot;width&quot;:662.6}"/>
</p:tagLst>
</file>

<file path=ppt/tags/tag89.xml><?xml version="1.0" encoding="utf-8"?>
<p:tagLst xmlns:p="http://schemas.openxmlformats.org/presentationml/2006/main">
  <p:tag name="KSO_WM_DIAGRAM_VIRTUALLY_FRAME" val="{&quot;height&quot;:161.9,&quot;left&quot;:33.6,&quot;top&quot;:157.5,&quot;width&quot;:662.6}"/>
</p:tagLst>
</file>

<file path=ppt/tags/tag90.xml><?xml version="1.0" encoding="utf-8"?>
<p:tagLst xmlns:p="http://schemas.openxmlformats.org/presentationml/2006/main">
  <p:tag name="KSO_WM_DIAGRAM_VIRTUALLY_FRAME" val="{&quot;height&quot;:161.9,&quot;left&quot;:33.6,&quot;top&quot;:157.5,&quot;width&quot;:662.6}"/>
</p:tagLst>
</file>

<file path=ppt/tags/tag91.xml><?xml version="1.0" encoding="utf-8"?>
<p:tagLst xmlns:p="http://schemas.openxmlformats.org/presentationml/2006/main">
  <p:tag name="KSO_WM_DIAGRAM_VIRTUALLY_FRAME" val="{&quot;height&quot;:161.9,&quot;left&quot;:33.6,&quot;top&quot;:157.5,&quot;width&quot;:662.6}"/>
</p:tagLst>
</file>

<file path=ppt/tags/tag92.xml><?xml version="1.0" encoding="utf-8"?>
<p:tagLst xmlns:p="http://schemas.openxmlformats.org/presentationml/2006/main">
  <p:tag name="KSO_WM_DIAGRAM_VIRTUALLY_FRAME" val="{&quot;height&quot;:161.9,&quot;left&quot;:33.6,&quot;top&quot;:157.5,&quot;width&quot;:662.6}"/>
</p:tagLst>
</file>

<file path=ppt/tags/tag93.xml><?xml version="1.0" encoding="utf-8"?>
<p:tagLst xmlns:p="http://schemas.openxmlformats.org/presentationml/2006/main">
  <p:tag name="KSO_WM_DIAGRAM_VIRTUALLY_FRAME" val="{&quot;height&quot;:161.9,&quot;left&quot;:33.6,&quot;top&quot;:157.5,&quot;width&quot;:662.6}"/>
</p:tagLst>
</file>

<file path=ppt/tags/tag94.xml><?xml version="1.0" encoding="utf-8"?>
<p:tagLst xmlns:p="http://schemas.openxmlformats.org/presentationml/2006/main">
  <p:tag name="KSO_WM_DIAGRAM_VIRTUALLY_FRAME" val="{&quot;height&quot;:161.9,&quot;left&quot;:33.6,&quot;top&quot;:157.5,&quot;width&quot;:662.6}"/>
</p:tagLst>
</file>

<file path=ppt/tags/tag95.xml><?xml version="1.0" encoding="utf-8"?>
<p:tagLst xmlns:p="http://schemas.openxmlformats.org/presentationml/2006/main">
  <p:tag name="KSO_WM_DIAGRAM_VIRTUALLY_FRAME" val="{&quot;height&quot;:132,&quot;left&quot;:36,&quot;top&quot;:157.5,&quot;width&quot;:639}"/>
</p:tagLst>
</file>

<file path=ppt/tags/tag96.xml><?xml version="1.0" encoding="utf-8"?>
<p:tagLst xmlns:p="http://schemas.openxmlformats.org/presentationml/2006/main">
  <p:tag name="KSO_WM_DIAGRAM_VIRTUALLY_FRAME" val="{&quot;height&quot;:132,&quot;left&quot;:36,&quot;top&quot;:157.5,&quot;width&quot;:639}"/>
</p:tagLst>
</file>

<file path=ppt/tags/tag97.xml><?xml version="1.0" encoding="utf-8"?>
<p:tagLst xmlns:p="http://schemas.openxmlformats.org/presentationml/2006/main">
  <p:tag name="KSO_WM_DIAGRAM_VIRTUALLY_FRAME" val="{&quot;height&quot;:132,&quot;left&quot;:36,&quot;top&quot;:157.5,&quot;width&quot;:639}"/>
</p:tagLst>
</file>

<file path=ppt/tags/tag98.xml><?xml version="1.0" encoding="utf-8"?>
<p:tagLst xmlns:p="http://schemas.openxmlformats.org/presentationml/2006/main">
  <p:tag name="KSO_WM_DIAGRAM_VIRTUALLY_FRAME" val="{&quot;height&quot;:132,&quot;left&quot;:36,&quot;top&quot;:157.5,&quot;width&quot;:639}"/>
</p:tagLst>
</file>

<file path=ppt/tags/tag99.xml><?xml version="1.0" encoding="utf-8"?>
<p:tagLst xmlns:p="http://schemas.openxmlformats.org/presentationml/2006/main">
  <p:tag name="KSO_WM_DIAGRAM_VIRTUALLY_FRAME" val="{&quot;height&quot;:132,&quot;left&quot;:36,&quot;top&quot;:157.5,&quot;width&quot;:639}"/>
</p:tagLst>
</file>

<file path=ppt/tags/tag100.xml><?xml version="1.0" encoding="utf-8"?>
<p:tagLst xmlns:p="http://schemas.openxmlformats.org/presentationml/2006/main">
  <p:tag name="KSO_WM_DIAGRAM_VIRTUALLY_FRAME" val="{&quot;height&quot;:132,&quot;left&quot;:36,&quot;top&quot;:157.5,&quot;width&quot;:639}"/>
</p:tagLst>
</file>

<file path=ppt/tags/tag101.xml><?xml version="1.0" encoding="utf-8"?>
<p:tagLst xmlns:p="http://schemas.openxmlformats.org/presentationml/2006/main">
  <p:tag name="KSO_WM_DIAGRAM_VIRTUALLY_FRAME" val="{&quot;height&quot;:132,&quot;left&quot;:36,&quot;top&quot;:157.5,&quot;width&quot;:639}"/>
</p:tagLst>
</file>

<file path=ppt/tags/tag102.xml><?xml version="1.0" encoding="utf-8"?>
<p:tagLst xmlns:p="http://schemas.openxmlformats.org/presentationml/2006/main">
  <p:tag name="KSO_WM_DIAGRAM_VIRTUALLY_FRAME" val="{&quot;height&quot;:132,&quot;left&quot;:36,&quot;top&quot;:157.5,&quot;width&quot;:639}"/>
</p:tagLst>
</file>

<file path=ppt/tags/tag103.xml><?xml version="1.0" encoding="utf-8"?>
<p:tagLst xmlns:p="http://schemas.openxmlformats.org/presentationml/2006/main">
  <p:tag name="KSO_WM_DIAGRAM_VIRTUALLY_FRAME" val="{&quot;height&quot;:132,&quot;left&quot;:36,&quot;top&quot;:157.5,&quot;width&quot;:639}"/>
</p:tagLst>
</file>

<file path=ppt/tags/tag104.xml><?xml version="1.0" encoding="utf-8"?>
<p:tagLst xmlns:p="http://schemas.openxmlformats.org/presentationml/2006/main">
  <p:tag name="KSO_WM_DIAGRAM_VIRTUALLY_FRAME" val="{&quot;height&quot;:132,&quot;left&quot;:36,&quot;top&quot;:157.5,&quot;width&quot;:639}"/>
</p:tagLst>
</file>

<file path=ppt/tags/tag105.xml><?xml version="1.0" encoding="utf-8"?>
<p:tagLst xmlns:p="http://schemas.openxmlformats.org/presentationml/2006/main">
  <p:tag name="KSO_WM_DIAGRAM_VIRTUALLY_FRAME" val="{&quot;height&quot;:132,&quot;left&quot;:36,&quot;top&quot;:157.5,&quot;width&quot;:639}"/>
</p:tagLst>
</file>

<file path=ppt/tags/tag106.xml><?xml version="1.0" encoding="utf-8"?>
<p:tagLst xmlns:p="http://schemas.openxmlformats.org/presentationml/2006/main">
  <p:tag name="KSO_WM_DIAGRAM_VIRTUALLY_FRAME" val="{&quot;height&quot;:132,&quot;left&quot;:36,&quot;top&quot;:157.5,&quot;width&quot;:639}"/>
</p:tagLst>
</file>

<file path=ppt/tags/tag107.xml><?xml version="1.0" encoding="utf-8"?>
<p:tagLst xmlns:p="http://schemas.openxmlformats.org/presentationml/2006/main">
  <p:tag name="KSO_WM_DIAGRAM_VIRTUALLY_FRAME" val="{&quot;height&quot;:132,&quot;left&quot;:36,&quot;top&quot;:157.5,&quot;width&quot;:639}"/>
</p:tagLst>
</file>

<file path=ppt/tags/tag108.xml><?xml version="1.0" encoding="utf-8"?>
<p:tagLst xmlns:p="http://schemas.openxmlformats.org/presentationml/2006/main">
  <p:tag name="KSO_WM_DIAGRAM_VIRTUALLY_FRAME" val="{&quot;height&quot;:132,&quot;left&quot;:36,&quot;top&quot;:157.5,&quot;width&quot;:639}"/>
</p:tagLst>
</file>

<file path=ppt/tags/tag109.xml><?xml version="1.0" encoding="utf-8"?>
<p:tagLst xmlns:p="http://schemas.openxmlformats.org/presentationml/2006/main">
  <p:tag name="KSO_WM_DIAGRAM_VIRTUALLY_FRAME" val="{&quot;height&quot;:132,&quot;left&quot;:36,&quot;top&quot;:157.5,&quot;width&quot;:639}"/>
</p:tagLst>
</file>

<file path=ppt/tags/tag110.xml><?xml version="1.0" encoding="utf-8"?>
<p:tagLst xmlns:p="http://schemas.openxmlformats.org/presentationml/2006/main">
  <p:tag name="KSO_WM_DIAGRAM_VIRTUALLY_FRAME" val="{&quot;height&quot;:132,&quot;left&quot;:36,&quot;top&quot;:157.5,&quot;width&quot;:639}"/>
</p:tagLst>
</file>

<file path=ppt/tags/tag111.xml><?xml version="1.0" encoding="utf-8"?>
<p:tagLst xmlns:p="http://schemas.openxmlformats.org/presentationml/2006/main">
  <p:tag name="KSO_WM_DIAGRAM_VIRTUALLY_FRAME" val="{&quot;height&quot;:200.62503937007872,&quot;left&quot;:30,&quot;top&quot;:112.5,&quot;width&quot;:660}"/>
</p:tagLst>
</file>

<file path=ppt/tags/tag112.xml><?xml version="1.0" encoding="utf-8"?>
<p:tagLst xmlns:p="http://schemas.openxmlformats.org/presentationml/2006/main">
  <p:tag name="KSO_WM_DIAGRAM_VIRTUALLY_FRAME" val="{&quot;height&quot;:200.62503937007872,&quot;left&quot;:30,&quot;top&quot;:112.5,&quot;width&quot;:660}"/>
</p:tagLst>
</file>

<file path=ppt/tags/tag113.xml><?xml version="1.0" encoding="utf-8"?>
<p:tagLst xmlns:p="http://schemas.openxmlformats.org/presentationml/2006/main">
  <p:tag name="KSO_WM_DIAGRAM_VIRTUALLY_FRAME" val="{&quot;height&quot;:200.62503937007872,&quot;left&quot;:30,&quot;top&quot;:112.5,&quot;width&quot;:660}"/>
</p:tagLst>
</file>

<file path=ppt/tags/tag114.xml><?xml version="1.0" encoding="utf-8"?>
<p:tagLst xmlns:p="http://schemas.openxmlformats.org/presentationml/2006/main">
  <p:tag name="KSO_WM_DIAGRAM_VIRTUALLY_FRAME" val="{&quot;height&quot;:200.62503937007872,&quot;left&quot;:30,&quot;top&quot;:112.5,&quot;width&quot;:660}"/>
</p:tagLst>
</file>

<file path=ppt/tags/tag115.xml><?xml version="1.0" encoding="utf-8"?>
<p:tagLst xmlns:p="http://schemas.openxmlformats.org/presentationml/2006/main">
  <p:tag name="KSO_WM_DIAGRAM_VIRTUALLY_FRAME" val="{&quot;height&quot;:200.62503937007872,&quot;left&quot;:30,&quot;top&quot;:112.5,&quot;width&quot;:660}"/>
</p:tagLst>
</file>

<file path=ppt/tags/tag116.xml><?xml version="1.0" encoding="utf-8"?>
<p:tagLst xmlns:p="http://schemas.openxmlformats.org/presentationml/2006/main">
  <p:tag name="KSO_WM_DIAGRAM_VIRTUALLY_FRAME" val="{&quot;height&quot;:200.62503937007872,&quot;left&quot;:30,&quot;top&quot;:112.5,&quot;width&quot;:660}"/>
</p:tagLst>
</file>

<file path=ppt/tags/tag117.xml><?xml version="1.0" encoding="utf-8"?>
<p:tagLst xmlns:p="http://schemas.openxmlformats.org/presentationml/2006/main">
  <p:tag name="KSO_WM_DIAGRAM_VIRTUALLY_FRAME" val="{&quot;height&quot;:200.62503937007872,&quot;left&quot;:30,&quot;top&quot;:112.5,&quot;width&quot;:660}"/>
</p:tagLst>
</file>

<file path=ppt/tags/tag118.xml><?xml version="1.0" encoding="utf-8"?>
<p:tagLst xmlns:p="http://schemas.openxmlformats.org/presentationml/2006/main">
  <p:tag name="KSO_WM_DIAGRAM_VIRTUALLY_FRAME" val="{&quot;height&quot;:200.62503937007872,&quot;left&quot;:30,&quot;top&quot;:112.5,&quot;width&quot;:660}"/>
</p:tagLst>
</file>

<file path=ppt/tags/tag119.xml><?xml version="1.0" encoding="utf-8"?>
<p:tagLst xmlns:p="http://schemas.openxmlformats.org/presentationml/2006/main">
  <p:tag name="KSO_WM_DIAGRAM_VIRTUALLY_FRAME" val="{&quot;height&quot;:200.62503937007872,&quot;left&quot;:30,&quot;top&quot;:112.5,&quot;width&quot;:660}"/>
</p:tagLst>
</file>

<file path=ppt/tags/tag120.xml><?xml version="1.0" encoding="utf-8"?>
<p:tagLst xmlns:p="http://schemas.openxmlformats.org/presentationml/2006/main">
  <p:tag name="KSO_WM_DIAGRAM_VIRTUALLY_FRAME" val="{&quot;height&quot;:200.62503937007872,&quot;left&quot;:30,&quot;top&quot;:112.5,&quot;width&quot;:660}"/>
</p:tagLst>
</file>

<file path=ppt/tags/tag121.xml><?xml version="1.0" encoding="utf-8"?>
<p:tagLst xmlns:p="http://schemas.openxmlformats.org/presentationml/2006/main">
  <p:tag name="KSO_WM_DIAGRAM_VIRTUALLY_FRAME" val="{&quot;height&quot;:200.62503937007872,&quot;left&quot;:30,&quot;top&quot;:112.5,&quot;width&quot;:660}"/>
</p:tagLst>
</file>

<file path=ppt/tags/tag122.xml><?xml version="1.0" encoding="utf-8"?>
<p:tagLst xmlns:p="http://schemas.openxmlformats.org/presentationml/2006/main">
  <p:tag name="KSO_WM_DIAGRAM_VIRTUALLY_FRAME" val="{&quot;height&quot;:200.62503937007872,&quot;left&quot;:30,&quot;top&quot;:112.5,&quot;width&quot;:660}"/>
</p:tagLst>
</file>

<file path=ppt/tags/tag123.xml><?xml version="1.0" encoding="utf-8"?>
<p:tagLst xmlns:p="http://schemas.openxmlformats.org/presentationml/2006/main">
  <p:tag name="KSO_WM_DIAGRAM_VIRTUALLY_FRAME" val="{&quot;height&quot;:200.62503937007872,&quot;left&quot;:30,&quot;top&quot;:112.5,&quot;width&quot;:660}"/>
</p:tagLst>
</file>

<file path=ppt/tags/tag124.xml><?xml version="1.0" encoding="utf-8"?>
<p:tagLst xmlns:p="http://schemas.openxmlformats.org/presentationml/2006/main">
  <p:tag name="KSO_WM_DIAGRAM_VIRTUALLY_FRAME" val="{&quot;height&quot;:200.62503937007872,&quot;left&quot;:30,&quot;top&quot;:112.5,&quot;width&quot;:660}"/>
</p:tagLst>
</file>

<file path=ppt/tags/tag125.xml><?xml version="1.0" encoding="utf-8"?>
<p:tagLst xmlns:p="http://schemas.openxmlformats.org/presentationml/2006/main">
  <p:tag name="KSO_WM_DIAGRAM_VIRTUALLY_FRAME" val="{&quot;height&quot;:200.62503937007872,&quot;left&quot;:30,&quot;top&quot;:112.5,&quot;width&quot;:660}"/>
</p:tagLst>
</file>

<file path=ppt/tags/tag126.xml><?xml version="1.0" encoding="utf-8"?>
<p:tagLst xmlns:p="http://schemas.openxmlformats.org/presentationml/2006/main">
  <p:tag name="KSO_WM_DIAGRAM_VIRTUALLY_FRAME" val="{&quot;height&quot;:200.62503937007872,&quot;left&quot;:30,&quot;top&quot;:112.5,&quot;width&quot;:660}"/>
</p:tagLst>
</file>

<file path=ppt/tags/tag127.xml><?xml version="1.0" encoding="utf-8"?>
<p:tagLst xmlns:p="http://schemas.openxmlformats.org/presentationml/2006/main">
  <p:tag name="KSO_WM_DIAGRAM_VIRTUALLY_FRAME" val="{&quot;height&quot;:200.62503937007872,&quot;left&quot;:30,&quot;top&quot;:112.5,&quot;width&quot;:660}"/>
</p:tagLst>
</file>

<file path=ppt/tags/tag128.xml><?xml version="1.0" encoding="utf-8"?>
<p:tagLst xmlns:p="http://schemas.openxmlformats.org/presentationml/2006/main">
  <p:tag name="KSO_WM_DIAGRAM_VIRTUALLY_FRAME" val="{&quot;height&quot;:200.62503937007872,&quot;left&quot;:30,&quot;top&quot;:112.5,&quot;width&quot;:660}"/>
</p:tagLst>
</file>

<file path=ppt/tags/tag129.xml><?xml version="1.0" encoding="utf-8"?>
<p:tagLst xmlns:p="http://schemas.openxmlformats.org/presentationml/2006/main">
  <p:tag name="KSO_WM_DIAGRAM_VIRTUALLY_FRAME" val="{&quot;height&quot;:200.62503937007872,&quot;left&quot;:30,&quot;top&quot;:112.5,&quot;width&quot;:660}"/>
</p:tagLst>
</file>

<file path=ppt/tags/tag130.xml><?xml version="1.0" encoding="utf-8"?>
<p:tagLst xmlns:p="http://schemas.openxmlformats.org/presentationml/2006/main">
  <p:tag name="KSO_WM_DIAGRAM_VIRTUALLY_FRAME" val="{&quot;height&quot;:200.62503937007872,&quot;left&quot;:30,&quot;top&quot;:112.5,&quot;width&quot;:660}"/>
</p:tagLst>
</file>

<file path=ppt/tags/tag131.xml><?xml version="1.0" encoding="utf-8"?>
<p:tagLst xmlns:p="http://schemas.openxmlformats.org/presentationml/2006/main">
  <p:tag name="KSO_WM_DIAGRAM_VIRTUALLY_FRAME" val="{&quot;height&quot;:200.62503937007872,&quot;left&quot;:30,&quot;top&quot;:112.5,&quot;width&quot;:660}"/>
</p:tagLst>
</file>

<file path=ppt/tags/tag132.xml><?xml version="1.0" encoding="utf-8"?>
<p:tagLst xmlns:p="http://schemas.openxmlformats.org/presentationml/2006/main">
  <p:tag name="KSO_WM_DIAGRAM_VIRTUALLY_FRAME" val="{&quot;height&quot;:200.62503937007872,&quot;left&quot;:30,&quot;top&quot;:112.5,&quot;width&quot;:660}"/>
</p:tagLst>
</file>

<file path=ppt/tags/tag133.xml><?xml version="1.0" encoding="utf-8"?>
<p:tagLst xmlns:p="http://schemas.openxmlformats.org/presentationml/2006/main">
  <p:tag name="KSO_WM_DIAGRAM_VIRTUALLY_FRAME" val="{&quot;height&quot;:133.9,&quot;left&quot;:34.2,&quot;top&quot;:102,&quot;width&quot;:640.8}"/>
</p:tagLst>
</file>

<file path=ppt/tags/tag134.xml><?xml version="1.0" encoding="utf-8"?>
<p:tagLst xmlns:p="http://schemas.openxmlformats.org/presentationml/2006/main">
  <p:tag name="KSO_WM_DIAGRAM_VIRTUALLY_FRAME" val="{&quot;height&quot;:133.9,&quot;left&quot;:34.2,&quot;top&quot;:102,&quot;width&quot;:640.8}"/>
</p:tagLst>
</file>

<file path=ppt/tags/tag135.xml><?xml version="1.0" encoding="utf-8"?>
<p:tagLst xmlns:p="http://schemas.openxmlformats.org/presentationml/2006/main">
  <p:tag name="KSO_WM_DIAGRAM_VIRTUALLY_FRAME" val="{&quot;height&quot;:133.9,&quot;left&quot;:34.2,&quot;top&quot;:102,&quot;width&quot;:640.8}"/>
</p:tagLst>
</file>

<file path=ppt/tags/tag136.xml><?xml version="1.0" encoding="utf-8"?>
<p:tagLst xmlns:p="http://schemas.openxmlformats.org/presentationml/2006/main">
  <p:tag name="KSO_WM_DIAGRAM_VIRTUALLY_FRAME" val="{&quot;height&quot;:133.9,&quot;left&quot;:34.2,&quot;top&quot;:102,&quot;width&quot;:640.8}"/>
</p:tagLst>
</file>

<file path=ppt/tags/tag137.xml><?xml version="1.0" encoding="utf-8"?>
<p:tagLst xmlns:p="http://schemas.openxmlformats.org/presentationml/2006/main">
  <p:tag name="KSO_WM_DIAGRAM_VIRTUALLY_FRAME" val="{&quot;height&quot;:133.9,&quot;left&quot;:34.2,&quot;top&quot;:102,&quot;width&quot;:640.8}"/>
</p:tagLst>
</file>

<file path=ppt/tags/tag138.xml><?xml version="1.0" encoding="utf-8"?>
<p:tagLst xmlns:p="http://schemas.openxmlformats.org/presentationml/2006/main">
  <p:tag name="KSO_WM_DIAGRAM_VIRTUALLY_FRAME" val="{&quot;height&quot;:133.9,&quot;left&quot;:34.2,&quot;top&quot;:102,&quot;width&quot;:640.8}"/>
</p:tagLst>
</file>

<file path=ppt/tags/tag139.xml><?xml version="1.0" encoding="utf-8"?>
<p:tagLst xmlns:p="http://schemas.openxmlformats.org/presentationml/2006/main">
  <p:tag name="KSO_WM_DIAGRAM_VIRTUALLY_FRAME" val="{&quot;height&quot;:133.9,&quot;left&quot;:34.2,&quot;top&quot;:102,&quot;width&quot;:640.8}"/>
</p:tagLst>
</file>

<file path=ppt/tags/tag140.xml><?xml version="1.0" encoding="utf-8"?>
<p:tagLst xmlns:p="http://schemas.openxmlformats.org/presentationml/2006/main">
  <p:tag name="KSO_WM_DIAGRAM_VIRTUALLY_FRAME" val="{&quot;height&quot;:133.9,&quot;left&quot;:34.2,&quot;top&quot;:102,&quot;width&quot;:640.8}"/>
</p:tagLst>
</file>

<file path=ppt/tags/tag141.xml><?xml version="1.0" encoding="utf-8"?>
<p:tagLst xmlns:p="http://schemas.openxmlformats.org/presentationml/2006/main">
  <p:tag name="KSO_WM_DIAGRAM_VIRTUALLY_FRAME" val="{&quot;height&quot;:133.9,&quot;left&quot;:34.2,&quot;top&quot;:102,&quot;width&quot;:640.8}"/>
</p:tagLst>
</file>

<file path=ppt/tags/tag142.xml><?xml version="1.0" encoding="utf-8"?>
<p:tagLst xmlns:p="http://schemas.openxmlformats.org/presentationml/2006/main">
  <p:tag name="KSO_WM_DIAGRAM_VIRTUALLY_FRAME" val="{&quot;height&quot;:133.9,&quot;left&quot;:34.2,&quot;top&quot;:102,&quot;width&quot;:640.8}"/>
</p:tagLst>
</file>

<file path=ppt/tags/tag143.xml><?xml version="1.0" encoding="utf-8"?>
<p:tagLst xmlns:p="http://schemas.openxmlformats.org/presentationml/2006/main">
  <p:tag name="KSO_WM_DIAGRAM_VIRTUALLY_FRAME" val="{&quot;height&quot;:266.32503937007874,&quot;left&quot;:31.5,&quot;top&quot;:48.30000000000002,&quot;width&quot;:657}"/>
</p:tagLst>
</file>

<file path=ppt/tags/tag144.xml><?xml version="1.0" encoding="utf-8"?>
<p:tagLst xmlns:p="http://schemas.openxmlformats.org/presentationml/2006/main">
  <p:tag name="KSO_WM_DIAGRAM_VIRTUALLY_FRAME" val="{&quot;height&quot;:266.32503937007874,&quot;left&quot;:31.5,&quot;top&quot;:48.30000000000002,&quot;width&quot;:657}"/>
</p:tagLst>
</file>

<file path=ppt/tags/tag145.xml><?xml version="1.0" encoding="utf-8"?>
<p:tagLst xmlns:p="http://schemas.openxmlformats.org/presentationml/2006/main">
  <p:tag name="KSO_WM_DIAGRAM_VIRTUALLY_FRAME" val="{&quot;height&quot;:266.32503937007874,&quot;left&quot;:31.5,&quot;top&quot;:48.30000000000002,&quot;width&quot;:657}"/>
</p:tagLst>
</file>

<file path=ppt/tags/tag146.xml><?xml version="1.0" encoding="utf-8"?>
<p:tagLst xmlns:p="http://schemas.openxmlformats.org/presentationml/2006/main">
  <p:tag name="KSO_WM_DIAGRAM_VIRTUALLY_FRAME" val="{&quot;height&quot;:266.32503937007874,&quot;left&quot;:31.5,&quot;top&quot;:48.30000000000002,&quot;width&quot;:657}"/>
</p:tagLst>
</file>

<file path=ppt/tags/tag147.xml><?xml version="1.0" encoding="utf-8"?>
<p:tagLst xmlns:p="http://schemas.openxmlformats.org/presentationml/2006/main">
  <p:tag name="KSO_WM_DIAGRAM_VIRTUALLY_FRAME" val="{&quot;height&quot;:266.32503937007874,&quot;left&quot;:31.5,&quot;top&quot;:48.30000000000002,&quot;width&quot;:657}"/>
</p:tagLst>
</file>

<file path=ppt/tags/tag148.xml><?xml version="1.0" encoding="utf-8"?>
<p:tagLst xmlns:p="http://schemas.openxmlformats.org/presentationml/2006/main">
  <p:tag name="KSO_WM_DIAGRAM_VIRTUALLY_FRAME" val="{&quot;height&quot;:266.32503937007874,&quot;left&quot;:31.5,&quot;top&quot;:48.30000000000002,&quot;width&quot;:657}"/>
</p:tagLst>
</file>

<file path=ppt/tags/tag149.xml><?xml version="1.0" encoding="utf-8"?>
<p:tagLst xmlns:p="http://schemas.openxmlformats.org/presentationml/2006/main">
  <p:tag name="KSO_WM_DIAGRAM_VIRTUALLY_FRAME" val="{&quot;height&quot;:266.32503937007874,&quot;left&quot;:31.5,&quot;top&quot;:48.30000000000002,&quot;width&quot;:657}"/>
</p:tagLst>
</file>

<file path=ppt/tags/tag150.xml><?xml version="1.0" encoding="utf-8"?>
<p:tagLst xmlns:p="http://schemas.openxmlformats.org/presentationml/2006/main">
  <p:tag name="KSO_WM_DIAGRAM_VIRTUALLY_FRAME" val="{&quot;height&quot;:266.32503937007874,&quot;left&quot;:31.5,&quot;top&quot;:48.30000000000002,&quot;width&quot;:657}"/>
</p:tagLst>
</file>

<file path=ppt/tags/tag151.xml><?xml version="1.0" encoding="utf-8"?>
<p:tagLst xmlns:p="http://schemas.openxmlformats.org/presentationml/2006/main">
  <p:tag name="KSO_WM_DIAGRAM_VIRTUALLY_FRAME" val="{&quot;height&quot;:266.32503937007874,&quot;left&quot;:31.5,&quot;top&quot;:48.30000000000002,&quot;width&quot;:657}"/>
</p:tagLst>
</file>

<file path=ppt/tags/tag152.xml><?xml version="1.0" encoding="utf-8"?>
<p:tagLst xmlns:p="http://schemas.openxmlformats.org/presentationml/2006/main">
  <p:tag name="KSO_WM_DIAGRAM_VIRTUALLY_FRAME" val="{&quot;height&quot;:266.32503937007874,&quot;left&quot;:31.5,&quot;top&quot;:48.30000000000002,&quot;width&quot;:657}"/>
</p:tagLst>
</file>

<file path=ppt/tags/tag153.xml><?xml version="1.0" encoding="utf-8"?>
<p:tagLst xmlns:p="http://schemas.openxmlformats.org/presentationml/2006/main">
  <p:tag name="KSO_WM_DIAGRAM_VIRTUALLY_FRAME" val="{&quot;height&quot;:266.32503937007874,&quot;left&quot;:31.5,&quot;top&quot;:48.30000000000002,&quot;width&quot;:657}"/>
</p:tagLst>
</file>

<file path=ppt/tags/tag154.xml><?xml version="1.0" encoding="utf-8"?>
<p:tagLst xmlns:p="http://schemas.openxmlformats.org/presentationml/2006/main">
  <p:tag name="KSO_WM_DIAGRAM_VIRTUALLY_FRAME" val="{&quot;height&quot;:266.32503937007874,&quot;left&quot;:31.5,&quot;top&quot;:48.30000000000002,&quot;width&quot;:657}"/>
</p:tagLst>
</file>

<file path=ppt/tags/tag155.xml><?xml version="1.0" encoding="utf-8"?>
<p:tagLst xmlns:p="http://schemas.openxmlformats.org/presentationml/2006/main">
  <p:tag name="KSO_WM_DIAGRAM_VIRTUALLY_FRAME" val="{&quot;height&quot;:266.32503937007874,&quot;left&quot;:31.5,&quot;top&quot;:48.30000000000002,&quot;width&quot;:657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3743</Words>
  <Application>WPS 演示</Application>
  <PresentationFormat>On-screen Show (16:9)</PresentationFormat>
  <Paragraphs>421</Paragraphs>
  <Slides>27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27</vt:i4>
      </vt:variant>
    </vt:vector>
  </HeadingPairs>
  <TitlesOfParts>
    <vt:vector size="38" baseType="lpstr">
      <vt:lpstr>Arial</vt:lpstr>
      <vt:lpstr>宋体</vt:lpstr>
      <vt:lpstr>Wingdings</vt:lpstr>
      <vt:lpstr>微软雅黑</vt:lpstr>
      <vt:lpstr>微软雅黑</vt:lpstr>
      <vt:lpstr>Calibri</vt:lpstr>
      <vt:lpstr>Arial Unicode MS</vt:lpstr>
      <vt:lpstr>等线</vt:lpstr>
      <vt:lpstr>Cambria Math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z</cp:lastModifiedBy>
  <cp:revision>22</cp:revision>
  <dcterms:created xsi:type="dcterms:W3CDTF">2025-04-20T04:47:00Z</dcterms:created>
  <dcterms:modified xsi:type="dcterms:W3CDTF">2025-04-20T07:39:23Z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59CA506F3B4F4B1DB725B2EE88B73386_12</vt:lpwstr>
  </property>
  <property fmtid="{D5CDD505-2E9C-101B-9397-08002B2CF9AE}" pid="3" name="KSOProductBuildVer">
    <vt:lpwstr>2052-12.8.2.19823</vt:lpwstr>
  </property>
</Properties>
</file>